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85" r:id="rId6"/>
    <p:sldId id="258" r:id="rId7"/>
    <p:sldId id="257" r:id="rId8"/>
    <p:sldId id="260" r:id="rId9"/>
    <p:sldId id="286" r:id="rId10"/>
    <p:sldId id="275" r:id="rId11"/>
    <p:sldId id="28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8288000" cy="10287000"/>
  <p:notesSz cx="6858000" cy="9144000"/>
  <p:embeddedFontLst>
    <p:embeddedFont>
      <p:font typeface="Inter" panose="020B0604020202020204" charset="0"/>
      <p:regular r:id="rId22"/>
    </p:embeddedFont>
    <p:embeddedFont>
      <p:font typeface="Inter Bold" panose="020B0604020202020204" charset="0"/>
      <p:regular r:id="rId23"/>
    </p:embeddedFont>
    <p:embeddedFont>
      <p:font typeface="JetBrains Mono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58" y="96"/>
      </p:cViewPr>
      <p:guideLst>
        <p:guide orient="horz" pos="13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Frutchey" userId="3c3bca74-dbde-4e2a-8ba1-07cb39e1a6ed" providerId="ADAL" clId="{C4A12807-0975-4D8E-A12E-963B46B5BB56}"/>
    <pc:docChg chg="modSld">
      <pc:chgData name="Brian Frutchey" userId="3c3bca74-dbde-4e2a-8ba1-07cb39e1a6ed" providerId="ADAL" clId="{C4A12807-0975-4D8E-A12E-963B46B5BB56}" dt="2026-08-17T11:20:59.612" v="106" actId="20577"/>
      <pc:docMkLst>
        <pc:docMk/>
      </pc:docMkLst>
      <pc:sldChg chg="modSp mod">
        <pc:chgData name="Brian Frutchey" userId="3c3bca74-dbde-4e2a-8ba1-07cb39e1a6ed" providerId="ADAL" clId="{C4A12807-0975-4D8E-A12E-963B46B5BB56}" dt="2026-08-17T11:20:59.612" v="106" actId="20577"/>
        <pc:sldMkLst>
          <pc:docMk/>
          <pc:sldMk cId="0" sldId="259"/>
        </pc:sldMkLst>
        <pc:spChg chg="mod">
          <ac:chgData name="Brian Frutchey" userId="3c3bca74-dbde-4e2a-8ba1-07cb39e1a6ed" providerId="ADAL" clId="{C4A12807-0975-4D8E-A12E-963B46B5BB56}" dt="2026-08-17T11:20:59.612" v="106" actId="20577"/>
          <ac:spMkLst>
            <pc:docMk/>
            <pc:sldMk cId="0" sldId="259"/>
            <ac:spMk id="12" creationId="{00000000-0000-0000-0000-000000000000}"/>
          </ac:spMkLst>
        </pc:spChg>
      </pc:sldChg>
    </pc:docChg>
  </pc:docChgLst>
  <pc:docChgLst>
    <pc:chgData name="Gavin Allison" userId="ec8301ad-32d7-4292-a168-82e605095d15" providerId="ADAL" clId="{48B1796A-7E37-48FA-BC1B-2673B4644A54}"/>
    <pc:docChg chg="modSld">
      <pc:chgData name="Gavin Allison" userId="ec8301ad-32d7-4292-a168-82e605095d15" providerId="ADAL" clId="{48B1796A-7E37-48FA-BC1B-2673B4644A54}" dt="2026-09-03T10:50:50.394" v="15" actId="1076"/>
      <pc:docMkLst>
        <pc:docMk/>
      </pc:docMkLst>
      <pc:sldChg chg="modSp mod">
        <pc:chgData name="Gavin Allison" userId="ec8301ad-32d7-4292-a168-82e605095d15" providerId="ADAL" clId="{48B1796A-7E37-48FA-BC1B-2673B4644A54}" dt="2026-09-03T10:50:50.394" v="15" actId="1076"/>
        <pc:sldMkLst>
          <pc:docMk/>
          <pc:sldMk cId="0" sldId="262"/>
        </pc:sldMkLst>
        <pc:grpChg chg="mod">
          <ac:chgData name="Gavin Allison" userId="ec8301ad-32d7-4292-a168-82e605095d15" providerId="ADAL" clId="{48B1796A-7E37-48FA-BC1B-2673B4644A54}" dt="2026-09-03T10:50:50.394" v="15" actId="1076"/>
          <ac:grpSpMkLst>
            <pc:docMk/>
            <pc:sldMk cId="0" sldId="262"/>
            <ac:grpSpMk id="55" creationId="{00000000-0000-0000-0000-000000000000}"/>
          </ac:grpSpMkLst>
        </pc:grpChg>
      </pc:sldChg>
      <pc:sldChg chg="modSp mod">
        <pc:chgData name="Gavin Allison" userId="ec8301ad-32d7-4292-a168-82e605095d15" providerId="ADAL" clId="{48B1796A-7E37-48FA-BC1B-2673B4644A54}" dt="2026-09-03T10:50:31.489" v="12" actId="12788"/>
        <pc:sldMkLst>
          <pc:docMk/>
          <pc:sldMk cId="0" sldId="263"/>
        </pc:sldMkLst>
        <pc:grpChg chg="mod">
          <ac:chgData name="Gavin Allison" userId="ec8301ad-32d7-4292-a168-82e605095d15" providerId="ADAL" clId="{48B1796A-7E37-48FA-BC1B-2673B4644A54}" dt="2026-09-03T10:50:31.489" v="12" actId="12788"/>
          <ac:grpSpMkLst>
            <pc:docMk/>
            <pc:sldMk cId="0" sldId="263"/>
            <ac:grpSpMk id="55" creationId="{00000000-0000-0000-0000-000000000000}"/>
          </ac:grpSpMkLst>
        </pc:grpChg>
      </pc:sldChg>
      <pc:sldChg chg="modSp mod">
        <pc:chgData name="Gavin Allison" userId="ec8301ad-32d7-4292-a168-82e605095d15" providerId="ADAL" clId="{48B1796A-7E37-48FA-BC1B-2673B4644A54}" dt="2026-09-03T10:49:49.999" v="6" actId="1076"/>
        <pc:sldMkLst>
          <pc:docMk/>
          <pc:sldMk cId="0" sldId="264"/>
        </pc:sldMkLst>
        <pc:grpChg chg="mod">
          <ac:chgData name="Gavin Allison" userId="ec8301ad-32d7-4292-a168-82e605095d15" providerId="ADAL" clId="{48B1796A-7E37-48FA-BC1B-2673B4644A54}" dt="2026-09-03T10:49:49.999" v="6" actId="1076"/>
          <ac:grpSpMkLst>
            <pc:docMk/>
            <pc:sldMk cId="0" sldId="264"/>
            <ac:grpSpMk id="55" creationId="{00000000-0000-0000-0000-000000000000}"/>
          </ac:grpSpMkLst>
        </pc:grpChg>
      </pc:sldChg>
      <pc:sldChg chg="modSp mod">
        <pc:chgData name="Gavin Allison" userId="ec8301ad-32d7-4292-a168-82e605095d15" providerId="ADAL" clId="{48B1796A-7E37-48FA-BC1B-2673B4644A54}" dt="2026-09-03T10:49:43.946" v="5" actId="1076"/>
        <pc:sldMkLst>
          <pc:docMk/>
          <pc:sldMk cId="0" sldId="265"/>
        </pc:sldMkLst>
        <pc:grpChg chg="mod">
          <ac:chgData name="Gavin Allison" userId="ec8301ad-32d7-4292-a168-82e605095d15" providerId="ADAL" clId="{48B1796A-7E37-48FA-BC1B-2673B4644A54}" dt="2026-09-03T10:49:43.946" v="5" actId="1076"/>
          <ac:grpSpMkLst>
            <pc:docMk/>
            <pc:sldMk cId="0" sldId="265"/>
            <ac:grpSpMk id="21" creationId="{00000000-0000-0000-0000-000000000000}"/>
          </ac:grpSpMkLst>
        </pc:grpChg>
      </pc:sldChg>
    </pc:docChg>
  </pc:docChgLst>
  <pc:docChgLst>
    <pc:chgData name="Brian Frutchey" userId="3c3bca74-dbde-4e2a-8ba1-07cb39e1a6ed" providerId="ADAL" clId="{5DFBFCFC-6686-4F51-9854-5D7C53D418BB}"/>
    <pc:docChg chg="undo custSel addSld delSld modSld">
      <pc:chgData name="Brian Frutchey" userId="3c3bca74-dbde-4e2a-8ba1-07cb39e1a6ed" providerId="ADAL" clId="{5DFBFCFC-6686-4F51-9854-5D7C53D418BB}" dt="2026-08-21T21:58:08.718" v="19" actId="14100"/>
      <pc:docMkLst>
        <pc:docMk/>
      </pc:docMkLst>
      <pc:sldChg chg="addSp delSp mod">
        <pc:chgData name="Brian Frutchey" userId="3c3bca74-dbde-4e2a-8ba1-07cb39e1a6ed" providerId="ADAL" clId="{5DFBFCFC-6686-4F51-9854-5D7C53D418BB}" dt="2026-08-21T21:56:21.892" v="1" actId="22"/>
        <pc:sldMkLst>
          <pc:docMk/>
          <pc:sldMk cId="0" sldId="260"/>
        </pc:sldMkLst>
      </pc:sldChg>
      <pc:sldChg chg="addSp delSp modSp add mod">
        <pc:chgData name="Brian Frutchey" userId="3c3bca74-dbde-4e2a-8ba1-07cb39e1a6ed" providerId="ADAL" clId="{5DFBFCFC-6686-4F51-9854-5D7C53D418BB}" dt="2026-08-21T21:58:08.718" v="19" actId="14100"/>
        <pc:sldMkLst>
          <pc:docMk/>
          <pc:sldMk cId="84481164" sldId="280"/>
        </pc:sldMkLst>
        <pc:spChg chg="mod">
          <ac:chgData name="Brian Frutchey" userId="3c3bca74-dbde-4e2a-8ba1-07cb39e1a6ed" providerId="ADAL" clId="{5DFBFCFC-6686-4F51-9854-5D7C53D418BB}" dt="2026-08-21T21:57:19.759" v="12"/>
          <ac:spMkLst>
            <pc:docMk/>
            <pc:sldMk cId="84481164" sldId="280"/>
            <ac:spMk id="35" creationId="{44FAC1F8-0BE6-8980-A1F2-99D5F14A6342}"/>
          </ac:spMkLst>
        </pc:spChg>
        <pc:spChg chg="mod">
          <ac:chgData name="Brian Frutchey" userId="3c3bca74-dbde-4e2a-8ba1-07cb39e1a6ed" providerId="ADAL" clId="{5DFBFCFC-6686-4F51-9854-5D7C53D418BB}" dt="2026-08-21T21:57:19.759" v="12"/>
          <ac:spMkLst>
            <pc:docMk/>
            <pc:sldMk cId="84481164" sldId="280"/>
            <ac:spMk id="36" creationId="{5942A71E-E8DD-53A4-936C-4671538E5830}"/>
          </ac:spMkLst>
        </pc:spChg>
        <pc:spChg chg="mod">
          <ac:chgData name="Brian Frutchey" userId="3c3bca74-dbde-4e2a-8ba1-07cb39e1a6ed" providerId="ADAL" clId="{5DFBFCFC-6686-4F51-9854-5D7C53D418BB}" dt="2026-08-21T21:57:19.759" v="12"/>
          <ac:spMkLst>
            <pc:docMk/>
            <pc:sldMk cId="84481164" sldId="280"/>
            <ac:spMk id="38" creationId="{34BA6747-E2FC-003E-734C-F4EC88662E99}"/>
          </ac:spMkLst>
        </pc:spChg>
        <pc:spChg chg="mod">
          <ac:chgData name="Brian Frutchey" userId="3c3bca74-dbde-4e2a-8ba1-07cb39e1a6ed" providerId="ADAL" clId="{5DFBFCFC-6686-4F51-9854-5D7C53D418BB}" dt="2026-08-21T21:57:19.759" v="12"/>
          <ac:spMkLst>
            <pc:docMk/>
            <pc:sldMk cId="84481164" sldId="280"/>
            <ac:spMk id="39" creationId="{B9F9BDA4-79C3-BF75-99C5-E928C47B198F}"/>
          </ac:spMkLst>
        </pc:spChg>
        <pc:spChg chg="mod">
          <ac:chgData name="Brian Frutchey" userId="3c3bca74-dbde-4e2a-8ba1-07cb39e1a6ed" providerId="ADAL" clId="{5DFBFCFC-6686-4F51-9854-5D7C53D418BB}" dt="2026-08-21T21:57:19.759" v="12"/>
          <ac:spMkLst>
            <pc:docMk/>
            <pc:sldMk cId="84481164" sldId="280"/>
            <ac:spMk id="41" creationId="{704C693A-19A3-9BA9-8873-852315308852}"/>
          </ac:spMkLst>
        </pc:spChg>
        <pc:spChg chg="mod">
          <ac:chgData name="Brian Frutchey" userId="3c3bca74-dbde-4e2a-8ba1-07cb39e1a6ed" providerId="ADAL" clId="{5DFBFCFC-6686-4F51-9854-5D7C53D418BB}" dt="2026-08-21T21:57:19.759" v="12"/>
          <ac:spMkLst>
            <pc:docMk/>
            <pc:sldMk cId="84481164" sldId="280"/>
            <ac:spMk id="42" creationId="{0E18076E-881F-D620-B654-77776377F9FA}"/>
          </ac:spMkLst>
        </pc:spChg>
        <pc:spChg chg="mod modCrop">
          <ac:chgData name="Brian Frutchey" userId="3c3bca74-dbde-4e2a-8ba1-07cb39e1a6ed" providerId="ADAL" clId="{5DFBFCFC-6686-4F51-9854-5D7C53D418BB}" dt="2026-08-21T21:57:43.185" v="15" actId="732"/>
          <ac:spMkLst>
            <pc:docMk/>
            <pc:sldMk cId="84481164" sldId="280"/>
            <ac:spMk id="44" creationId="{45DF236E-F8A9-3436-0231-A08B507F80A9}"/>
          </ac:spMkLst>
        </pc:spChg>
        <pc:spChg chg="add mod">
          <ac:chgData name="Brian Frutchey" userId="3c3bca74-dbde-4e2a-8ba1-07cb39e1a6ed" providerId="ADAL" clId="{5DFBFCFC-6686-4F51-9854-5D7C53D418BB}" dt="2026-08-21T21:58:08.718" v="19" actId="14100"/>
          <ac:spMkLst>
            <pc:docMk/>
            <pc:sldMk cId="84481164" sldId="280"/>
            <ac:spMk id="46" creationId="{B2343458-7680-0154-F729-3BF51581B614}"/>
          </ac:spMkLst>
        </pc:spChg>
        <pc:grpChg chg="add mod">
          <ac:chgData name="Brian Frutchey" userId="3c3bca74-dbde-4e2a-8ba1-07cb39e1a6ed" providerId="ADAL" clId="{5DFBFCFC-6686-4F51-9854-5D7C53D418BB}" dt="2026-08-21T21:57:19.759" v="12"/>
          <ac:grpSpMkLst>
            <pc:docMk/>
            <pc:sldMk cId="84481164" sldId="280"/>
            <ac:grpSpMk id="34" creationId="{D2B1DAE7-387F-AF5E-872F-032ED91583C4}"/>
          </ac:grpSpMkLst>
        </pc:grpChg>
        <pc:grpChg chg="add mod">
          <ac:chgData name="Brian Frutchey" userId="3c3bca74-dbde-4e2a-8ba1-07cb39e1a6ed" providerId="ADAL" clId="{5DFBFCFC-6686-4F51-9854-5D7C53D418BB}" dt="2026-08-21T21:57:19.759" v="12"/>
          <ac:grpSpMkLst>
            <pc:docMk/>
            <pc:sldMk cId="84481164" sldId="280"/>
            <ac:grpSpMk id="37" creationId="{43DD4C3E-AE2D-3358-289B-3D330E879617}"/>
          </ac:grpSpMkLst>
        </pc:grpChg>
        <pc:grpChg chg="add mod">
          <ac:chgData name="Brian Frutchey" userId="3c3bca74-dbde-4e2a-8ba1-07cb39e1a6ed" providerId="ADAL" clId="{5DFBFCFC-6686-4F51-9854-5D7C53D418BB}" dt="2026-08-21T21:57:19.759" v="12"/>
          <ac:grpSpMkLst>
            <pc:docMk/>
            <pc:sldMk cId="84481164" sldId="280"/>
            <ac:grpSpMk id="40" creationId="{715371D8-0332-0A7D-6604-33267CD33336}"/>
          </ac:grpSpMkLst>
        </pc:grpChg>
        <pc:grpChg chg="add mod">
          <ac:chgData name="Brian Frutchey" userId="3c3bca74-dbde-4e2a-8ba1-07cb39e1a6ed" providerId="ADAL" clId="{5DFBFCFC-6686-4F51-9854-5D7C53D418BB}" dt="2026-08-21T21:57:28.683" v="13"/>
          <ac:grpSpMkLst>
            <pc:docMk/>
            <pc:sldMk cId="84481164" sldId="280"/>
            <ac:grpSpMk id="43" creationId="{72619536-E6AC-9B41-EAED-1BD8C7A49BF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6BE1-76BD-380E-2F5D-B6B1C884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6395CF-4906-9901-4816-E2667C1181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F3B3A-8DBD-95B5-DBC5-EB5A04FBA7B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4648302-FB6D-7CD3-A3B2-1F025C716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1FF483F-9952-7804-C029-5D2E5098C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55310-7AB6-FAFB-51D2-E02384A41D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2F002-5DAB-CEBC-DD17-EF6AB8AC7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37288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4B21-C1F4-98C0-5F39-94B63FF7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48E415-89F0-E2DD-1CEF-B6D8B93001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CEE9F-7471-45E1-69C8-2A597F7E11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FE3B57-A2E4-F13E-2896-08EC4A4CD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D2B7190-BCBF-43FB-3115-CA1CF61D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39324-ECC4-3849-978E-9616D14668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F7914-98A1-C5DD-E090-DB68818AC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1118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15.org&amp;utm_campaign=index&amp;utm_content=thumbnai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58921" y="1028700"/>
            <a:ext cx="2783998" cy="2902337"/>
            <a:chOff x="0" y="0"/>
            <a:chExt cx="2633408" cy="2745346"/>
          </a:xfrm>
        </p:grpSpPr>
        <p:sp>
          <p:nvSpPr>
            <p:cNvPr id="3" name="Freeform 3" descr="/Users/hstrauss/Documents/GitHub/belvedere-pm/output/deck-rebuild/belv_mark.png"/>
            <p:cNvSpPr/>
            <p:nvPr/>
          </p:nvSpPr>
          <p:spPr>
            <a:xfrm>
              <a:off x="0" y="0"/>
              <a:ext cx="2633472" cy="2745359"/>
            </a:xfrm>
            <a:custGeom>
              <a:avLst/>
              <a:gdLst/>
              <a:ahLst/>
              <a:cxnLst/>
              <a:rect l="l" t="t" r="r" b="b"/>
              <a:pathLst>
                <a:path w="2633472" h="2745359">
                  <a:moveTo>
                    <a:pt x="0" y="0"/>
                  </a:moveTo>
                  <a:lnTo>
                    <a:pt x="2633472" y="0"/>
                  </a:lnTo>
                  <a:lnTo>
                    <a:pt x="2633472" y="2745359"/>
                  </a:lnTo>
                  <a:lnTo>
                    <a:pt x="0" y="274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6333" y="4186647"/>
            <a:ext cx="16929173" cy="2608078"/>
            <a:chOff x="0" y="0"/>
            <a:chExt cx="22572231" cy="34774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572225" cy="3477435"/>
            </a:xfrm>
            <a:custGeom>
              <a:avLst/>
              <a:gdLst/>
              <a:ahLst/>
              <a:cxnLst/>
              <a:rect l="l" t="t" r="r" b="b"/>
              <a:pathLst>
                <a:path w="22572225" h="3477435">
                  <a:moveTo>
                    <a:pt x="0" y="0"/>
                  </a:moveTo>
                  <a:lnTo>
                    <a:pt x="22572225" y="0"/>
                  </a:lnTo>
                  <a:lnTo>
                    <a:pt x="22572225" y="3477435"/>
                  </a:lnTo>
                  <a:lnTo>
                    <a:pt x="0" y="34774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6478" b="-764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22572231" cy="34488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453"/>
                </a:lnSpc>
              </a:pPr>
              <a:r>
                <a:rPr lang="en-US" sz="7299" b="1" spc="-182" dirty="0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2C3">
                          <a:alpha val="100000"/>
                        </a:srgbClr>
                      </a:gs>
                    </a:gsLst>
                    <a:lin ang="5400000"/>
                  </a:gradFill>
                  <a:latin typeface="Inter Bold"/>
                  <a:ea typeface="Inter Bold"/>
                  <a:cs typeface="Inter Bold"/>
                  <a:sym typeface="Inter Bold"/>
                </a:rPr>
                <a:t>On-demand Data Fusion with Belvedere™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457662" y="7538713"/>
            <a:ext cx="1372676" cy="21965"/>
            <a:chOff x="0" y="0"/>
            <a:chExt cx="1830235" cy="292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30197" cy="29337"/>
            </a:xfrm>
            <a:custGeom>
              <a:avLst/>
              <a:gdLst/>
              <a:ahLst/>
              <a:cxnLst/>
              <a:rect l="l" t="t" r="r" b="b"/>
              <a:pathLst>
                <a:path w="1830197" h="29337">
                  <a:moveTo>
                    <a:pt x="0" y="0"/>
                  </a:moveTo>
                  <a:lnTo>
                    <a:pt x="1830197" y="0"/>
                  </a:lnTo>
                  <a:lnTo>
                    <a:pt x="1830197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8304667"/>
            <a:ext cx="18301840" cy="411802"/>
            <a:chOff x="0" y="0"/>
            <a:chExt cx="24402453" cy="5490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02455" cy="549066"/>
            </a:xfrm>
            <a:custGeom>
              <a:avLst/>
              <a:gdLst/>
              <a:ahLst/>
              <a:cxnLst/>
              <a:rect l="l" t="t" r="r" b="b"/>
              <a:pathLst>
                <a:path w="24402455" h="549066">
                  <a:moveTo>
                    <a:pt x="0" y="0"/>
                  </a:moveTo>
                  <a:lnTo>
                    <a:pt x="24402455" y="0"/>
                  </a:lnTo>
                  <a:lnTo>
                    <a:pt x="2440245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15983" b="-8159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402453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41"/>
                </a:lnSpc>
              </a:pPr>
              <a:r>
                <a:rPr lang="en-US" sz="1451" spc="403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AI FOR</a:t>
              </a:r>
              <a:r>
                <a:rPr lang="en-US" sz="1451" spc="403">
                  <a:solidFill>
                    <a:srgbClr val="F0F1F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DATA CURATION | DATA ENGINEERING | DATA OBSERVABILITY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9773431"/>
            <a:ext cx="18301840" cy="343168"/>
            <a:chOff x="0" y="0"/>
            <a:chExt cx="24402453" cy="4575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402455" cy="457559"/>
            </a:xfrm>
            <a:custGeom>
              <a:avLst/>
              <a:gdLst/>
              <a:ahLst/>
              <a:cxnLst/>
              <a:rect l="l" t="t" r="r" b="b"/>
              <a:pathLst>
                <a:path w="24402455" h="457559">
                  <a:moveTo>
                    <a:pt x="0" y="0"/>
                  </a:moveTo>
                  <a:lnTo>
                    <a:pt x="24402455" y="0"/>
                  </a:lnTo>
                  <a:lnTo>
                    <a:pt x="24402455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9172" b="-9891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4402453" cy="457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91"/>
                </a:lnSpc>
              </a:pPr>
              <a:r>
                <a:rPr lang="en-US" sz="1325" spc="530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135065" y="9773431"/>
            <a:ext cx="823608" cy="343168"/>
            <a:chOff x="0" y="0"/>
            <a:chExt cx="1098144" cy="4575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8138" cy="457559"/>
            </a:xfrm>
            <a:custGeom>
              <a:avLst/>
              <a:gdLst/>
              <a:ahLst/>
              <a:cxnLst/>
              <a:rect l="l" t="t" r="r" b="b"/>
              <a:pathLst>
                <a:path w="1098138" h="457559">
                  <a:moveTo>
                    <a:pt x="0" y="0"/>
                  </a:moveTo>
                  <a:lnTo>
                    <a:pt x="1098138" y="0"/>
                  </a:lnTo>
                  <a:lnTo>
                    <a:pt x="109813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098144" cy="457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351"/>
                </a:lnSpc>
              </a:pPr>
              <a:r>
                <a:rPr lang="en-US" sz="1125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01/13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415128" y="411255"/>
            <a:ext cx="3224536" cy="1026886"/>
          </a:xfrm>
          <a:custGeom>
            <a:avLst/>
            <a:gdLst/>
            <a:ahLst/>
            <a:cxnLst/>
            <a:rect l="l" t="t" r="r" b="b"/>
            <a:pathLst>
              <a:path w="3224536" h="1026886">
                <a:moveTo>
                  <a:pt x="0" y="0"/>
                </a:moveTo>
                <a:lnTo>
                  <a:pt x="3224536" y="0"/>
                </a:lnTo>
                <a:lnTo>
                  <a:pt x="3224536" y="1026887"/>
                </a:lnTo>
                <a:lnTo>
                  <a:pt x="0" y="10268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0" y="9773431"/>
            <a:ext cx="18301840" cy="343167"/>
            <a:chOff x="0" y="0"/>
            <a:chExt cx="24402453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3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1200" cap="none" spc="450" normalizeH="0" baseline="0" noProof="0">
                  <a:ln>
                    <a:noFill/>
                  </a:ln>
                  <a:solidFill>
                    <a:srgbClr val="8590B3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" y="3197906"/>
            <a:ext cx="6672943" cy="45719"/>
            <a:chOff x="0" y="0"/>
            <a:chExt cx="8327542" cy="183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225784"/>
            <a:ext cx="617706" cy="21965"/>
            <a:chOff x="0" y="0"/>
            <a:chExt cx="823608" cy="292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3349323"/>
            <a:ext cx="617706" cy="411804"/>
            <a:chOff x="0" y="0"/>
            <a:chExt cx="823608" cy="54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082" y="6110321"/>
            <a:ext cx="5586775" cy="579959"/>
            <a:chOff x="0" y="-224209"/>
            <a:chExt cx="7449035" cy="77327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449035" cy="549069"/>
            </a:xfrm>
            <a:custGeom>
              <a:avLst/>
              <a:gdLst/>
              <a:ahLst/>
              <a:cxnLst/>
              <a:rect l="l" t="t" r="r" b="b"/>
              <a:pathLst>
                <a:path w="7449035" h="549069">
                  <a:moveTo>
                    <a:pt x="0" y="0"/>
                  </a:moveTo>
                  <a:lnTo>
                    <a:pt x="7449035" y="0"/>
                  </a:lnTo>
                  <a:lnTo>
                    <a:pt x="744903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346" b="-214347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24209"/>
              <a:ext cx="7449034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 dirty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One-size doesn’t fit all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4607523"/>
            <a:ext cx="6672943" cy="45719"/>
            <a:chOff x="0" y="0"/>
            <a:chExt cx="8327542" cy="1830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7200" y="4635401"/>
            <a:ext cx="617706" cy="21965"/>
            <a:chOff x="0" y="0"/>
            <a:chExt cx="823608" cy="2928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4758940"/>
            <a:ext cx="617706" cy="411804"/>
            <a:chOff x="0" y="0"/>
            <a:chExt cx="823608" cy="5490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16082" y="4762500"/>
            <a:ext cx="5586775" cy="538782"/>
            <a:chOff x="0" y="-169307"/>
            <a:chExt cx="7449035" cy="71837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449035" cy="549069"/>
            </a:xfrm>
            <a:custGeom>
              <a:avLst/>
              <a:gdLst/>
              <a:ahLst/>
              <a:cxnLst/>
              <a:rect l="l" t="t" r="r" b="b"/>
              <a:pathLst>
                <a:path w="7449035" h="549069">
                  <a:moveTo>
                    <a:pt x="0" y="0"/>
                  </a:moveTo>
                  <a:lnTo>
                    <a:pt x="7449035" y="0"/>
                  </a:lnTo>
                  <a:lnTo>
                    <a:pt x="744903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346" b="-214347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69307"/>
              <a:ext cx="7449034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 dirty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Sources change without warning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7200" y="5981700"/>
            <a:ext cx="6672943" cy="45719"/>
            <a:chOff x="0" y="0"/>
            <a:chExt cx="8327542" cy="1830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6009578"/>
            <a:ext cx="617706" cy="21965"/>
            <a:chOff x="0" y="0"/>
            <a:chExt cx="823608" cy="2928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7200" y="6133117"/>
            <a:ext cx="617706" cy="411804"/>
            <a:chOff x="0" y="0"/>
            <a:chExt cx="823608" cy="54907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CF582B4C-5C8B-359B-82FE-FC8DF91807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31" r="20312"/>
          <a:stretch>
            <a:fillRect/>
          </a:stretch>
        </p:blipFill>
        <p:spPr>
          <a:xfrm>
            <a:off x="7477174" y="2464493"/>
            <a:ext cx="10129509" cy="6380275"/>
          </a:xfrm>
          <a:prstGeom prst="rect">
            <a:avLst/>
          </a:prstGeom>
        </p:spPr>
      </p:pic>
      <p:sp>
        <p:nvSpPr>
          <p:cNvPr id="66" name="TextBox 41">
            <a:extLst>
              <a:ext uri="{FF2B5EF4-FFF2-40B4-BE49-F238E27FC236}">
                <a16:creationId xmlns:a16="http://schemas.microsoft.com/office/drawing/2014/main" id="{DFD7C471-5F6A-8D3F-E187-52F67BE19609}"/>
              </a:ext>
            </a:extLst>
          </p:cNvPr>
          <p:cNvSpPr txBox="1"/>
          <p:nvPr/>
        </p:nvSpPr>
        <p:spPr>
          <a:xfrm>
            <a:off x="1074895" y="3357198"/>
            <a:ext cx="5925713" cy="4189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Data needs are uncertain until a question is asked</a:t>
            </a:r>
          </a:p>
        </p:txBody>
      </p:sp>
      <p:grpSp>
        <p:nvGrpSpPr>
          <p:cNvPr id="70" name="Group 43">
            <a:extLst>
              <a:ext uri="{FF2B5EF4-FFF2-40B4-BE49-F238E27FC236}">
                <a16:creationId xmlns:a16="http://schemas.microsoft.com/office/drawing/2014/main" id="{8D63FDF9-96E6-9328-80DB-18544CB10CA0}"/>
              </a:ext>
            </a:extLst>
          </p:cNvPr>
          <p:cNvGrpSpPr/>
          <p:nvPr/>
        </p:nvGrpSpPr>
        <p:grpSpPr>
          <a:xfrm>
            <a:off x="457200" y="7277100"/>
            <a:ext cx="6672943" cy="45719"/>
            <a:chOff x="0" y="0"/>
            <a:chExt cx="8327542" cy="18301"/>
          </a:xfrm>
        </p:grpSpPr>
        <p:sp>
          <p:nvSpPr>
            <p:cNvPr id="71" name="Freeform 44">
              <a:extLst>
                <a:ext uri="{FF2B5EF4-FFF2-40B4-BE49-F238E27FC236}">
                  <a16:creationId xmlns:a16="http://schemas.microsoft.com/office/drawing/2014/main" id="{4F16A3AE-290C-9F23-30A8-64937D2EB38F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2" name="Group 45">
            <a:extLst>
              <a:ext uri="{FF2B5EF4-FFF2-40B4-BE49-F238E27FC236}">
                <a16:creationId xmlns:a16="http://schemas.microsoft.com/office/drawing/2014/main" id="{470660A1-AECD-5D36-CA72-6E6309801A75}"/>
              </a:ext>
            </a:extLst>
          </p:cNvPr>
          <p:cNvGrpSpPr/>
          <p:nvPr/>
        </p:nvGrpSpPr>
        <p:grpSpPr>
          <a:xfrm>
            <a:off x="457200" y="7304978"/>
            <a:ext cx="617706" cy="21965"/>
            <a:chOff x="0" y="0"/>
            <a:chExt cx="823608" cy="29286"/>
          </a:xfrm>
        </p:grpSpPr>
        <p:sp>
          <p:nvSpPr>
            <p:cNvPr id="73" name="Freeform 46">
              <a:extLst>
                <a:ext uri="{FF2B5EF4-FFF2-40B4-BE49-F238E27FC236}">
                  <a16:creationId xmlns:a16="http://schemas.microsoft.com/office/drawing/2014/main" id="{1E8AF606-C281-1315-FFE7-5AECB3EBD528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4" name="Group 47">
            <a:extLst>
              <a:ext uri="{FF2B5EF4-FFF2-40B4-BE49-F238E27FC236}">
                <a16:creationId xmlns:a16="http://schemas.microsoft.com/office/drawing/2014/main" id="{7C0CA433-32BB-4167-E4AB-C3526A6B86D0}"/>
              </a:ext>
            </a:extLst>
          </p:cNvPr>
          <p:cNvGrpSpPr/>
          <p:nvPr/>
        </p:nvGrpSpPr>
        <p:grpSpPr>
          <a:xfrm>
            <a:off x="457200" y="7428517"/>
            <a:ext cx="617706" cy="411804"/>
            <a:chOff x="0" y="0"/>
            <a:chExt cx="823608" cy="549072"/>
          </a:xfrm>
        </p:grpSpPr>
        <p:sp>
          <p:nvSpPr>
            <p:cNvPr id="75" name="Freeform 48">
              <a:extLst>
                <a:ext uri="{FF2B5EF4-FFF2-40B4-BE49-F238E27FC236}">
                  <a16:creationId xmlns:a16="http://schemas.microsoft.com/office/drawing/2014/main" id="{8BD8E490-709B-D085-4861-AAA0C4972463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TextBox 49">
              <a:extLst>
                <a:ext uri="{FF2B5EF4-FFF2-40B4-BE49-F238E27FC236}">
                  <a16:creationId xmlns:a16="http://schemas.microsoft.com/office/drawing/2014/main" id="{02AD9EEE-2C0D-0CD7-243A-42F4642DCDBB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 dirty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04</a:t>
              </a:r>
            </a:p>
          </p:txBody>
        </p:sp>
      </p:grpSp>
      <p:grpSp>
        <p:nvGrpSpPr>
          <p:cNvPr id="80" name="Group 43">
            <a:extLst>
              <a:ext uri="{FF2B5EF4-FFF2-40B4-BE49-F238E27FC236}">
                <a16:creationId xmlns:a16="http://schemas.microsoft.com/office/drawing/2014/main" id="{743A0754-0423-E289-581B-2058921205CB}"/>
              </a:ext>
            </a:extLst>
          </p:cNvPr>
          <p:cNvGrpSpPr/>
          <p:nvPr/>
        </p:nvGrpSpPr>
        <p:grpSpPr>
          <a:xfrm>
            <a:off x="489857" y="8801100"/>
            <a:ext cx="6672943" cy="45719"/>
            <a:chOff x="0" y="0"/>
            <a:chExt cx="8327542" cy="18301"/>
          </a:xfrm>
        </p:grpSpPr>
        <p:sp>
          <p:nvSpPr>
            <p:cNvPr id="81" name="Freeform 44">
              <a:extLst>
                <a:ext uri="{FF2B5EF4-FFF2-40B4-BE49-F238E27FC236}">
                  <a16:creationId xmlns:a16="http://schemas.microsoft.com/office/drawing/2014/main" id="{F1D6756C-88BD-E4CC-7BA8-E4D6D6938176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2" name="Group 45">
            <a:extLst>
              <a:ext uri="{FF2B5EF4-FFF2-40B4-BE49-F238E27FC236}">
                <a16:creationId xmlns:a16="http://schemas.microsoft.com/office/drawing/2014/main" id="{59F0D413-C5FE-7D89-DBD5-3D57AA3153CB}"/>
              </a:ext>
            </a:extLst>
          </p:cNvPr>
          <p:cNvGrpSpPr/>
          <p:nvPr/>
        </p:nvGrpSpPr>
        <p:grpSpPr>
          <a:xfrm>
            <a:off x="489857" y="8828978"/>
            <a:ext cx="617706" cy="21965"/>
            <a:chOff x="0" y="0"/>
            <a:chExt cx="823608" cy="29286"/>
          </a:xfrm>
        </p:grpSpPr>
        <p:sp>
          <p:nvSpPr>
            <p:cNvPr id="83" name="Freeform 46">
              <a:extLst>
                <a:ext uri="{FF2B5EF4-FFF2-40B4-BE49-F238E27FC236}">
                  <a16:creationId xmlns:a16="http://schemas.microsoft.com/office/drawing/2014/main" id="{C4AD4EC6-7664-D9DB-B5CA-F890BADF281C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4" name="Group 47">
            <a:extLst>
              <a:ext uri="{FF2B5EF4-FFF2-40B4-BE49-F238E27FC236}">
                <a16:creationId xmlns:a16="http://schemas.microsoft.com/office/drawing/2014/main" id="{60CF0B97-F77A-5735-5E31-F94A28F260FF}"/>
              </a:ext>
            </a:extLst>
          </p:cNvPr>
          <p:cNvGrpSpPr/>
          <p:nvPr/>
        </p:nvGrpSpPr>
        <p:grpSpPr>
          <a:xfrm>
            <a:off x="489857" y="8952517"/>
            <a:ext cx="617706" cy="411804"/>
            <a:chOff x="0" y="0"/>
            <a:chExt cx="823608" cy="549072"/>
          </a:xfrm>
        </p:grpSpPr>
        <p:sp>
          <p:nvSpPr>
            <p:cNvPr id="85" name="Freeform 48">
              <a:extLst>
                <a:ext uri="{FF2B5EF4-FFF2-40B4-BE49-F238E27FC236}">
                  <a16:creationId xmlns:a16="http://schemas.microsoft.com/office/drawing/2014/main" id="{95241BF0-2DAA-9C89-A1AE-ACB263590B88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TextBox 49">
              <a:extLst>
                <a:ext uri="{FF2B5EF4-FFF2-40B4-BE49-F238E27FC236}">
                  <a16:creationId xmlns:a16="http://schemas.microsoft.com/office/drawing/2014/main" id="{A87379DE-7880-2A67-1E92-351E75B8F840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 dirty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05</a:t>
              </a:r>
            </a:p>
          </p:txBody>
        </p:sp>
      </p:grpSp>
      <p:sp>
        <p:nvSpPr>
          <p:cNvPr id="54" name="Arrow: Circular 53">
            <a:extLst>
              <a:ext uri="{FF2B5EF4-FFF2-40B4-BE49-F238E27FC236}">
                <a16:creationId xmlns:a16="http://schemas.microsoft.com/office/drawing/2014/main" id="{6CC42A37-36A2-D5FD-283D-FEA09BE37113}"/>
              </a:ext>
            </a:extLst>
          </p:cNvPr>
          <p:cNvSpPr/>
          <p:nvPr/>
        </p:nvSpPr>
        <p:spPr>
          <a:xfrm>
            <a:off x="7294830" y="2838144"/>
            <a:ext cx="11145570" cy="6691208"/>
          </a:xfrm>
          <a:prstGeom prst="circularArrow">
            <a:avLst>
              <a:gd name="adj1" fmla="val 7953"/>
              <a:gd name="adj2" fmla="val 380380"/>
              <a:gd name="adj3" fmla="val 10630513"/>
              <a:gd name="adj4" fmla="val 19835922"/>
              <a:gd name="adj5" fmla="val 824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CF0583-BAD8-4AE9-949B-50756904715C}"/>
              </a:ext>
            </a:extLst>
          </p:cNvPr>
          <p:cNvSpPr txBox="1"/>
          <p:nvPr/>
        </p:nvSpPr>
        <p:spPr>
          <a:xfrm>
            <a:off x="9464209" y="8883531"/>
            <a:ext cx="6806812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Months of the work isn’t answering questions, it’s just getting ready!</a:t>
            </a:r>
          </a:p>
        </p:txBody>
      </p:sp>
      <p:grpSp>
        <p:nvGrpSpPr>
          <p:cNvPr id="58" name="Group 2">
            <a:extLst>
              <a:ext uri="{FF2B5EF4-FFF2-40B4-BE49-F238E27FC236}">
                <a16:creationId xmlns:a16="http://schemas.microsoft.com/office/drawing/2014/main" id="{C295EF85-7BA3-806B-848A-BF801A996C53}"/>
              </a:ext>
            </a:extLst>
          </p:cNvPr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60" name="Freeform 3">
              <a:extLst>
                <a:ext uri="{FF2B5EF4-FFF2-40B4-BE49-F238E27FC236}">
                  <a16:creationId xmlns:a16="http://schemas.microsoft.com/office/drawing/2014/main" id="{807A696F-C49E-A9B1-036B-CEB6C68C83E9}"/>
                </a:ext>
              </a:extLst>
            </p:cNvPr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TextBox 4">
              <a:extLst>
                <a:ext uri="{FF2B5EF4-FFF2-40B4-BE49-F238E27FC236}">
                  <a16:creationId xmlns:a16="http://schemas.microsoft.com/office/drawing/2014/main" id="{26273852-E2B7-1C78-108F-FF88D307C1E4}"/>
                </a:ext>
              </a:extLst>
            </p:cNvPr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 dirty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THE AGE-OLD PROBLEM</a:t>
              </a:r>
            </a:p>
          </p:txBody>
        </p:sp>
      </p:grpSp>
      <p:grpSp>
        <p:nvGrpSpPr>
          <p:cNvPr id="62" name="Group 5">
            <a:extLst>
              <a:ext uri="{FF2B5EF4-FFF2-40B4-BE49-F238E27FC236}">
                <a16:creationId xmlns:a16="http://schemas.microsoft.com/office/drawing/2014/main" id="{9D80D3BB-81FA-E82B-1B36-3C07DF3E41DF}"/>
              </a:ext>
            </a:extLst>
          </p:cNvPr>
          <p:cNvGrpSpPr/>
          <p:nvPr/>
        </p:nvGrpSpPr>
        <p:grpSpPr>
          <a:xfrm>
            <a:off x="713794" y="796147"/>
            <a:ext cx="15511196" cy="851057"/>
            <a:chOff x="0" y="0"/>
            <a:chExt cx="20681594" cy="1134743"/>
          </a:xfrm>
        </p:grpSpPr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id="{C74FFA14-3F44-30C9-0219-96F7F4A795C4}"/>
                </a:ext>
              </a:extLst>
            </p:cNvPr>
            <p:cNvSpPr/>
            <p:nvPr/>
          </p:nvSpPr>
          <p:spPr>
            <a:xfrm>
              <a:off x="0" y="0"/>
              <a:ext cx="20681598" cy="1134740"/>
            </a:xfrm>
            <a:custGeom>
              <a:avLst/>
              <a:gdLst/>
              <a:ahLst/>
              <a:cxnLst/>
              <a:rect l="l" t="t" r="r" b="b"/>
              <a:pathLst>
                <a:path w="20681598" h="1134740">
                  <a:moveTo>
                    <a:pt x="0" y="0"/>
                  </a:moveTo>
                  <a:lnTo>
                    <a:pt x="20681598" y="0"/>
                  </a:lnTo>
                  <a:lnTo>
                    <a:pt x="20681598" y="1134740"/>
                  </a:lnTo>
                  <a:lnTo>
                    <a:pt x="0" y="1134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1" b="-30513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TextBox 7">
              <a:extLst>
                <a:ext uri="{FF2B5EF4-FFF2-40B4-BE49-F238E27FC236}">
                  <a16:creationId xmlns:a16="http://schemas.microsoft.com/office/drawing/2014/main" id="{9E8BCF22-EF3F-6DAA-1552-2BAD57220374}"/>
                </a:ext>
              </a:extLst>
            </p:cNvPr>
            <p:cNvSpPr txBox="1"/>
            <p:nvPr/>
          </p:nvSpPr>
          <p:spPr>
            <a:xfrm>
              <a:off x="0" y="0"/>
              <a:ext cx="20681594" cy="1134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2C3">
                          <a:alpha val="100000"/>
                        </a:srgbClr>
                      </a:gs>
                    </a:gsLst>
                    <a:lin ang="5400000"/>
                  </a:gra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Missions are Left Waiting </a:t>
              </a:r>
            </a:p>
          </p:txBody>
        </p:sp>
      </p:grpSp>
      <p:grpSp>
        <p:nvGrpSpPr>
          <p:cNvPr id="91" name="Group 10">
            <a:extLst>
              <a:ext uri="{FF2B5EF4-FFF2-40B4-BE49-F238E27FC236}">
                <a16:creationId xmlns:a16="http://schemas.microsoft.com/office/drawing/2014/main" id="{975573F9-0720-1D6C-BACA-3DD0DBFB9985}"/>
              </a:ext>
            </a:extLst>
          </p:cNvPr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D14FD874-20BF-7947-CC11-F0D5F7E6FAA0}"/>
                </a:ext>
              </a:extLst>
            </p:cNvPr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extBox 12">
              <a:extLst>
                <a:ext uri="{FF2B5EF4-FFF2-40B4-BE49-F238E27FC236}">
                  <a16:creationId xmlns:a16="http://schemas.microsoft.com/office/drawing/2014/main" id="{A63AEA18-78C6-519F-E264-8C8ABB7980F9}"/>
                </a:ext>
              </a:extLst>
            </p:cNvPr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 dirty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Data preparation continues to be 80% of the problem and current solutions cause other issues…  </a:t>
              </a:r>
            </a:p>
          </p:txBody>
        </p:sp>
      </p:grpSp>
      <p:grpSp>
        <p:nvGrpSpPr>
          <p:cNvPr id="97" name="Group 13">
            <a:extLst>
              <a:ext uri="{FF2B5EF4-FFF2-40B4-BE49-F238E27FC236}">
                <a16:creationId xmlns:a16="http://schemas.microsoft.com/office/drawing/2014/main" id="{0C5A7F2D-4ADA-8CD1-4C5D-AD1522FBD187}"/>
              </a:ext>
            </a:extLst>
          </p:cNvPr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98" name="Freeform 14">
              <a:extLst>
                <a:ext uri="{FF2B5EF4-FFF2-40B4-BE49-F238E27FC236}">
                  <a16:creationId xmlns:a16="http://schemas.microsoft.com/office/drawing/2014/main" id="{903C8C71-B88B-F62F-E42B-B5F10DC06C06}"/>
                </a:ext>
              </a:extLst>
            </p:cNvPr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5" name="TextBox 28">
            <a:extLst>
              <a:ext uri="{FF2B5EF4-FFF2-40B4-BE49-F238E27FC236}">
                <a16:creationId xmlns:a16="http://schemas.microsoft.com/office/drawing/2014/main" id="{19D6BBC5-4A8C-A295-B411-2C8B9E00431A}"/>
              </a:ext>
            </a:extLst>
          </p:cNvPr>
          <p:cNvSpPr txBox="1"/>
          <p:nvPr/>
        </p:nvSpPr>
        <p:spPr>
          <a:xfrm>
            <a:off x="1223471" y="3808113"/>
            <a:ext cx="5710729" cy="49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Attempting to preprocess everything is too expensive and often wasted on preparing data that is never used</a:t>
            </a:r>
          </a:p>
        </p:txBody>
      </p:sp>
      <p:sp>
        <p:nvSpPr>
          <p:cNvPr id="107" name="TextBox 28">
            <a:extLst>
              <a:ext uri="{FF2B5EF4-FFF2-40B4-BE49-F238E27FC236}">
                <a16:creationId xmlns:a16="http://schemas.microsoft.com/office/drawing/2014/main" id="{5542A2F1-6DEA-90C8-1D63-643356824F15}"/>
              </a:ext>
            </a:extLst>
          </p:cNvPr>
          <p:cNvSpPr txBox="1"/>
          <p:nvPr/>
        </p:nvSpPr>
        <p:spPr>
          <a:xfrm>
            <a:off x="1174471" y="5179713"/>
            <a:ext cx="5710729" cy="49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Detecting and recovering from surprise failures increases ongoing maintenance costs and decreases mission reliability</a:t>
            </a:r>
          </a:p>
        </p:txBody>
      </p:sp>
      <p:sp>
        <p:nvSpPr>
          <p:cNvPr id="109" name="TextBox 28">
            <a:extLst>
              <a:ext uri="{FF2B5EF4-FFF2-40B4-BE49-F238E27FC236}">
                <a16:creationId xmlns:a16="http://schemas.microsoft.com/office/drawing/2014/main" id="{AC8B6177-45E5-47D1-9E4A-A0BA74AEB59C}"/>
              </a:ext>
            </a:extLst>
          </p:cNvPr>
          <p:cNvSpPr txBox="1"/>
          <p:nvPr/>
        </p:nvSpPr>
        <p:spPr>
          <a:xfrm>
            <a:off x="1223470" y="6509938"/>
            <a:ext cx="5710729" cy="49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Individual cognition requires training and reframing; data attributes vary making conflation situational </a:t>
            </a:r>
          </a:p>
        </p:txBody>
      </p:sp>
      <p:grpSp>
        <p:nvGrpSpPr>
          <p:cNvPr id="110" name="Group 28">
            <a:extLst>
              <a:ext uri="{FF2B5EF4-FFF2-40B4-BE49-F238E27FC236}">
                <a16:creationId xmlns:a16="http://schemas.microsoft.com/office/drawing/2014/main" id="{28D49180-750F-2F97-06BA-83066E3E56C6}"/>
              </a:ext>
            </a:extLst>
          </p:cNvPr>
          <p:cNvGrpSpPr/>
          <p:nvPr/>
        </p:nvGrpSpPr>
        <p:grpSpPr>
          <a:xfrm>
            <a:off x="1074895" y="7404671"/>
            <a:ext cx="5586775" cy="579959"/>
            <a:chOff x="0" y="-224209"/>
            <a:chExt cx="7449035" cy="773278"/>
          </a:xfrm>
        </p:grpSpPr>
        <p:sp>
          <p:nvSpPr>
            <p:cNvPr id="115" name="Freeform 29">
              <a:extLst>
                <a:ext uri="{FF2B5EF4-FFF2-40B4-BE49-F238E27FC236}">
                  <a16:creationId xmlns:a16="http://schemas.microsoft.com/office/drawing/2014/main" id="{6912D640-7EE4-6D07-1B8D-48CCB7F0F5B8}"/>
                </a:ext>
              </a:extLst>
            </p:cNvPr>
            <p:cNvSpPr/>
            <p:nvPr/>
          </p:nvSpPr>
          <p:spPr>
            <a:xfrm>
              <a:off x="0" y="0"/>
              <a:ext cx="7449035" cy="549069"/>
            </a:xfrm>
            <a:custGeom>
              <a:avLst/>
              <a:gdLst/>
              <a:ahLst/>
              <a:cxnLst/>
              <a:rect l="l" t="t" r="r" b="b"/>
              <a:pathLst>
                <a:path w="7449035" h="549069">
                  <a:moveTo>
                    <a:pt x="0" y="0"/>
                  </a:moveTo>
                  <a:lnTo>
                    <a:pt x="7449035" y="0"/>
                  </a:lnTo>
                  <a:lnTo>
                    <a:pt x="744903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346" b="-214347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7" name="TextBox 30">
              <a:extLst>
                <a:ext uri="{FF2B5EF4-FFF2-40B4-BE49-F238E27FC236}">
                  <a16:creationId xmlns:a16="http://schemas.microsoft.com/office/drawing/2014/main" id="{A796DFAC-3E90-013B-3B07-3F63FAEEB36B}"/>
                </a:ext>
              </a:extLst>
            </p:cNvPr>
            <p:cNvSpPr txBox="1"/>
            <p:nvPr/>
          </p:nvSpPr>
          <p:spPr>
            <a:xfrm>
              <a:off x="0" y="-224209"/>
              <a:ext cx="7449034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 dirty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Tools and data are complex and varied</a:t>
              </a:r>
            </a:p>
          </p:txBody>
        </p:sp>
      </p:grpSp>
      <p:sp>
        <p:nvSpPr>
          <p:cNvPr id="120" name="TextBox 28">
            <a:extLst>
              <a:ext uri="{FF2B5EF4-FFF2-40B4-BE49-F238E27FC236}">
                <a16:creationId xmlns:a16="http://schemas.microsoft.com/office/drawing/2014/main" id="{036F85DE-DBD4-7A47-F618-976322129352}"/>
              </a:ext>
            </a:extLst>
          </p:cNvPr>
          <p:cNvSpPr txBox="1"/>
          <p:nvPr/>
        </p:nvSpPr>
        <p:spPr>
          <a:xfrm>
            <a:off x="1182283" y="7804288"/>
            <a:ext cx="5710729" cy="753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Education requirements increase lock-in and expense; often teams are needed to understand systems end-to-end; policies aren’t enforced because they aren’t widely known</a:t>
            </a:r>
          </a:p>
        </p:txBody>
      </p:sp>
      <p:grpSp>
        <p:nvGrpSpPr>
          <p:cNvPr id="121" name="Group 28">
            <a:extLst>
              <a:ext uri="{FF2B5EF4-FFF2-40B4-BE49-F238E27FC236}">
                <a16:creationId xmlns:a16="http://schemas.microsoft.com/office/drawing/2014/main" id="{BB552373-2694-55D4-7ADA-C03C0F279687}"/>
              </a:ext>
            </a:extLst>
          </p:cNvPr>
          <p:cNvGrpSpPr/>
          <p:nvPr/>
        </p:nvGrpSpPr>
        <p:grpSpPr>
          <a:xfrm>
            <a:off x="1116082" y="8939158"/>
            <a:ext cx="5586775" cy="579959"/>
            <a:chOff x="0" y="-224209"/>
            <a:chExt cx="7449035" cy="773278"/>
          </a:xfrm>
        </p:grpSpPr>
        <p:sp>
          <p:nvSpPr>
            <p:cNvPr id="122" name="Freeform 29">
              <a:extLst>
                <a:ext uri="{FF2B5EF4-FFF2-40B4-BE49-F238E27FC236}">
                  <a16:creationId xmlns:a16="http://schemas.microsoft.com/office/drawing/2014/main" id="{0CC13901-B6A3-667E-78AD-51E1344575E2}"/>
                </a:ext>
              </a:extLst>
            </p:cNvPr>
            <p:cNvSpPr/>
            <p:nvPr/>
          </p:nvSpPr>
          <p:spPr>
            <a:xfrm>
              <a:off x="0" y="0"/>
              <a:ext cx="7449035" cy="549069"/>
            </a:xfrm>
            <a:custGeom>
              <a:avLst/>
              <a:gdLst/>
              <a:ahLst/>
              <a:cxnLst/>
              <a:rect l="l" t="t" r="r" b="b"/>
              <a:pathLst>
                <a:path w="7449035" h="549069">
                  <a:moveTo>
                    <a:pt x="0" y="0"/>
                  </a:moveTo>
                  <a:lnTo>
                    <a:pt x="7449035" y="0"/>
                  </a:lnTo>
                  <a:lnTo>
                    <a:pt x="744903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346" b="-214347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3" name="TextBox 30">
              <a:extLst>
                <a:ext uri="{FF2B5EF4-FFF2-40B4-BE49-F238E27FC236}">
                  <a16:creationId xmlns:a16="http://schemas.microsoft.com/office/drawing/2014/main" id="{AF6E78CA-D89E-CD93-5023-EAB53B57AB14}"/>
                </a:ext>
              </a:extLst>
            </p:cNvPr>
            <p:cNvSpPr txBox="1"/>
            <p:nvPr/>
          </p:nvSpPr>
          <p:spPr>
            <a:xfrm>
              <a:off x="0" y="-224209"/>
              <a:ext cx="7449034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 dirty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Knowledge is implicit</a:t>
              </a:r>
            </a:p>
          </p:txBody>
        </p:sp>
      </p:grpSp>
      <p:sp>
        <p:nvSpPr>
          <p:cNvPr id="124" name="TextBox 28">
            <a:extLst>
              <a:ext uri="{FF2B5EF4-FFF2-40B4-BE49-F238E27FC236}">
                <a16:creationId xmlns:a16="http://schemas.microsoft.com/office/drawing/2014/main" id="{7EA95C16-CE57-E44F-DD21-FBD0758C1B23}"/>
              </a:ext>
            </a:extLst>
          </p:cNvPr>
          <p:cNvSpPr txBox="1"/>
          <p:nvPr/>
        </p:nvSpPr>
        <p:spPr>
          <a:xfrm>
            <a:off x="1223470" y="9338775"/>
            <a:ext cx="5710729" cy="49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Forgetfulness and turnover result in loss; expert-finding is a constant struggle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spc="375" dirty="0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THE AGE-OLD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7"/>
            <a:chOff x="0" y="0"/>
            <a:chExt cx="20681594" cy="1134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0"/>
            </a:xfrm>
            <a:custGeom>
              <a:avLst/>
              <a:gdLst/>
              <a:ahLst/>
              <a:cxnLst/>
              <a:rect l="l" t="t" r="r" b="b"/>
              <a:pathLst>
                <a:path w="20681598" h="1134740">
                  <a:moveTo>
                    <a:pt x="0" y="0"/>
                  </a:moveTo>
                  <a:lnTo>
                    <a:pt x="20681598" y="0"/>
                  </a:lnTo>
                  <a:lnTo>
                    <a:pt x="20681598" y="1134740"/>
                  </a:lnTo>
                  <a:lnTo>
                    <a:pt x="0" y="1134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1" b="-3051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2C3">
                          <a:alpha val="100000"/>
                        </a:srgbClr>
                      </a:gs>
                    </a:gsLst>
                    <a:lin ang="5400000"/>
                  </a:gradFill>
                  <a:latin typeface="Inter Bold"/>
                  <a:ea typeface="Inter Bold"/>
                  <a:cs typeface="Inter Bold"/>
                  <a:sym typeface="Inter Bold"/>
                </a:rPr>
                <a:t>The Work Before the Work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17002" y="466706"/>
            <a:ext cx="1329867" cy="1386402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dirty="0">
                  <a:solidFill>
                    <a:srgbClr val="9BA4BE"/>
                  </a:solidFill>
                  <a:latin typeface="Inter"/>
                  <a:ea typeface="Inter"/>
                  <a:cs typeface="Inter"/>
                  <a:sym typeface="Inter"/>
                </a:rPr>
                <a:t>Data is dumb and doesn’t help you use it. A person must investigate by hand, every time.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773431"/>
            <a:ext cx="18301840" cy="343167"/>
            <a:chOff x="0" y="0"/>
            <a:chExt cx="24402453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51"/>
                </a:lnSpc>
              </a:pPr>
              <a:r>
                <a:rPr lang="en-US" sz="1125" spc="450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35065" y="9773431"/>
            <a:ext cx="823608" cy="343168"/>
            <a:chOff x="0" y="0"/>
            <a:chExt cx="1098144" cy="4575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8138" cy="457559"/>
            </a:xfrm>
            <a:custGeom>
              <a:avLst/>
              <a:gdLst/>
              <a:ahLst/>
              <a:cxnLst/>
              <a:rect l="l" t="t" r="r" b="b"/>
              <a:pathLst>
                <a:path w="1098138" h="457559">
                  <a:moveTo>
                    <a:pt x="0" y="0"/>
                  </a:moveTo>
                  <a:lnTo>
                    <a:pt x="1098138" y="0"/>
                  </a:lnTo>
                  <a:lnTo>
                    <a:pt x="109813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098144" cy="457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351"/>
                </a:lnSpc>
              </a:pPr>
              <a:r>
                <a:rPr lang="en-US" sz="1125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03/13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4971" y="7539023"/>
            <a:ext cx="3947241" cy="768847"/>
            <a:chOff x="0" y="0"/>
            <a:chExt cx="1039603" cy="20249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39603" cy="202495"/>
            </a:xfrm>
            <a:custGeom>
              <a:avLst/>
              <a:gdLst/>
              <a:ahLst/>
              <a:cxnLst/>
              <a:rect l="l" t="t" r="r" b="b"/>
              <a:pathLst>
                <a:path w="1039603" h="202495">
                  <a:moveTo>
                    <a:pt x="0" y="0"/>
                  </a:moveTo>
                  <a:lnTo>
                    <a:pt x="1039603" y="0"/>
                  </a:lnTo>
                  <a:lnTo>
                    <a:pt x="1039603" y="202495"/>
                  </a:lnTo>
                  <a:lnTo>
                    <a:pt x="0" y="202495"/>
                  </a:lnTo>
                  <a:close/>
                </a:path>
              </a:pathLst>
            </a:custGeom>
            <a:solidFill>
              <a:srgbClr val="08143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039603" cy="212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1"/>
                </a:lnSpc>
              </a:pPr>
              <a:endParaRPr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7AC541E-F3C7-D446-F0E5-C4133FFA7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499650"/>
            <a:ext cx="17882489" cy="67757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2"/>
            <a:chOff x="0" y="0"/>
            <a:chExt cx="17387189" cy="5490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6"/>
            </a:xfrm>
            <a:custGeom>
              <a:avLst/>
              <a:gdLst/>
              <a:ahLst/>
              <a:cxnLst/>
              <a:rect l="l" t="t" r="r" b="b"/>
              <a:pathLst>
                <a:path w="17387184" h="549066">
                  <a:moveTo>
                    <a:pt x="0" y="0"/>
                  </a:moveTo>
                  <a:lnTo>
                    <a:pt x="17387184" y="0"/>
                  </a:lnTo>
                  <a:lnTo>
                    <a:pt x="1738718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9" b="-5670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spc="375" dirty="0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THE AGE-OLD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7"/>
            <a:chOff x="0" y="0"/>
            <a:chExt cx="20681594" cy="1134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0"/>
            </a:xfrm>
            <a:custGeom>
              <a:avLst/>
              <a:gdLst/>
              <a:ahLst/>
              <a:cxnLst/>
              <a:rect l="l" t="t" r="r" b="b"/>
              <a:pathLst>
                <a:path w="20681598" h="1134740">
                  <a:moveTo>
                    <a:pt x="0" y="0"/>
                  </a:moveTo>
                  <a:lnTo>
                    <a:pt x="20681598" y="0"/>
                  </a:lnTo>
                  <a:lnTo>
                    <a:pt x="20681598" y="1134740"/>
                  </a:lnTo>
                  <a:lnTo>
                    <a:pt x="0" y="1134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1" b="-3051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Every Feed Ends in </a:t>
              </a:r>
              <a:r>
                <a:rPr lang="en-US" sz="3903" b="1" dirty="0">
                  <a:solidFill>
                    <a:srgbClr val="FFF2C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 Person's Queue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17001" y="466706"/>
            <a:ext cx="1329868" cy="1386403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9"/>
            <a:chOff x="0" y="0"/>
            <a:chExt cx="21962758" cy="6222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82"/>
            </a:xfrm>
            <a:custGeom>
              <a:avLst/>
              <a:gdLst/>
              <a:ahLst/>
              <a:cxnLst/>
              <a:rect l="l" t="t" r="r" b="b"/>
              <a:pathLst>
                <a:path w="21962759" h="622282">
                  <a:moveTo>
                    <a:pt x="0" y="0"/>
                  </a:moveTo>
                  <a:lnTo>
                    <a:pt x="21962759" y="0"/>
                  </a:lnTo>
                  <a:lnTo>
                    <a:pt x="21962759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3" b="-6377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dirty="0">
                  <a:solidFill>
                    <a:srgbClr val="9BA4BE"/>
                  </a:solidFill>
                  <a:latin typeface="Inter"/>
                  <a:ea typeface="Inter"/>
                  <a:cs typeface="Inter"/>
                  <a:sym typeface="Inter"/>
                </a:rPr>
                <a:t>Databases, APIs, files, streams, buckets, models, pipelines. Each one waits on a data engineering specialist.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773431"/>
            <a:ext cx="18301840" cy="343167"/>
            <a:chOff x="0" y="0"/>
            <a:chExt cx="24402453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51"/>
                </a:lnSpc>
              </a:pPr>
              <a:r>
                <a:rPr lang="en-US" sz="1125" spc="450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35065" y="9773431"/>
            <a:ext cx="823608" cy="343168"/>
            <a:chOff x="0" y="0"/>
            <a:chExt cx="1098144" cy="4575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8138" cy="457559"/>
            </a:xfrm>
            <a:custGeom>
              <a:avLst/>
              <a:gdLst/>
              <a:ahLst/>
              <a:cxnLst/>
              <a:rect l="l" t="t" r="r" b="b"/>
              <a:pathLst>
                <a:path w="1098138" h="457559">
                  <a:moveTo>
                    <a:pt x="0" y="0"/>
                  </a:moveTo>
                  <a:lnTo>
                    <a:pt x="1098138" y="0"/>
                  </a:lnTo>
                  <a:lnTo>
                    <a:pt x="109813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098144" cy="457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351"/>
                </a:lnSpc>
              </a:pPr>
              <a:r>
                <a:rPr lang="en-US" sz="1125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02/13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4971" y="2580675"/>
            <a:ext cx="16791899" cy="6364666"/>
            <a:chOff x="0" y="0"/>
            <a:chExt cx="21230666" cy="8047101"/>
          </a:xfrm>
        </p:grpSpPr>
        <p:sp>
          <p:nvSpPr>
            <p:cNvPr id="22" name="Freeform 22" descr="/Users/hstrauss/Documents/GitHub/belvedere-pm/output/deck-rebuild/illus/bottleneck.png"/>
            <p:cNvSpPr/>
            <p:nvPr/>
          </p:nvSpPr>
          <p:spPr>
            <a:xfrm>
              <a:off x="0" y="0"/>
              <a:ext cx="21230717" cy="8047101"/>
            </a:xfrm>
            <a:custGeom>
              <a:avLst/>
              <a:gdLst/>
              <a:ahLst/>
              <a:cxnLst/>
              <a:rect l="l" t="t" r="r" b="b"/>
              <a:pathLst>
                <a:path w="21230717" h="8047101">
                  <a:moveTo>
                    <a:pt x="0" y="0"/>
                  </a:moveTo>
                  <a:lnTo>
                    <a:pt x="21230717" y="0"/>
                  </a:lnTo>
                  <a:lnTo>
                    <a:pt x="21230717" y="8047101"/>
                  </a:lnTo>
                  <a:lnTo>
                    <a:pt x="0" y="8047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9946" y="2450237"/>
            <a:ext cx="17381948" cy="7114027"/>
            <a:chOff x="0" y="0"/>
            <a:chExt cx="21230666" cy="8689219"/>
          </a:xfrm>
        </p:grpSpPr>
        <p:sp>
          <p:nvSpPr>
            <p:cNvPr id="24" name="Freeform 24" descr="/Users/hstrauss/Documents/GitHub/belvedere-pm/output/deck-rebuild/illus/bottleneck.png"/>
            <p:cNvSpPr/>
            <p:nvPr/>
          </p:nvSpPr>
          <p:spPr>
            <a:xfrm>
              <a:off x="0" y="0"/>
              <a:ext cx="21230717" cy="8689173"/>
            </a:xfrm>
            <a:custGeom>
              <a:avLst/>
              <a:gdLst/>
              <a:ahLst/>
              <a:cxnLst/>
              <a:rect l="l" t="t" r="r" b="b"/>
              <a:pathLst>
                <a:path w="21230717" h="8689173">
                  <a:moveTo>
                    <a:pt x="0" y="0"/>
                  </a:moveTo>
                  <a:lnTo>
                    <a:pt x="21230717" y="0"/>
                  </a:lnTo>
                  <a:lnTo>
                    <a:pt x="21230717" y="8689173"/>
                  </a:lnTo>
                  <a:lnTo>
                    <a:pt x="0" y="8689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72" b="-51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2"/>
            <a:chOff x="0" y="0"/>
            <a:chExt cx="17387189" cy="5490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6"/>
            </a:xfrm>
            <a:custGeom>
              <a:avLst/>
              <a:gdLst/>
              <a:ahLst/>
              <a:cxnLst/>
              <a:rect l="l" t="t" r="r" b="b"/>
              <a:pathLst>
                <a:path w="17387184" h="549066">
                  <a:moveTo>
                    <a:pt x="0" y="0"/>
                  </a:moveTo>
                  <a:lnTo>
                    <a:pt x="17387184" y="0"/>
                  </a:lnTo>
                  <a:lnTo>
                    <a:pt x="1738718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9" b="-5670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spc="375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RESPONSIBLE AI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7"/>
            <a:chOff x="0" y="0"/>
            <a:chExt cx="20681594" cy="1134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0"/>
            </a:xfrm>
            <a:custGeom>
              <a:avLst/>
              <a:gdLst/>
              <a:ahLst/>
              <a:cxnLst/>
              <a:rect l="l" t="t" r="r" b="b"/>
              <a:pathLst>
                <a:path w="20681598" h="1134740">
                  <a:moveTo>
                    <a:pt x="0" y="0"/>
                  </a:moveTo>
                  <a:lnTo>
                    <a:pt x="20681598" y="0"/>
                  </a:lnTo>
                  <a:lnTo>
                    <a:pt x="20681598" y="1134740"/>
                  </a:lnTo>
                  <a:lnTo>
                    <a:pt x="0" y="1134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1" b="-3051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Agents should </a:t>
              </a:r>
              <a:r>
                <a:rPr lang="en-US" sz="3903" b="1" dirty="0">
                  <a:solidFill>
                    <a:srgbClr val="FFF2C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</a:t>
              </a:r>
              <a:r>
                <a:rPr lang="en-US" sz="3903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the Pipeline, Not </a:t>
              </a:r>
              <a:r>
                <a:rPr lang="en-US" sz="3903" b="1" dirty="0">
                  <a:solidFill>
                    <a:srgbClr val="FFF2C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</a:t>
              </a:r>
              <a:r>
                <a:rPr lang="en-US" sz="3903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the Pipeline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169985" y="466706"/>
            <a:ext cx="1376884" cy="1435418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dirty="0">
                  <a:solidFill>
                    <a:srgbClr val="9BA4BE"/>
                  </a:solidFill>
                  <a:latin typeface="Inter"/>
                  <a:ea typeface="Inter"/>
                  <a:cs typeface="Inter"/>
                  <a:sym typeface="Inter"/>
                </a:rPr>
                <a:t>AI is best at design time. Data is handled by scalable, traceable code that never improvises. Knowledge is abstracted and retained.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135065" y="9773431"/>
            <a:ext cx="823608" cy="343168"/>
            <a:chOff x="0" y="0"/>
            <a:chExt cx="1098144" cy="4575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8138" cy="457559"/>
            </a:xfrm>
            <a:custGeom>
              <a:avLst/>
              <a:gdLst/>
              <a:ahLst/>
              <a:cxnLst/>
              <a:rect l="l" t="t" r="r" b="b"/>
              <a:pathLst>
                <a:path w="1098138" h="457559">
                  <a:moveTo>
                    <a:pt x="0" y="0"/>
                  </a:moveTo>
                  <a:lnTo>
                    <a:pt x="1098138" y="0"/>
                  </a:lnTo>
                  <a:lnTo>
                    <a:pt x="109813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098144" cy="457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351"/>
                </a:lnSpc>
              </a:pPr>
              <a:r>
                <a:rPr lang="en-US" sz="1125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05/13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2020" y="8447279"/>
            <a:ext cx="7327372" cy="839596"/>
            <a:chOff x="0" y="0"/>
            <a:chExt cx="8785098" cy="10066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85103" cy="1006626"/>
            </a:xfrm>
            <a:custGeom>
              <a:avLst/>
              <a:gdLst/>
              <a:ahLst/>
              <a:cxnLst/>
              <a:rect l="l" t="t" r="r" b="b"/>
              <a:pathLst>
                <a:path w="8785103" h="1006626">
                  <a:moveTo>
                    <a:pt x="0" y="0"/>
                  </a:moveTo>
                  <a:lnTo>
                    <a:pt x="8785103" y="0"/>
                  </a:lnTo>
                  <a:lnTo>
                    <a:pt x="878510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051" b="-1200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785098" cy="10542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01"/>
                </a:lnSpc>
              </a:pPr>
              <a:r>
                <a:rPr lang="en-US" sz="1351" spc="225" dirty="0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AI IN THE DATA PATH:</a:t>
              </a:r>
            </a:p>
            <a:p>
              <a:pPr algn="ctr">
                <a:lnSpc>
                  <a:spcPts val="2101"/>
                </a:lnSpc>
              </a:pPr>
              <a:r>
                <a:rPr lang="en-US" sz="1351" spc="225" dirty="0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RISKS: OPAQUE, VARIABLE, EXPENSIVE, HALLUCINATING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72599" y="8447279"/>
            <a:ext cx="8586069" cy="839596"/>
            <a:chOff x="0" y="0"/>
            <a:chExt cx="8785098" cy="100662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85103" cy="1006626"/>
            </a:xfrm>
            <a:custGeom>
              <a:avLst/>
              <a:gdLst/>
              <a:ahLst/>
              <a:cxnLst/>
              <a:rect l="l" t="t" r="r" b="b"/>
              <a:pathLst>
                <a:path w="8785103" h="1006626">
                  <a:moveTo>
                    <a:pt x="0" y="0"/>
                  </a:moveTo>
                  <a:lnTo>
                    <a:pt x="8785103" y="0"/>
                  </a:lnTo>
                  <a:lnTo>
                    <a:pt x="878510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051" b="-1200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785098" cy="10542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01"/>
                </a:lnSpc>
              </a:pPr>
              <a:r>
                <a:rPr lang="en-US" sz="1351" spc="225" dirty="0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AI AT DESIGN TIME:</a:t>
              </a:r>
            </a:p>
            <a:p>
              <a:pPr algn="ctr">
                <a:lnSpc>
                  <a:spcPts val="2101"/>
                </a:lnSpc>
              </a:pPr>
              <a:r>
                <a:rPr lang="en-US" sz="1351" spc="225" dirty="0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DETERMINISTIC CODE IN PRODUCTION, FORMAL KNOWLEDGE COMPOUNDS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974262" y="3465203"/>
            <a:ext cx="864756" cy="626223"/>
            <a:chOff x="0" y="0"/>
            <a:chExt cx="227755" cy="16493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7755" cy="164931"/>
            </a:xfrm>
            <a:custGeom>
              <a:avLst/>
              <a:gdLst/>
              <a:ahLst/>
              <a:cxnLst/>
              <a:rect l="l" t="t" r="r" b="b"/>
              <a:pathLst>
                <a:path w="227755" h="164931">
                  <a:moveTo>
                    <a:pt x="0" y="0"/>
                  </a:moveTo>
                  <a:lnTo>
                    <a:pt x="227755" y="0"/>
                  </a:lnTo>
                  <a:lnTo>
                    <a:pt x="227755" y="164931"/>
                  </a:lnTo>
                  <a:lnTo>
                    <a:pt x="0" y="164931"/>
                  </a:lnTo>
                  <a:close/>
                </a:path>
              </a:pathLst>
            </a:custGeom>
            <a:solidFill>
              <a:srgbClr val="0A183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227755" cy="183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6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9773431"/>
            <a:ext cx="16214671" cy="343168"/>
            <a:chOff x="0" y="0"/>
            <a:chExt cx="21619562" cy="45755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619563" cy="457559"/>
            </a:xfrm>
            <a:custGeom>
              <a:avLst/>
              <a:gdLst/>
              <a:ahLst/>
              <a:cxnLst/>
              <a:rect l="l" t="t" r="r" b="b"/>
              <a:pathLst>
                <a:path w="21619563" h="457559">
                  <a:moveTo>
                    <a:pt x="0" y="0"/>
                  </a:moveTo>
                  <a:lnTo>
                    <a:pt x="21619563" y="0"/>
                  </a:lnTo>
                  <a:lnTo>
                    <a:pt x="21619563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2" r="-12872" b="-9891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21619562" cy="457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51"/>
                </a:lnSpc>
              </a:pPr>
              <a:r>
                <a:rPr lang="en-US" sz="1125" spc="450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AAE0C80C-FBB6-1C9A-B55B-C06412E01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72" y="2386090"/>
            <a:ext cx="17844828" cy="6081880"/>
          </a:xfrm>
          <a:prstGeom prst="rect">
            <a:avLst/>
          </a:prstGeom>
        </p:spPr>
      </p:pic>
      <p:sp>
        <p:nvSpPr>
          <p:cNvPr id="34" name="&quot;Not Allowed&quot; Symbol 33">
            <a:extLst>
              <a:ext uri="{FF2B5EF4-FFF2-40B4-BE49-F238E27FC236}">
                <a16:creationId xmlns:a16="http://schemas.microsoft.com/office/drawing/2014/main" id="{CB35CE39-8921-0A17-4E0A-AC17B3E73541}"/>
              </a:ext>
            </a:extLst>
          </p:cNvPr>
          <p:cNvSpPr/>
          <p:nvPr/>
        </p:nvSpPr>
        <p:spPr>
          <a:xfrm>
            <a:off x="2895600" y="3453101"/>
            <a:ext cx="3733800" cy="3627120"/>
          </a:xfrm>
          <a:prstGeom prst="noSmoking">
            <a:avLst>
              <a:gd name="adj" fmla="val 38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68410-0E39-8E99-82CD-81BDFD29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45D4E26-E32D-E20A-5EFA-121011DACF54}"/>
              </a:ext>
            </a:extLst>
          </p:cNvPr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23DF9C-A8C4-3988-6584-CE0466270178}"/>
                </a:ext>
              </a:extLst>
            </p:cNvPr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79A7ACC-CC2E-E895-28DC-A248178AAAFE}"/>
                </a:ext>
              </a:extLst>
            </p:cNvPr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 dirty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TRUE AGILITY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59DA151-2402-BDB5-2BB4-F159ED6D8250}"/>
              </a:ext>
            </a:extLst>
          </p:cNvPr>
          <p:cNvGrpSpPr/>
          <p:nvPr/>
        </p:nvGrpSpPr>
        <p:grpSpPr>
          <a:xfrm>
            <a:off x="713794" y="796147"/>
            <a:ext cx="15511196" cy="851059"/>
            <a:chOff x="0" y="0"/>
            <a:chExt cx="20681594" cy="113474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639ED1F-8E17-E683-8A66-390F0ADF86F3}"/>
                </a:ext>
              </a:extLst>
            </p:cNvPr>
            <p:cNvSpPr/>
            <p:nvPr/>
          </p:nvSpPr>
          <p:spPr>
            <a:xfrm>
              <a:off x="0" y="0"/>
              <a:ext cx="20681598" cy="1134743"/>
            </a:xfrm>
            <a:custGeom>
              <a:avLst/>
              <a:gdLst/>
              <a:ahLst/>
              <a:cxnLst/>
              <a:rect l="l" t="t" r="r" b="b"/>
              <a:pathLst>
                <a:path w="20681598" h="1134743">
                  <a:moveTo>
                    <a:pt x="0" y="0"/>
                  </a:moveTo>
                  <a:lnTo>
                    <a:pt x="20681598" y="0"/>
                  </a:lnTo>
                  <a:lnTo>
                    <a:pt x="2068159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0" b="-3051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CE4AAE5-9BC2-D216-BFCD-1F8FC89FAF69}"/>
                </a:ext>
              </a:extLst>
            </p:cNvPr>
            <p:cNvSpPr txBox="1"/>
            <p:nvPr/>
          </p:nvSpPr>
          <p:spPr>
            <a:xfrm>
              <a:off x="0" y="0"/>
              <a:ext cx="20681594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 dirty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On-demand </a:t>
              </a:r>
              <a:r>
                <a:rPr kumimoji="0" lang="en-US" sz="3903" b="1" i="0" u="none" strike="noStrike" kern="1200" cap="none" spc="0" normalizeH="0" baseline="0" noProof="0" dirty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Fusion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7451913-CAB2-F770-D522-FB933B5B431A}"/>
              </a:ext>
            </a:extLst>
          </p:cNvPr>
          <p:cNvGrpSpPr/>
          <p:nvPr/>
        </p:nvGrpSpPr>
        <p:grpSpPr>
          <a:xfrm>
            <a:off x="16217002" y="466706"/>
            <a:ext cx="1329867" cy="1386402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>
              <a:extLst>
                <a:ext uri="{FF2B5EF4-FFF2-40B4-BE49-F238E27FC236}">
                  <a16:creationId xmlns:a16="http://schemas.microsoft.com/office/drawing/2014/main" id="{103B2CFA-16DD-D189-3739-36823DBE2683}"/>
                </a:ext>
              </a:extLst>
            </p:cNvPr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28FB7BA-25EE-EA4A-0E27-7CE7632D2FB1}"/>
              </a:ext>
            </a:extLst>
          </p:cNvPr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AE01F00-8D16-062D-2F82-CF929D93A334}"/>
                </a:ext>
              </a:extLst>
            </p:cNvPr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7FCE38-EE3F-8815-0BDD-3EC1A18C2333}"/>
                </a:ext>
              </a:extLst>
            </p:cNvPr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 dirty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When data prep is accelerated and abstracted mission needs can be supported at the moment of need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2F06CF5-F71A-AAD8-29C9-74606580528F}"/>
              </a:ext>
            </a:extLst>
          </p:cNvPr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FBDFEA1-CF2A-B286-F7E4-17AE7780AD80}"/>
                </a:ext>
              </a:extLst>
            </p:cNvPr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411A9A7-D851-761E-DCF1-F08E3CD34AFA}"/>
              </a:ext>
            </a:extLst>
          </p:cNvPr>
          <p:cNvGrpSpPr/>
          <p:nvPr/>
        </p:nvGrpSpPr>
        <p:grpSpPr>
          <a:xfrm>
            <a:off x="0" y="9773431"/>
            <a:ext cx="18301840" cy="343167"/>
            <a:chOff x="0" y="0"/>
            <a:chExt cx="24402453" cy="45755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F9BAE72-263E-7DE6-9A15-893FCD75DB45}"/>
                </a:ext>
              </a:extLst>
            </p:cNvPr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676E5BB-210F-40F6-5C8B-5EB90DD56BC8}"/>
                </a:ext>
              </a:extLst>
            </p:cNvPr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3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1200" cap="none" spc="450" normalizeH="0" baseline="0" noProof="0">
                  <a:ln>
                    <a:noFill/>
                  </a:ln>
                  <a:solidFill>
                    <a:srgbClr val="8590B3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587932BC-CF1E-D2CF-9DCB-54CFCBA38DB6}"/>
              </a:ext>
            </a:extLst>
          </p:cNvPr>
          <p:cNvGrpSpPr/>
          <p:nvPr/>
        </p:nvGrpSpPr>
        <p:grpSpPr>
          <a:xfrm>
            <a:off x="457200" y="3229899"/>
            <a:ext cx="6245657" cy="13726"/>
            <a:chOff x="0" y="0"/>
            <a:chExt cx="8327542" cy="18301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EDAE2CE-74F6-A2F0-60D8-7B3442819141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532EA43-15BB-92F9-1701-1B1CE5594447}"/>
              </a:ext>
            </a:extLst>
          </p:cNvPr>
          <p:cNvGrpSpPr/>
          <p:nvPr/>
        </p:nvGrpSpPr>
        <p:grpSpPr>
          <a:xfrm>
            <a:off x="457200" y="3349323"/>
            <a:ext cx="617706" cy="411804"/>
            <a:chOff x="0" y="0"/>
            <a:chExt cx="823608" cy="549072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BF6A820-CBC6-6A44-6AFF-A69B0CE28FDB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FBCCC27-0ED6-43F8-70D6-6348AB77B518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sp>
        <p:nvSpPr>
          <p:cNvPr id="29" name="Freeform 29">
            <a:extLst>
              <a:ext uri="{FF2B5EF4-FFF2-40B4-BE49-F238E27FC236}">
                <a16:creationId xmlns:a16="http://schemas.microsoft.com/office/drawing/2014/main" id="{DE5BC086-AD04-C9BB-615F-06C1D2023158}"/>
              </a:ext>
            </a:extLst>
          </p:cNvPr>
          <p:cNvSpPr/>
          <p:nvPr/>
        </p:nvSpPr>
        <p:spPr>
          <a:xfrm>
            <a:off x="1116082" y="5798496"/>
            <a:ext cx="5586775" cy="411802"/>
          </a:xfrm>
          <a:custGeom>
            <a:avLst/>
            <a:gdLst/>
            <a:ahLst/>
            <a:cxnLst/>
            <a:rect l="l" t="t" r="r" b="b"/>
            <a:pathLst>
              <a:path w="7449035" h="549069">
                <a:moveTo>
                  <a:pt x="0" y="0"/>
                </a:moveTo>
                <a:lnTo>
                  <a:pt x="7449035" y="0"/>
                </a:lnTo>
                <a:lnTo>
                  <a:pt x="7449035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14346" b="-214347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627DA5E-0064-2F46-358D-46310769F58D}"/>
              </a:ext>
            </a:extLst>
          </p:cNvPr>
          <p:cNvSpPr txBox="1"/>
          <p:nvPr/>
        </p:nvSpPr>
        <p:spPr>
          <a:xfrm>
            <a:off x="1116082" y="5715152"/>
            <a:ext cx="5586774" cy="764410"/>
          </a:xfrm>
          <a:prstGeom prst="rect">
            <a:avLst/>
          </a:prstGeom>
        </p:spPr>
        <p:txBody>
          <a:bodyPr lIns="0" tIns="0" rIns="0" bIns="0" rtlCol="0" anchor="t" anchorCtr="0"/>
          <a:lstStyle>
            <a:defPPr>
              <a:defRPr lang="en-US"/>
            </a:defPPr>
            <a:lvl1pPr marR="0" lvl="0" indent="0" fontAlgn="auto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951" b="1" i="0" u="none" strike="noStrike" cap="none" spc="0" normalizeH="0" baseline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sym typeface="Inter Bold"/>
              </a:rPr>
              <a:t>Make the most of your existing, trusted, scalable data processing investments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882F29FA-07C1-22A9-1DA0-A61D0C263AE1}"/>
              </a:ext>
            </a:extLst>
          </p:cNvPr>
          <p:cNvGrpSpPr/>
          <p:nvPr/>
        </p:nvGrpSpPr>
        <p:grpSpPr>
          <a:xfrm>
            <a:off x="457200" y="4326103"/>
            <a:ext cx="6245657" cy="13726"/>
            <a:chOff x="0" y="0"/>
            <a:chExt cx="8327542" cy="18301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69BD476A-E9BE-CE44-2E3C-16657421F27F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CECAA385-30F3-9B5D-8C0B-49F55DCC3A35}"/>
              </a:ext>
            </a:extLst>
          </p:cNvPr>
          <p:cNvGrpSpPr/>
          <p:nvPr/>
        </p:nvGrpSpPr>
        <p:grpSpPr>
          <a:xfrm>
            <a:off x="457200" y="4321988"/>
            <a:ext cx="617706" cy="21965"/>
            <a:chOff x="0" y="0"/>
            <a:chExt cx="823608" cy="29286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D992D91-D1F1-AC71-1AF9-FF7A6D52461A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8CE360A6-8CD8-A295-AB48-224A94C79799}"/>
              </a:ext>
            </a:extLst>
          </p:cNvPr>
          <p:cNvGrpSpPr/>
          <p:nvPr/>
        </p:nvGrpSpPr>
        <p:grpSpPr>
          <a:xfrm>
            <a:off x="457200" y="4445527"/>
            <a:ext cx="617706" cy="411804"/>
            <a:chOff x="0" y="0"/>
            <a:chExt cx="823608" cy="549072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49EE7EF-AF60-2CA0-07F6-F6E455ED4D4F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F849FC7F-2968-36A9-7042-F250B22981CF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sp>
        <p:nvSpPr>
          <p:cNvPr id="40" name="Freeform 40">
            <a:extLst>
              <a:ext uri="{FF2B5EF4-FFF2-40B4-BE49-F238E27FC236}">
                <a16:creationId xmlns:a16="http://schemas.microsoft.com/office/drawing/2014/main" id="{78255D81-0F2E-78F0-2EFE-6E850C35C029}"/>
              </a:ext>
            </a:extLst>
          </p:cNvPr>
          <p:cNvSpPr/>
          <p:nvPr/>
        </p:nvSpPr>
        <p:spPr>
          <a:xfrm>
            <a:off x="1116082" y="4576067"/>
            <a:ext cx="5586775" cy="411802"/>
          </a:xfrm>
          <a:custGeom>
            <a:avLst/>
            <a:gdLst/>
            <a:ahLst/>
            <a:cxnLst/>
            <a:rect l="l" t="t" r="r" b="b"/>
            <a:pathLst>
              <a:path w="7449035" h="549069">
                <a:moveTo>
                  <a:pt x="0" y="0"/>
                </a:moveTo>
                <a:lnTo>
                  <a:pt x="7449035" y="0"/>
                </a:lnTo>
                <a:lnTo>
                  <a:pt x="7449035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14346" b="-214347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1A6060A4-7B38-7A25-897C-0B5A9165BA1A}"/>
              </a:ext>
            </a:extLst>
          </p:cNvPr>
          <p:cNvSpPr txBox="1"/>
          <p:nvPr/>
        </p:nvSpPr>
        <p:spPr>
          <a:xfrm>
            <a:off x="1116082" y="4495951"/>
            <a:ext cx="5586774" cy="700683"/>
          </a:xfrm>
          <a:prstGeom prst="rect">
            <a:avLst/>
          </a:prstGeom>
        </p:spPr>
        <p:txBody>
          <a:bodyPr lIns="0" tIns="0" rIns="0" bIns="0" rtlCol="0" anchor="t" anchorCtr="0"/>
          <a:lstStyle>
            <a:defPPr>
              <a:defRPr lang="en-US"/>
            </a:defPPr>
            <a:lvl1pPr marR="0" lvl="0" indent="0" fontAlgn="auto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951" b="1" i="0" u="none" strike="noStrike" cap="none" spc="0" normalizeH="0" baseline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sym typeface="Inter Bold"/>
              </a:rPr>
              <a:t>Personalize processing for the desired analytical tool or individual cognition </a:t>
            </a:r>
          </a:p>
        </p:txBody>
      </p:sp>
      <p:grpSp>
        <p:nvGrpSpPr>
          <p:cNvPr id="43" name="Group 43">
            <a:extLst>
              <a:ext uri="{FF2B5EF4-FFF2-40B4-BE49-F238E27FC236}">
                <a16:creationId xmlns:a16="http://schemas.microsoft.com/office/drawing/2014/main" id="{58E2740C-ADBE-158E-7C2F-A1946A1AD896}"/>
              </a:ext>
            </a:extLst>
          </p:cNvPr>
          <p:cNvGrpSpPr/>
          <p:nvPr/>
        </p:nvGrpSpPr>
        <p:grpSpPr>
          <a:xfrm>
            <a:off x="457200" y="5533711"/>
            <a:ext cx="6245657" cy="13726"/>
            <a:chOff x="0" y="0"/>
            <a:chExt cx="8327542" cy="18301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885ECB23-D33C-33BF-3A16-E1400EECE995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174B94AC-680E-A2D4-819C-53DBC11E907B}"/>
              </a:ext>
            </a:extLst>
          </p:cNvPr>
          <p:cNvGrpSpPr/>
          <p:nvPr/>
        </p:nvGrpSpPr>
        <p:grpSpPr>
          <a:xfrm>
            <a:off x="457200" y="5529596"/>
            <a:ext cx="617706" cy="21965"/>
            <a:chOff x="0" y="0"/>
            <a:chExt cx="823608" cy="29286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9342DC1A-8CFC-5E3D-7BE2-27BC0044B130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E0890BF7-3A3F-FACE-66C3-A6C4F4B4BAA6}"/>
              </a:ext>
            </a:extLst>
          </p:cNvPr>
          <p:cNvGrpSpPr/>
          <p:nvPr/>
        </p:nvGrpSpPr>
        <p:grpSpPr>
          <a:xfrm>
            <a:off x="457200" y="5653135"/>
            <a:ext cx="617706" cy="411804"/>
            <a:chOff x="0" y="0"/>
            <a:chExt cx="823608" cy="549072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2AD2B0DE-2995-EB63-E290-292558623CE4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9D2592DA-1FF8-571F-82EC-F282835389BC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99261943-D9C0-2EC1-8D96-02F359DFC3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531" r="20312"/>
          <a:stretch>
            <a:fillRect/>
          </a:stretch>
        </p:blipFill>
        <p:spPr>
          <a:xfrm>
            <a:off x="7000609" y="2464493"/>
            <a:ext cx="10129509" cy="6380275"/>
          </a:xfrm>
          <a:prstGeom prst="rect">
            <a:avLst/>
          </a:prstGeom>
        </p:spPr>
      </p:pic>
      <p:sp>
        <p:nvSpPr>
          <p:cNvPr id="66" name="TextBox 41">
            <a:extLst>
              <a:ext uri="{FF2B5EF4-FFF2-40B4-BE49-F238E27FC236}">
                <a16:creationId xmlns:a16="http://schemas.microsoft.com/office/drawing/2014/main" id="{2CACEEB6-31BF-BEAC-A665-050BCE406E40}"/>
              </a:ext>
            </a:extLst>
          </p:cNvPr>
          <p:cNvSpPr txBox="1"/>
          <p:nvPr/>
        </p:nvSpPr>
        <p:spPr>
          <a:xfrm>
            <a:off x="1074896" y="3357197"/>
            <a:ext cx="5586774" cy="797065"/>
          </a:xfrm>
          <a:prstGeom prst="rect">
            <a:avLst/>
          </a:prstGeom>
        </p:spPr>
        <p:txBody>
          <a:bodyPr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Timely responsiveness when m</a:t>
            </a:r>
            <a:r>
              <a:rPr kumimoji="0" lang="en-US" sz="1951" b="1" i="0" u="none" strike="noStrike" kern="1200" cap="none" spc="0" normalizeH="0" baseline="0" noProof="0" dirty="0" err="1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ission</a:t>
            </a:r>
            <a:r>
              <a:rPr kumimoji="0" lang="en-US" sz="195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 situation surfaces new questions</a:t>
            </a:r>
          </a:p>
        </p:txBody>
      </p:sp>
      <p:sp>
        <p:nvSpPr>
          <p:cNvPr id="68" name="Freeform 29">
            <a:extLst>
              <a:ext uri="{FF2B5EF4-FFF2-40B4-BE49-F238E27FC236}">
                <a16:creationId xmlns:a16="http://schemas.microsoft.com/office/drawing/2014/main" id="{752D59B1-13CA-450C-44D2-2C81765A58ED}"/>
              </a:ext>
            </a:extLst>
          </p:cNvPr>
          <p:cNvSpPr/>
          <p:nvPr/>
        </p:nvSpPr>
        <p:spPr>
          <a:xfrm>
            <a:off x="1116082" y="6993600"/>
            <a:ext cx="5586775" cy="411802"/>
          </a:xfrm>
          <a:custGeom>
            <a:avLst/>
            <a:gdLst/>
            <a:ahLst/>
            <a:cxnLst/>
            <a:rect l="l" t="t" r="r" b="b"/>
            <a:pathLst>
              <a:path w="7449035" h="549069">
                <a:moveTo>
                  <a:pt x="0" y="0"/>
                </a:moveTo>
                <a:lnTo>
                  <a:pt x="7449035" y="0"/>
                </a:lnTo>
                <a:lnTo>
                  <a:pt x="7449035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14346" b="-214347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30">
            <a:extLst>
              <a:ext uri="{FF2B5EF4-FFF2-40B4-BE49-F238E27FC236}">
                <a16:creationId xmlns:a16="http://schemas.microsoft.com/office/drawing/2014/main" id="{E951626B-D670-328F-13D4-5702D3404BE2}"/>
              </a:ext>
            </a:extLst>
          </p:cNvPr>
          <p:cNvSpPr txBox="1"/>
          <p:nvPr/>
        </p:nvSpPr>
        <p:spPr>
          <a:xfrm>
            <a:off x="1116082" y="6896100"/>
            <a:ext cx="5586774" cy="764410"/>
          </a:xfrm>
          <a:prstGeom prst="rect">
            <a:avLst/>
          </a:prstGeom>
        </p:spPr>
        <p:txBody>
          <a:bodyPr lIns="0" tIns="0" rIns="0" bIns="0" rtlCol="0" anchor="t" anchorCtr="0"/>
          <a:lstStyle>
            <a:defPPr>
              <a:defRPr lang="en-US"/>
            </a:defPPr>
            <a:lvl1pPr marR="0" lvl="0" indent="0" fontAlgn="auto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951" b="1" i="0" u="none" strike="noStrike" cap="none" spc="0" normalizeH="0" baseline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sym typeface="Inter Bold"/>
              </a:rPr>
              <a:t>Compounding knowledge improves future operations and reduces user burden</a:t>
            </a:r>
          </a:p>
        </p:txBody>
      </p:sp>
      <p:grpSp>
        <p:nvGrpSpPr>
          <p:cNvPr id="70" name="Group 43">
            <a:extLst>
              <a:ext uri="{FF2B5EF4-FFF2-40B4-BE49-F238E27FC236}">
                <a16:creationId xmlns:a16="http://schemas.microsoft.com/office/drawing/2014/main" id="{B72522AF-DB21-8209-4709-7BC312892AB8}"/>
              </a:ext>
            </a:extLst>
          </p:cNvPr>
          <p:cNvGrpSpPr/>
          <p:nvPr/>
        </p:nvGrpSpPr>
        <p:grpSpPr>
          <a:xfrm>
            <a:off x="457200" y="6728815"/>
            <a:ext cx="6245657" cy="13726"/>
            <a:chOff x="0" y="0"/>
            <a:chExt cx="8327542" cy="18301"/>
          </a:xfrm>
        </p:grpSpPr>
        <p:sp>
          <p:nvSpPr>
            <p:cNvPr id="71" name="Freeform 44">
              <a:extLst>
                <a:ext uri="{FF2B5EF4-FFF2-40B4-BE49-F238E27FC236}">
                  <a16:creationId xmlns:a16="http://schemas.microsoft.com/office/drawing/2014/main" id="{691693B5-F015-9C48-5914-6E191524674B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2" name="Group 45">
            <a:extLst>
              <a:ext uri="{FF2B5EF4-FFF2-40B4-BE49-F238E27FC236}">
                <a16:creationId xmlns:a16="http://schemas.microsoft.com/office/drawing/2014/main" id="{C137E599-A19F-4CAB-E78E-80E1029D3D4E}"/>
              </a:ext>
            </a:extLst>
          </p:cNvPr>
          <p:cNvGrpSpPr/>
          <p:nvPr/>
        </p:nvGrpSpPr>
        <p:grpSpPr>
          <a:xfrm>
            <a:off x="457200" y="6724700"/>
            <a:ext cx="617706" cy="21965"/>
            <a:chOff x="0" y="0"/>
            <a:chExt cx="823608" cy="29286"/>
          </a:xfrm>
        </p:grpSpPr>
        <p:sp>
          <p:nvSpPr>
            <p:cNvPr id="73" name="Freeform 46">
              <a:extLst>
                <a:ext uri="{FF2B5EF4-FFF2-40B4-BE49-F238E27FC236}">
                  <a16:creationId xmlns:a16="http://schemas.microsoft.com/office/drawing/2014/main" id="{35631C66-67C3-AEDD-D44C-5FC4056BD7CC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4" name="Group 47">
            <a:extLst>
              <a:ext uri="{FF2B5EF4-FFF2-40B4-BE49-F238E27FC236}">
                <a16:creationId xmlns:a16="http://schemas.microsoft.com/office/drawing/2014/main" id="{017136C0-5187-AE40-2D3D-298160BC3E77}"/>
              </a:ext>
            </a:extLst>
          </p:cNvPr>
          <p:cNvGrpSpPr/>
          <p:nvPr/>
        </p:nvGrpSpPr>
        <p:grpSpPr>
          <a:xfrm>
            <a:off x="457200" y="6848239"/>
            <a:ext cx="617706" cy="411804"/>
            <a:chOff x="0" y="0"/>
            <a:chExt cx="823608" cy="549072"/>
          </a:xfrm>
        </p:grpSpPr>
        <p:sp>
          <p:nvSpPr>
            <p:cNvPr id="75" name="Freeform 48">
              <a:extLst>
                <a:ext uri="{FF2B5EF4-FFF2-40B4-BE49-F238E27FC236}">
                  <a16:creationId xmlns:a16="http://schemas.microsoft.com/office/drawing/2014/main" id="{0AF2C110-2648-F867-3F46-E257883C3471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TextBox 49">
              <a:extLst>
                <a:ext uri="{FF2B5EF4-FFF2-40B4-BE49-F238E27FC236}">
                  <a16:creationId xmlns:a16="http://schemas.microsoft.com/office/drawing/2014/main" id="{06CB1F76-8986-6995-F338-C1E76875EC20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 dirty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04</a:t>
              </a:r>
            </a:p>
          </p:txBody>
        </p:sp>
      </p:grpSp>
      <p:sp>
        <p:nvSpPr>
          <p:cNvPr id="78" name="Freeform 29">
            <a:extLst>
              <a:ext uri="{FF2B5EF4-FFF2-40B4-BE49-F238E27FC236}">
                <a16:creationId xmlns:a16="http://schemas.microsoft.com/office/drawing/2014/main" id="{D8D2182D-4811-9792-BF10-DA05BB3910BF}"/>
              </a:ext>
            </a:extLst>
          </p:cNvPr>
          <p:cNvSpPr/>
          <p:nvPr/>
        </p:nvSpPr>
        <p:spPr>
          <a:xfrm>
            <a:off x="1148739" y="8380683"/>
            <a:ext cx="5586775" cy="411802"/>
          </a:xfrm>
          <a:custGeom>
            <a:avLst/>
            <a:gdLst/>
            <a:ahLst/>
            <a:cxnLst/>
            <a:rect l="l" t="t" r="r" b="b"/>
            <a:pathLst>
              <a:path w="7449035" h="549069">
                <a:moveTo>
                  <a:pt x="0" y="0"/>
                </a:moveTo>
                <a:lnTo>
                  <a:pt x="7449035" y="0"/>
                </a:lnTo>
                <a:lnTo>
                  <a:pt x="7449035" y="549069"/>
                </a:lnTo>
                <a:lnTo>
                  <a:pt x="0" y="54906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14346" b="-214347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30">
            <a:extLst>
              <a:ext uri="{FF2B5EF4-FFF2-40B4-BE49-F238E27FC236}">
                <a16:creationId xmlns:a16="http://schemas.microsoft.com/office/drawing/2014/main" id="{1C254489-6D47-20C7-DD43-90D177577361}"/>
              </a:ext>
            </a:extLst>
          </p:cNvPr>
          <p:cNvSpPr txBox="1"/>
          <p:nvPr/>
        </p:nvSpPr>
        <p:spPr>
          <a:xfrm>
            <a:off x="1148739" y="8305952"/>
            <a:ext cx="5586774" cy="764410"/>
          </a:xfrm>
          <a:prstGeom prst="rect">
            <a:avLst/>
          </a:prstGeom>
        </p:spPr>
        <p:txBody>
          <a:bodyPr lIns="0" tIns="0" rIns="0" bIns="0" rtlCol="0" anchor="t" anchorCtr="0"/>
          <a:lstStyle>
            <a:defPPr>
              <a:defRPr lang="en-US"/>
            </a:defPPr>
            <a:lvl1pPr marR="0" lvl="0" indent="0" fontAlgn="auto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951" b="1" i="0" u="none" strike="noStrike" cap="none" spc="0" normalizeH="0" baseline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sym typeface="Inter Bold"/>
              </a:rPr>
              <a:t>Better explainability, lineage, and authoritative data</a:t>
            </a:r>
          </a:p>
        </p:txBody>
      </p:sp>
      <p:grpSp>
        <p:nvGrpSpPr>
          <p:cNvPr id="80" name="Group 43">
            <a:extLst>
              <a:ext uri="{FF2B5EF4-FFF2-40B4-BE49-F238E27FC236}">
                <a16:creationId xmlns:a16="http://schemas.microsoft.com/office/drawing/2014/main" id="{721FFF7D-B3B2-326F-22E7-4E97D3ECE433}"/>
              </a:ext>
            </a:extLst>
          </p:cNvPr>
          <p:cNvGrpSpPr/>
          <p:nvPr/>
        </p:nvGrpSpPr>
        <p:grpSpPr>
          <a:xfrm>
            <a:off x="489857" y="8115898"/>
            <a:ext cx="6245657" cy="13726"/>
            <a:chOff x="0" y="0"/>
            <a:chExt cx="8327542" cy="18301"/>
          </a:xfrm>
        </p:grpSpPr>
        <p:sp>
          <p:nvSpPr>
            <p:cNvPr id="81" name="Freeform 44">
              <a:extLst>
                <a:ext uri="{FF2B5EF4-FFF2-40B4-BE49-F238E27FC236}">
                  <a16:creationId xmlns:a16="http://schemas.microsoft.com/office/drawing/2014/main" id="{235C0FDB-4653-0619-600D-D66F5AD7386A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2" name="Group 45">
            <a:extLst>
              <a:ext uri="{FF2B5EF4-FFF2-40B4-BE49-F238E27FC236}">
                <a16:creationId xmlns:a16="http://schemas.microsoft.com/office/drawing/2014/main" id="{7290A25F-D633-D31C-FB46-469AA6FF05E6}"/>
              </a:ext>
            </a:extLst>
          </p:cNvPr>
          <p:cNvGrpSpPr/>
          <p:nvPr/>
        </p:nvGrpSpPr>
        <p:grpSpPr>
          <a:xfrm>
            <a:off x="489857" y="8111783"/>
            <a:ext cx="617706" cy="21965"/>
            <a:chOff x="0" y="0"/>
            <a:chExt cx="823608" cy="29286"/>
          </a:xfrm>
        </p:grpSpPr>
        <p:sp>
          <p:nvSpPr>
            <p:cNvPr id="83" name="Freeform 46">
              <a:extLst>
                <a:ext uri="{FF2B5EF4-FFF2-40B4-BE49-F238E27FC236}">
                  <a16:creationId xmlns:a16="http://schemas.microsoft.com/office/drawing/2014/main" id="{F315D4A9-779D-2329-4ADC-0BE5D13D6A08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4" name="Group 47">
            <a:extLst>
              <a:ext uri="{FF2B5EF4-FFF2-40B4-BE49-F238E27FC236}">
                <a16:creationId xmlns:a16="http://schemas.microsoft.com/office/drawing/2014/main" id="{ADD3AA09-F89A-F7C2-4B25-A95DB992C760}"/>
              </a:ext>
            </a:extLst>
          </p:cNvPr>
          <p:cNvGrpSpPr/>
          <p:nvPr/>
        </p:nvGrpSpPr>
        <p:grpSpPr>
          <a:xfrm>
            <a:off x="489857" y="8235322"/>
            <a:ext cx="617706" cy="411804"/>
            <a:chOff x="0" y="0"/>
            <a:chExt cx="823608" cy="549072"/>
          </a:xfrm>
        </p:grpSpPr>
        <p:sp>
          <p:nvSpPr>
            <p:cNvPr id="85" name="Freeform 48">
              <a:extLst>
                <a:ext uri="{FF2B5EF4-FFF2-40B4-BE49-F238E27FC236}">
                  <a16:creationId xmlns:a16="http://schemas.microsoft.com/office/drawing/2014/main" id="{57F8A143-60DF-6F15-F1F7-99969D6292FF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TextBox 49">
              <a:extLst>
                <a:ext uri="{FF2B5EF4-FFF2-40B4-BE49-F238E27FC236}">
                  <a16:creationId xmlns:a16="http://schemas.microsoft.com/office/drawing/2014/main" id="{0F801B48-D0A6-8274-5827-13BD3AB077A6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 dirty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05</a:t>
              </a:r>
            </a:p>
          </p:txBody>
        </p:sp>
      </p:grpSp>
      <p:sp>
        <p:nvSpPr>
          <p:cNvPr id="42" name="Arrow: Circular 41">
            <a:extLst>
              <a:ext uri="{FF2B5EF4-FFF2-40B4-BE49-F238E27FC236}">
                <a16:creationId xmlns:a16="http://schemas.microsoft.com/office/drawing/2014/main" id="{3104A30C-65BB-4627-C626-ABB2C687B72C}"/>
              </a:ext>
            </a:extLst>
          </p:cNvPr>
          <p:cNvSpPr/>
          <p:nvPr/>
        </p:nvSpPr>
        <p:spPr>
          <a:xfrm>
            <a:off x="6761430" y="2781300"/>
            <a:ext cx="11145570" cy="6691208"/>
          </a:xfrm>
          <a:prstGeom prst="circularArrow">
            <a:avLst>
              <a:gd name="adj1" fmla="val 7953"/>
              <a:gd name="adj2" fmla="val 380380"/>
              <a:gd name="adj3" fmla="val 10630513"/>
              <a:gd name="adj4" fmla="val 19835922"/>
              <a:gd name="adj5" fmla="val 824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0E388A-33D7-4B7C-2CC4-E049639CD43A}"/>
              </a:ext>
            </a:extLst>
          </p:cNvPr>
          <p:cNvSpPr txBox="1"/>
          <p:nvPr/>
        </p:nvSpPr>
        <p:spPr>
          <a:xfrm>
            <a:off x="7478430" y="8804662"/>
            <a:ext cx="936177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Agentic acceleration with Belvedere: </a:t>
            </a:r>
          </a:p>
          <a:p>
            <a:pPr marL="0" marR="0" lvl="0" indent="0" algn="ctr" defTabSz="914400" rtl="0" eaLnBrk="1" fontAlgn="auto" latinLnBrk="0" hangingPunct="1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Months become minutes!</a:t>
            </a:r>
          </a:p>
        </p:txBody>
      </p:sp>
      <p:grpSp>
        <p:nvGrpSpPr>
          <p:cNvPr id="52" name="Group 8">
            <a:extLst>
              <a:ext uri="{FF2B5EF4-FFF2-40B4-BE49-F238E27FC236}">
                <a16:creationId xmlns:a16="http://schemas.microsoft.com/office/drawing/2014/main" id="{B54F9D97-4562-8994-E1F7-F3D7331FAA6F}"/>
              </a:ext>
            </a:extLst>
          </p:cNvPr>
          <p:cNvGrpSpPr/>
          <p:nvPr/>
        </p:nvGrpSpPr>
        <p:grpSpPr>
          <a:xfrm>
            <a:off x="14706600" y="7981188"/>
            <a:ext cx="1329867" cy="1386402"/>
            <a:chOff x="0" y="0"/>
            <a:chExt cx="1053363" cy="1098144"/>
          </a:xfrm>
        </p:grpSpPr>
        <p:sp>
          <p:nvSpPr>
            <p:cNvPr id="53" name="Freeform 9" descr="/Users/hstrauss/Documents/GitHub/belvedere-pm/output/deck-rebuild/belv_mark.png">
              <a:extLst>
                <a:ext uri="{FF2B5EF4-FFF2-40B4-BE49-F238E27FC236}">
                  <a16:creationId xmlns:a16="http://schemas.microsoft.com/office/drawing/2014/main" id="{81D304B2-2142-4173-39EC-30B4728347C8}"/>
                </a:ext>
              </a:extLst>
            </p:cNvPr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EA4EF8F-B91E-0420-36F2-C1DF6E12B80C}"/>
              </a:ext>
            </a:extLst>
          </p:cNvPr>
          <p:cNvGrpSpPr/>
          <p:nvPr/>
        </p:nvGrpSpPr>
        <p:grpSpPr>
          <a:xfrm>
            <a:off x="457200" y="3225784"/>
            <a:ext cx="617706" cy="21965"/>
            <a:chOff x="0" y="0"/>
            <a:chExt cx="823608" cy="29286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51C73D78-F082-E67C-B3E2-9B54CD892C68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290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spc="375" dirty="0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TRUE AGILITY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9"/>
            <a:chOff x="0" y="0"/>
            <a:chExt cx="20681594" cy="11347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3"/>
            </a:xfrm>
            <a:custGeom>
              <a:avLst/>
              <a:gdLst/>
              <a:ahLst/>
              <a:cxnLst/>
              <a:rect l="l" t="t" r="r" b="b"/>
              <a:pathLst>
                <a:path w="20681598" h="1134743">
                  <a:moveTo>
                    <a:pt x="0" y="0"/>
                  </a:moveTo>
                  <a:lnTo>
                    <a:pt x="20681598" y="0"/>
                  </a:lnTo>
                  <a:lnTo>
                    <a:pt x="2068159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0" b="-3051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3"/>
                </a:lnSpc>
              </a:pPr>
              <a:r>
                <a:rPr lang="en-US" sz="3903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On-demand </a:t>
              </a:r>
              <a:r>
                <a:rPr lang="en-US" sz="3903" b="1" dirty="0">
                  <a:solidFill>
                    <a:srgbClr val="FFF2C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Fusion / Hackathon OSINT Fusion App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17002" y="466706"/>
            <a:ext cx="1329867" cy="1386402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dirty="0">
                  <a:solidFill>
                    <a:srgbClr val="9BA4BE"/>
                  </a:solidFill>
                  <a:latin typeface="Inter"/>
                  <a:ea typeface="Inter"/>
                  <a:cs typeface="Inter"/>
                  <a:sym typeface="Inter"/>
                </a:rPr>
                <a:t>If data prep can be accelerated and abstracted mission needs can be supported at the moment of need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773431"/>
            <a:ext cx="18301840" cy="343167"/>
            <a:chOff x="0" y="0"/>
            <a:chExt cx="24402453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51"/>
                </a:lnSpc>
              </a:pPr>
              <a:r>
                <a:rPr lang="en-US" sz="1125" spc="450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35065" y="9773431"/>
            <a:ext cx="823608" cy="343167"/>
            <a:chOff x="0" y="0"/>
            <a:chExt cx="1098144" cy="4575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8138" cy="457557"/>
            </a:xfrm>
            <a:custGeom>
              <a:avLst/>
              <a:gdLst/>
              <a:ahLst/>
              <a:cxnLst/>
              <a:rect l="l" t="t" r="r" b="b"/>
              <a:pathLst>
                <a:path w="1098138" h="457557">
                  <a:moveTo>
                    <a:pt x="0" y="0"/>
                  </a:moveTo>
                  <a:lnTo>
                    <a:pt x="1098138" y="0"/>
                  </a:lnTo>
                  <a:lnTo>
                    <a:pt x="109813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r="-34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098144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351"/>
                </a:lnSpc>
              </a:pPr>
              <a:r>
                <a:rPr lang="en-US" sz="1125">
                  <a:solidFill>
                    <a:srgbClr val="8590B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17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" y="3229899"/>
            <a:ext cx="6245657" cy="13726"/>
            <a:chOff x="0" y="0"/>
            <a:chExt cx="8327542" cy="183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225784"/>
            <a:ext cx="617706" cy="21965"/>
            <a:chOff x="0" y="0"/>
            <a:chExt cx="823608" cy="292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3349323"/>
            <a:ext cx="617706" cy="411804"/>
            <a:chOff x="0" y="0"/>
            <a:chExt cx="823608" cy="54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082" y="5798496"/>
            <a:ext cx="5586774" cy="411804"/>
            <a:chOff x="0" y="0"/>
            <a:chExt cx="7449033" cy="5490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449035" cy="549069"/>
            </a:xfrm>
            <a:custGeom>
              <a:avLst/>
              <a:gdLst/>
              <a:ahLst/>
              <a:cxnLst/>
              <a:rect l="l" t="t" r="r" b="b"/>
              <a:pathLst>
                <a:path w="7449035" h="549069">
                  <a:moveTo>
                    <a:pt x="0" y="0"/>
                  </a:moveTo>
                  <a:lnTo>
                    <a:pt x="7449035" y="0"/>
                  </a:lnTo>
                  <a:lnTo>
                    <a:pt x="744903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346" b="-2143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7449033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Belvedere provides agentic acceleration of discovery through dissemination of fused data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4326103"/>
            <a:ext cx="6245657" cy="13726"/>
            <a:chOff x="0" y="0"/>
            <a:chExt cx="8327542" cy="1830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7200" y="4321988"/>
            <a:ext cx="617706" cy="21965"/>
            <a:chOff x="0" y="0"/>
            <a:chExt cx="823608" cy="2928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4445527"/>
            <a:ext cx="617706" cy="411804"/>
            <a:chOff x="0" y="0"/>
            <a:chExt cx="823608" cy="5490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16082" y="4576067"/>
            <a:ext cx="5586774" cy="411804"/>
            <a:chOff x="0" y="0"/>
            <a:chExt cx="7449033" cy="5490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449035" cy="549069"/>
            </a:xfrm>
            <a:custGeom>
              <a:avLst/>
              <a:gdLst/>
              <a:ahLst/>
              <a:cxnLst/>
              <a:rect l="l" t="t" r="r" b="b"/>
              <a:pathLst>
                <a:path w="7449035" h="549069">
                  <a:moveTo>
                    <a:pt x="0" y="0"/>
                  </a:moveTo>
                  <a:lnTo>
                    <a:pt x="7449035" y="0"/>
                  </a:lnTo>
                  <a:lnTo>
                    <a:pt x="744903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346" b="-2143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7449033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OSINT-Fusion app manages tasking agentic on-demand data cube creation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7200" y="5533711"/>
            <a:ext cx="6245657" cy="13726"/>
            <a:chOff x="0" y="0"/>
            <a:chExt cx="8327542" cy="1830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529596"/>
            <a:ext cx="617706" cy="21965"/>
            <a:chOff x="0" y="0"/>
            <a:chExt cx="823608" cy="2928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7200" y="5653135"/>
            <a:ext cx="617706" cy="411804"/>
            <a:chOff x="0" y="0"/>
            <a:chExt cx="823608" cy="54907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CF582B4C-5C8B-359B-82FE-FC8DF91807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531" r="20312"/>
          <a:stretch>
            <a:fillRect/>
          </a:stretch>
        </p:blipFill>
        <p:spPr>
          <a:xfrm>
            <a:off x="7000609" y="2464493"/>
            <a:ext cx="10129509" cy="6380275"/>
          </a:xfrm>
          <a:prstGeom prst="rect">
            <a:avLst/>
          </a:prstGeom>
        </p:spPr>
      </p:pic>
      <p:sp>
        <p:nvSpPr>
          <p:cNvPr id="66" name="TextBox 41">
            <a:extLst>
              <a:ext uri="{FF2B5EF4-FFF2-40B4-BE49-F238E27FC236}">
                <a16:creationId xmlns:a16="http://schemas.microsoft.com/office/drawing/2014/main" id="{DFD7C471-5F6A-8D3F-E187-52F67BE19609}"/>
              </a:ext>
            </a:extLst>
          </p:cNvPr>
          <p:cNvSpPr txBox="1"/>
          <p:nvPr/>
        </p:nvSpPr>
        <p:spPr>
          <a:xfrm>
            <a:off x="1074896" y="3357198"/>
            <a:ext cx="5586774" cy="4189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341"/>
              </a:lnSpc>
            </a:pPr>
            <a:r>
              <a:rPr lang="en-US" sz="1951" b="1" dirty="0">
                <a:solidFill>
                  <a:srgbClr val="F0F1F4"/>
                </a:solidFill>
                <a:latin typeface="Inter Bold"/>
                <a:ea typeface="Inter Bold"/>
                <a:cs typeface="Inter Bold"/>
                <a:sym typeface="Inter Bold"/>
              </a:rPr>
              <a:t>Mission situation surfaces new questions</a:t>
            </a:r>
          </a:p>
        </p:txBody>
      </p:sp>
      <p:grpSp>
        <p:nvGrpSpPr>
          <p:cNvPr id="67" name="Group 28">
            <a:extLst>
              <a:ext uri="{FF2B5EF4-FFF2-40B4-BE49-F238E27FC236}">
                <a16:creationId xmlns:a16="http://schemas.microsoft.com/office/drawing/2014/main" id="{045BA981-567D-6B37-1EFD-F3EE4DCE3C00}"/>
              </a:ext>
            </a:extLst>
          </p:cNvPr>
          <p:cNvGrpSpPr/>
          <p:nvPr/>
        </p:nvGrpSpPr>
        <p:grpSpPr>
          <a:xfrm>
            <a:off x="1116082" y="6993600"/>
            <a:ext cx="5586774" cy="411804"/>
            <a:chOff x="0" y="0"/>
            <a:chExt cx="7449033" cy="549072"/>
          </a:xfrm>
        </p:grpSpPr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9D34FBB8-98D4-5F2F-EC0E-A100335194C4}"/>
                </a:ext>
              </a:extLst>
            </p:cNvPr>
            <p:cNvSpPr/>
            <p:nvPr/>
          </p:nvSpPr>
          <p:spPr>
            <a:xfrm>
              <a:off x="0" y="0"/>
              <a:ext cx="7449035" cy="549069"/>
            </a:xfrm>
            <a:custGeom>
              <a:avLst/>
              <a:gdLst/>
              <a:ahLst/>
              <a:cxnLst/>
              <a:rect l="l" t="t" r="r" b="b"/>
              <a:pathLst>
                <a:path w="7449035" h="549069">
                  <a:moveTo>
                    <a:pt x="0" y="0"/>
                  </a:moveTo>
                  <a:lnTo>
                    <a:pt x="7449035" y="0"/>
                  </a:lnTo>
                  <a:lnTo>
                    <a:pt x="744903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346" b="-2143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30">
              <a:extLst>
                <a:ext uri="{FF2B5EF4-FFF2-40B4-BE49-F238E27FC236}">
                  <a16:creationId xmlns:a16="http://schemas.microsoft.com/office/drawing/2014/main" id="{00630C2F-1254-D74D-1338-F37D0EED2F1A}"/>
                </a:ext>
              </a:extLst>
            </p:cNvPr>
            <p:cNvSpPr txBox="1"/>
            <p:nvPr/>
          </p:nvSpPr>
          <p:spPr>
            <a:xfrm>
              <a:off x="0" y="-9525"/>
              <a:ext cx="7449033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OSINT-Fusion app help connect fused data to appropriate analytical tools</a:t>
              </a:r>
            </a:p>
          </p:txBody>
        </p:sp>
      </p:grpSp>
      <p:grpSp>
        <p:nvGrpSpPr>
          <p:cNvPr id="70" name="Group 43">
            <a:extLst>
              <a:ext uri="{FF2B5EF4-FFF2-40B4-BE49-F238E27FC236}">
                <a16:creationId xmlns:a16="http://schemas.microsoft.com/office/drawing/2014/main" id="{8D63FDF9-96E6-9328-80DB-18544CB10CA0}"/>
              </a:ext>
            </a:extLst>
          </p:cNvPr>
          <p:cNvGrpSpPr/>
          <p:nvPr/>
        </p:nvGrpSpPr>
        <p:grpSpPr>
          <a:xfrm>
            <a:off x="457200" y="6728815"/>
            <a:ext cx="6245657" cy="13726"/>
            <a:chOff x="0" y="0"/>
            <a:chExt cx="8327542" cy="18301"/>
          </a:xfrm>
        </p:grpSpPr>
        <p:sp>
          <p:nvSpPr>
            <p:cNvPr id="71" name="Freeform 44">
              <a:extLst>
                <a:ext uri="{FF2B5EF4-FFF2-40B4-BE49-F238E27FC236}">
                  <a16:creationId xmlns:a16="http://schemas.microsoft.com/office/drawing/2014/main" id="{4F16A3AE-290C-9F23-30A8-64937D2EB38F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45">
            <a:extLst>
              <a:ext uri="{FF2B5EF4-FFF2-40B4-BE49-F238E27FC236}">
                <a16:creationId xmlns:a16="http://schemas.microsoft.com/office/drawing/2014/main" id="{470660A1-AECD-5D36-CA72-6E6309801A75}"/>
              </a:ext>
            </a:extLst>
          </p:cNvPr>
          <p:cNvGrpSpPr/>
          <p:nvPr/>
        </p:nvGrpSpPr>
        <p:grpSpPr>
          <a:xfrm>
            <a:off x="457200" y="6724700"/>
            <a:ext cx="617706" cy="21965"/>
            <a:chOff x="0" y="0"/>
            <a:chExt cx="823608" cy="29286"/>
          </a:xfrm>
        </p:grpSpPr>
        <p:sp>
          <p:nvSpPr>
            <p:cNvPr id="73" name="Freeform 46">
              <a:extLst>
                <a:ext uri="{FF2B5EF4-FFF2-40B4-BE49-F238E27FC236}">
                  <a16:creationId xmlns:a16="http://schemas.microsoft.com/office/drawing/2014/main" id="{1E8AF606-C281-1315-FFE7-5AECB3EBD528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47">
            <a:extLst>
              <a:ext uri="{FF2B5EF4-FFF2-40B4-BE49-F238E27FC236}">
                <a16:creationId xmlns:a16="http://schemas.microsoft.com/office/drawing/2014/main" id="{7C0CA433-32BB-4167-E4AB-C3526A6B86D0}"/>
              </a:ext>
            </a:extLst>
          </p:cNvPr>
          <p:cNvGrpSpPr/>
          <p:nvPr/>
        </p:nvGrpSpPr>
        <p:grpSpPr>
          <a:xfrm>
            <a:off x="457200" y="6848239"/>
            <a:ext cx="617706" cy="411804"/>
            <a:chOff x="0" y="0"/>
            <a:chExt cx="823608" cy="549072"/>
          </a:xfrm>
        </p:grpSpPr>
        <p:sp>
          <p:nvSpPr>
            <p:cNvPr id="75" name="Freeform 48">
              <a:extLst>
                <a:ext uri="{FF2B5EF4-FFF2-40B4-BE49-F238E27FC236}">
                  <a16:creationId xmlns:a16="http://schemas.microsoft.com/office/drawing/2014/main" id="{8BD8E490-709B-D085-4861-AAA0C4972463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49">
              <a:extLst>
                <a:ext uri="{FF2B5EF4-FFF2-40B4-BE49-F238E27FC236}">
                  <a16:creationId xmlns:a16="http://schemas.microsoft.com/office/drawing/2014/main" id="{02AD9EEE-2C0D-0CD7-243A-42F4642DCDBB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dirty="0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04</a:t>
              </a:r>
            </a:p>
          </p:txBody>
        </p:sp>
      </p:grpSp>
      <p:grpSp>
        <p:nvGrpSpPr>
          <p:cNvPr id="77" name="Group 28">
            <a:extLst>
              <a:ext uri="{FF2B5EF4-FFF2-40B4-BE49-F238E27FC236}">
                <a16:creationId xmlns:a16="http://schemas.microsoft.com/office/drawing/2014/main" id="{8442431A-2703-B599-6C98-5B687D2DE9A2}"/>
              </a:ext>
            </a:extLst>
          </p:cNvPr>
          <p:cNvGrpSpPr/>
          <p:nvPr/>
        </p:nvGrpSpPr>
        <p:grpSpPr>
          <a:xfrm>
            <a:off x="1148739" y="8380683"/>
            <a:ext cx="5586774" cy="411804"/>
            <a:chOff x="0" y="0"/>
            <a:chExt cx="7449033" cy="549072"/>
          </a:xfrm>
        </p:grpSpPr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8AA52B66-E16D-A99E-D213-772CA2C8D2E0}"/>
                </a:ext>
              </a:extLst>
            </p:cNvPr>
            <p:cNvSpPr/>
            <p:nvPr/>
          </p:nvSpPr>
          <p:spPr>
            <a:xfrm>
              <a:off x="0" y="0"/>
              <a:ext cx="7449035" cy="549069"/>
            </a:xfrm>
            <a:custGeom>
              <a:avLst/>
              <a:gdLst/>
              <a:ahLst/>
              <a:cxnLst/>
              <a:rect l="l" t="t" r="r" b="b"/>
              <a:pathLst>
                <a:path w="7449035" h="549069">
                  <a:moveTo>
                    <a:pt x="0" y="0"/>
                  </a:moveTo>
                  <a:lnTo>
                    <a:pt x="7449035" y="0"/>
                  </a:lnTo>
                  <a:lnTo>
                    <a:pt x="744903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346" b="-2143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30">
              <a:extLst>
                <a:ext uri="{FF2B5EF4-FFF2-40B4-BE49-F238E27FC236}">
                  <a16:creationId xmlns:a16="http://schemas.microsoft.com/office/drawing/2014/main" id="{4942490C-F9C4-D8DE-EF61-D151F26D5797}"/>
                </a:ext>
              </a:extLst>
            </p:cNvPr>
            <p:cNvSpPr txBox="1"/>
            <p:nvPr/>
          </p:nvSpPr>
          <p:spPr>
            <a:xfrm>
              <a:off x="0" y="-9525"/>
              <a:ext cx="7449033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Analysis answers questions or leads to new questions that iterate through the cycle</a:t>
              </a:r>
            </a:p>
          </p:txBody>
        </p:sp>
      </p:grpSp>
      <p:grpSp>
        <p:nvGrpSpPr>
          <p:cNvPr id="80" name="Group 43">
            <a:extLst>
              <a:ext uri="{FF2B5EF4-FFF2-40B4-BE49-F238E27FC236}">
                <a16:creationId xmlns:a16="http://schemas.microsoft.com/office/drawing/2014/main" id="{743A0754-0423-E289-581B-2058921205CB}"/>
              </a:ext>
            </a:extLst>
          </p:cNvPr>
          <p:cNvGrpSpPr/>
          <p:nvPr/>
        </p:nvGrpSpPr>
        <p:grpSpPr>
          <a:xfrm>
            <a:off x="489857" y="8115898"/>
            <a:ext cx="6245657" cy="13726"/>
            <a:chOff x="0" y="0"/>
            <a:chExt cx="8327542" cy="18301"/>
          </a:xfrm>
        </p:grpSpPr>
        <p:sp>
          <p:nvSpPr>
            <p:cNvPr id="81" name="Freeform 44">
              <a:extLst>
                <a:ext uri="{FF2B5EF4-FFF2-40B4-BE49-F238E27FC236}">
                  <a16:creationId xmlns:a16="http://schemas.microsoft.com/office/drawing/2014/main" id="{F1D6756C-88BD-E4CC-7BA8-E4D6D6938176}"/>
                </a:ext>
              </a:extLst>
            </p:cNvPr>
            <p:cNvSpPr/>
            <p:nvPr/>
          </p:nvSpPr>
          <p:spPr>
            <a:xfrm>
              <a:off x="0" y="0"/>
              <a:ext cx="8327517" cy="18288"/>
            </a:xfrm>
            <a:custGeom>
              <a:avLst/>
              <a:gdLst/>
              <a:ahLst/>
              <a:cxnLst/>
              <a:rect l="l" t="t" r="r" b="b"/>
              <a:pathLst>
                <a:path w="8327517" h="18288">
                  <a:moveTo>
                    <a:pt x="0" y="0"/>
                  </a:moveTo>
                  <a:lnTo>
                    <a:pt x="8327517" y="0"/>
                  </a:lnTo>
                  <a:lnTo>
                    <a:pt x="832751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" name="Group 45">
            <a:extLst>
              <a:ext uri="{FF2B5EF4-FFF2-40B4-BE49-F238E27FC236}">
                <a16:creationId xmlns:a16="http://schemas.microsoft.com/office/drawing/2014/main" id="{59F0D413-C5FE-7D89-DBD5-3D57AA3153CB}"/>
              </a:ext>
            </a:extLst>
          </p:cNvPr>
          <p:cNvGrpSpPr/>
          <p:nvPr/>
        </p:nvGrpSpPr>
        <p:grpSpPr>
          <a:xfrm>
            <a:off x="489857" y="8111783"/>
            <a:ext cx="617706" cy="21965"/>
            <a:chOff x="0" y="0"/>
            <a:chExt cx="823608" cy="29286"/>
          </a:xfrm>
        </p:grpSpPr>
        <p:sp>
          <p:nvSpPr>
            <p:cNvPr id="83" name="Freeform 46">
              <a:extLst>
                <a:ext uri="{FF2B5EF4-FFF2-40B4-BE49-F238E27FC236}">
                  <a16:creationId xmlns:a16="http://schemas.microsoft.com/office/drawing/2014/main" id="{C4AD4EC6-7664-D9DB-B5CA-F890BADF281C}"/>
                </a:ext>
              </a:extLst>
            </p:cNvPr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47">
            <a:extLst>
              <a:ext uri="{FF2B5EF4-FFF2-40B4-BE49-F238E27FC236}">
                <a16:creationId xmlns:a16="http://schemas.microsoft.com/office/drawing/2014/main" id="{60CF0B97-F77A-5735-5E31-F94A28F260FF}"/>
              </a:ext>
            </a:extLst>
          </p:cNvPr>
          <p:cNvGrpSpPr/>
          <p:nvPr/>
        </p:nvGrpSpPr>
        <p:grpSpPr>
          <a:xfrm>
            <a:off x="489857" y="8235322"/>
            <a:ext cx="617706" cy="411804"/>
            <a:chOff x="0" y="0"/>
            <a:chExt cx="823608" cy="549072"/>
          </a:xfrm>
        </p:grpSpPr>
        <p:sp>
          <p:nvSpPr>
            <p:cNvPr id="85" name="Freeform 48">
              <a:extLst>
                <a:ext uri="{FF2B5EF4-FFF2-40B4-BE49-F238E27FC236}">
                  <a16:creationId xmlns:a16="http://schemas.microsoft.com/office/drawing/2014/main" id="{95241BF0-2DAA-9C89-A1AE-ACB263590B88}"/>
                </a:ext>
              </a:extLst>
            </p:cNvPr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49">
              <a:extLst>
                <a:ext uri="{FF2B5EF4-FFF2-40B4-BE49-F238E27FC236}">
                  <a16:creationId xmlns:a16="http://schemas.microsoft.com/office/drawing/2014/main" id="{A87379DE-7880-2A67-1E92-351E75B8F840}"/>
                </a:ext>
              </a:extLst>
            </p:cNvPr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dirty="0">
                  <a:solidFill>
                    <a:srgbClr val="FFF2C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05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6E53555-AF3C-8C41-E713-44575229C4F3}"/>
              </a:ext>
            </a:extLst>
          </p:cNvPr>
          <p:cNvGrpSpPr/>
          <p:nvPr/>
        </p:nvGrpSpPr>
        <p:grpSpPr>
          <a:xfrm>
            <a:off x="6858000" y="2873985"/>
            <a:ext cx="9452334" cy="4720088"/>
            <a:chOff x="6858000" y="2873985"/>
            <a:chExt cx="9452334" cy="4720088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CA62C68-956C-6ED7-2201-8B8D15693A9F}"/>
                </a:ext>
              </a:extLst>
            </p:cNvPr>
            <p:cNvGrpSpPr/>
            <p:nvPr/>
          </p:nvGrpSpPr>
          <p:grpSpPr>
            <a:xfrm>
              <a:off x="6996629" y="3097961"/>
              <a:ext cx="9313705" cy="4496112"/>
              <a:chOff x="6996629" y="3097961"/>
              <a:chExt cx="9313705" cy="4496112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871351CE-CD9B-3E60-F092-B569217B8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>
                            <a14:foregroundMark x1="45215" y1="17531" x2="45215" y2="17531"/>
                            <a14:foregroundMark x1="48828" y1="13775" x2="48828" y2="13775"/>
                            <a14:foregroundMark x1="41602" y1="18247" x2="41602" y2="18247"/>
                            <a14:foregroundMark x1="42383" y1="16995" x2="42383" y2="16995"/>
                            <a14:foregroundMark x1="40332" y1="18426" x2="40332" y2="18426"/>
                            <a14:foregroundMark x1="39160" y1="19320" x2="39160" y2="19320"/>
                            <a14:foregroundMark x1="38672" y1="56530" x2="38672" y2="56530"/>
                            <a14:foregroundMark x1="39648" y1="59392" x2="39648" y2="59392"/>
                            <a14:foregroundMark x1="37402" y1="52952" x2="37402" y2="52952"/>
                            <a14:foregroundMark x1="62695" y1="51699" x2="62695" y2="51699"/>
                            <a14:foregroundMark x1="62988" y1="49195" x2="62988" y2="49195"/>
                            <a14:foregroundMark x1="63672" y1="47406" x2="63672" y2="47406"/>
                            <a14:foregroundMark x1="62305" y1="52952" x2="62305" y2="52952"/>
                            <a14:foregroundMark x1="53320" y1="14132" x2="53320" y2="14132"/>
                            <a14:foregroundMark x1="54395" y1="15385" x2="54395" y2="15385"/>
                            <a14:foregroundMark x1="51660" y1="13238" x2="51660" y2="13238"/>
                            <a14:foregroundMark x1="52148" y1="13596" x2="52148" y2="13596"/>
                            <a14:foregroundMark x1="50781" y1="11986" x2="50781" y2="11986"/>
                            <a14:foregroundMark x1="37988" y1="54919" x2="37988" y2="54919"/>
                          </a14:backgroundRemoval>
                        </a14:imgEffect>
                      </a14:imgLayer>
                    </a14:imgProps>
                  </a:ext>
                </a:extLst>
              </a:blip>
              <a:srcRect l="32071" t="7488" r="32324" b="22985"/>
              <a:stretch>
                <a:fillRect/>
              </a:stretch>
            </p:blipFill>
            <p:spPr>
              <a:xfrm>
                <a:off x="11430000" y="4784712"/>
                <a:ext cx="1694795" cy="1806588"/>
              </a:xfrm>
              <a:prstGeom prst="rect">
                <a:avLst/>
              </a:prstGeom>
            </p:spPr>
          </p:pic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36D33D83-4AD6-6B56-9E46-C2A3CD0BA5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25737" t="77251" r="25956" b="12424"/>
              <a:stretch>
                <a:fillRect/>
              </a:stretch>
            </p:blipFill>
            <p:spPr>
              <a:xfrm>
                <a:off x="10788416" y="6115715"/>
                <a:ext cx="2747524" cy="320590"/>
              </a:xfrm>
              <a:prstGeom prst="rect">
                <a:avLst/>
              </a:prstGeom>
            </p:spPr>
          </p:pic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755502C1-AA86-774C-9AD2-D4F9B4B9962F}"/>
                  </a:ext>
                </a:extLst>
              </p:cNvPr>
              <p:cNvCxnSpPr>
                <a:cxnSpLocks/>
                <a:stCxn id="90" idx="3"/>
              </p:cNvCxnSpPr>
              <p:nvPr/>
            </p:nvCxnSpPr>
            <p:spPr>
              <a:xfrm flipV="1">
                <a:off x="13124795" y="3164911"/>
                <a:ext cx="1886605" cy="2523095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D79BE304-C6D6-1ABC-51B8-BE471F23EE1B}"/>
                  </a:ext>
                </a:extLst>
              </p:cNvPr>
              <p:cNvCxnSpPr>
                <a:cxnSpLocks/>
                <a:endCxn id="90" idx="1"/>
              </p:cNvCxnSpPr>
              <p:nvPr/>
            </p:nvCxnSpPr>
            <p:spPr>
              <a:xfrm>
                <a:off x="6996629" y="5551599"/>
                <a:ext cx="4433371" cy="136407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00" name="Arc 99">
                <a:extLst>
                  <a:ext uri="{FF2B5EF4-FFF2-40B4-BE49-F238E27FC236}">
                    <a16:creationId xmlns:a16="http://schemas.microsoft.com/office/drawing/2014/main" id="{F2EE05F3-5907-89B7-7489-C1313CE1792E}"/>
                  </a:ext>
                </a:extLst>
              </p:cNvPr>
              <p:cNvSpPr/>
              <p:nvPr/>
            </p:nvSpPr>
            <p:spPr>
              <a:xfrm rot="15577820">
                <a:off x="5604640" y="5086836"/>
                <a:ext cx="3945095" cy="1069380"/>
              </a:xfrm>
              <a:prstGeom prst="arc">
                <a:avLst>
                  <a:gd name="adj1" fmla="val 14006606"/>
                  <a:gd name="adj2" fmla="val 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Arc 102">
                <a:extLst>
                  <a:ext uri="{FF2B5EF4-FFF2-40B4-BE49-F238E27FC236}">
                    <a16:creationId xmlns:a16="http://schemas.microsoft.com/office/drawing/2014/main" id="{7717928C-97D4-87EA-A171-1642F329BFC8}"/>
                  </a:ext>
                </a:extLst>
              </p:cNvPr>
              <p:cNvSpPr/>
              <p:nvPr/>
            </p:nvSpPr>
            <p:spPr>
              <a:xfrm rot="16510689">
                <a:off x="14103095" y="2132856"/>
                <a:ext cx="1242133" cy="3172344"/>
              </a:xfrm>
              <a:prstGeom prst="arc">
                <a:avLst>
                  <a:gd name="adj1" fmla="val 17471927"/>
                  <a:gd name="adj2" fmla="val 482238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13" name="Picture 112" descr="File:QGIS logo, 2017.svg - Wikimedia Commons">
              <a:extLst>
                <a:ext uri="{FF2B5EF4-FFF2-40B4-BE49-F238E27FC236}">
                  <a16:creationId xmlns:a16="http://schemas.microsoft.com/office/drawing/2014/main" id="{BECA80D1-F7A8-42F5-5CAB-F262CBAC0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35633" y="3553970"/>
              <a:ext cx="1174967" cy="351266"/>
            </a:xfrm>
            <a:prstGeom prst="rect">
              <a:avLst/>
            </a:prstGeom>
          </p:spPr>
        </p:pic>
        <p:pic>
          <p:nvPicPr>
            <p:cNvPr id="114" name="Picture 113" descr="The Team Awareness Kit: A Game-Changer For Public Safety - American Cop">
              <a:extLst>
                <a:ext uri="{FF2B5EF4-FFF2-40B4-BE49-F238E27FC236}">
                  <a16:creationId xmlns:a16="http://schemas.microsoft.com/office/drawing/2014/main" id="{423071D4-3554-A2ED-4634-B2E895033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712162" y="2873985"/>
              <a:ext cx="894208" cy="922823"/>
            </a:xfrm>
            <a:prstGeom prst="rect">
              <a:avLst/>
            </a:prstGeom>
          </p:spPr>
        </p:pic>
        <p:pic>
          <p:nvPicPr>
            <p:cNvPr id="116" name="Picture 115" descr="Tableau - Insight Platforms">
              <a:extLst>
                <a:ext uri="{FF2B5EF4-FFF2-40B4-BE49-F238E27FC236}">
                  <a16:creationId xmlns:a16="http://schemas.microsoft.com/office/drawing/2014/main" id="{829F28FE-B40C-15F7-9BB1-C034B1F93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36947" r="3955" b="37771"/>
            <a:stretch>
              <a:fillRect/>
            </a:stretch>
          </p:blipFill>
          <p:spPr>
            <a:xfrm>
              <a:off x="6858000" y="2920948"/>
              <a:ext cx="1785321" cy="469952"/>
            </a:xfrm>
            <a:prstGeom prst="roundRect">
              <a:avLst/>
            </a:prstGeom>
          </p:spPr>
        </p:pic>
      </p:grpSp>
      <p:sp>
        <p:nvSpPr>
          <p:cNvPr id="42" name="Arrow: Circular 41">
            <a:extLst>
              <a:ext uri="{FF2B5EF4-FFF2-40B4-BE49-F238E27FC236}">
                <a16:creationId xmlns:a16="http://schemas.microsoft.com/office/drawing/2014/main" id="{C8103F97-85EA-477B-786D-C37BB71B1240}"/>
              </a:ext>
            </a:extLst>
          </p:cNvPr>
          <p:cNvSpPr/>
          <p:nvPr/>
        </p:nvSpPr>
        <p:spPr>
          <a:xfrm>
            <a:off x="6761430" y="2781300"/>
            <a:ext cx="11145570" cy="6691208"/>
          </a:xfrm>
          <a:prstGeom prst="circularArrow">
            <a:avLst>
              <a:gd name="adj1" fmla="val 7953"/>
              <a:gd name="adj2" fmla="val 380380"/>
              <a:gd name="adj3" fmla="val 10630513"/>
              <a:gd name="adj4" fmla="val 19835922"/>
              <a:gd name="adj5" fmla="val 824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9198FDE-F198-F288-7162-21906ACC10AE}"/>
              </a:ext>
            </a:extLst>
          </p:cNvPr>
          <p:cNvGrpSpPr/>
          <p:nvPr/>
        </p:nvGrpSpPr>
        <p:grpSpPr>
          <a:xfrm>
            <a:off x="10865908" y="8150805"/>
            <a:ext cx="3962678" cy="1386402"/>
            <a:chOff x="10915801" y="8730197"/>
            <a:chExt cx="3962678" cy="138640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3641661-3DAC-65D7-6296-91A1BFDC5DC6}"/>
                </a:ext>
              </a:extLst>
            </p:cNvPr>
            <p:cNvSpPr txBox="1"/>
            <p:nvPr/>
          </p:nvSpPr>
          <p:spPr>
            <a:xfrm>
              <a:off x="10915801" y="9338062"/>
              <a:ext cx="2800199" cy="6822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2341"/>
                </a:lnSpc>
              </a:pPr>
              <a:r>
                <a:rPr lang="en-US" sz="1951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Agentic Acceleration: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 dirty="0">
                  <a:solidFill>
                    <a:srgbClr val="F0F1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Belvedere</a:t>
              </a:r>
            </a:p>
          </p:txBody>
        </p:sp>
        <p:grpSp>
          <p:nvGrpSpPr>
            <p:cNvPr id="87" name="Group 8">
              <a:extLst>
                <a:ext uri="{FF2B5EF4-FFF2-40B4-BE49-F238E27FC236}">
                  <a16:creationId xmlns:a16="http://schemas.microsoft.com/office/drawing/2014/main" id="{6C92CD17-4F24-8DCD-AFAE-6DF6888E0B25}"/>
                </a:ext>
              </a:extLst>
            </p:cNvPr>
            <p:cNvGrpSpPr/>
            <p:nvPr/>
          </p:nvGrpSpPr>
          <p:grpSpPr>
            <a:xfrm>
              <a:off x="13548612" y="8730197"/>
              <a:ext cx="1329867" cy="1386402"/>
              <a:chOff x="0" y="0"/>
              <a:chExt cx="1053363" cy="1098144"/>
            </a:xfrm>
          </p:grpSpPr>
          <p:sp>
            <p:nvSpPr>
              <p:cNvPr id="88" name="Freeform 9" descr="/Users/hstrauss/Documents/GitHub/belvedere-pm/output/deck-rebuild/belv_mark.png">
                <a:extLst>
                  <a:ext uri="{FF2B5EF4-FFF2-40B4-BE49-F238E27FC236}">
                    <a16:creationId xmlns:a16="http://schemas.microsoft.com/office/drawing/2014/main" id="{99E6F727-8054-9877-AF64-C6A1891D22BE}"/>
                  </a:ext>
                </a:extLst>
              </p:cNvPr>
              <p:cNvSpPr/>
              <p:nvPr/>
            </p:nvSpPr>
            <p:spPr>
              <a:xfrm>
                <a:off x="0" y="0"/>
                <a:ext cx="1053338" cy="1098169"/>
              </a:xfrm>
              <a:custGeom>
                <a:avLst/>
                <a:gdLst/>
                <a:ahLst/>
                <a:cxnLst/>
                <a:rect l="l" t="t" r="r" b="b"/>
                <a:pathLst>
                  <a:path w="1053338" h="1098169">
                    <a:moveTo>
                      <a:pt x="0" y="0"/>
                    </a:moveTo>
                    <a:lnTo>
                      <a:pt x="1053338" y="0"/>
                    </a:lnTo>
                    <a:lnTo>
                      <a:pt x="1053338" y="1098169"/>
                    </a:lnTo>
                    <a:lnTo>
                      <a:pt x="0" y="109816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r="-2" b="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9EFE6-DE89-FDB6-65BB-878E92FE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574FC142-51F0-EAA4-C7B4-17D6E210B384}"/>
              </a:ext>
            </a:extLst>
          </p:cNvPr>
          <p:cNvGrpSpPr/>
          <p:nvPr/>
        </p:nvGrpSpPr>
        <p:grpSpPr>
          <a:xfrm>
            <a:off x="16169985" y="466706"/>
            <a:ext cx="1376884" cy="1435418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>
              <a:extLst>
                <a:ext uri="{FF2B5EF4-FFF2-40B4-BE49-F238E27FC236}">
                  <a16:creationId xmlns:a16="http://schemas.microsoft.com/office/drawing/2014/main" id="{35D41E4D-10A3-CC0A-A8A7-8E0B496E580C}"/>
                </a:ext>
              </a:extLst>
            </p:cNvPr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893AC0C-4798-4193-8958-85358CB8D092}"/>
              </a:ext>
            </a:extLst>
          </p:cNvPr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A92E97C-ADEC-4951-EF4B-47D69F604677}"/>
                </a:ext>
              </a:extLst>
            </p:cNvPr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CE722F2-4BF8-1BC7-D619-EA3FEC75E58E}"/>
              </a:ext>
            </a:extLst>
          </p:cNvPr>
          <p:cNvGrpSpPr/>
          <p:nvPr/>
        </p:nvGrpSpPr>
        <p:grpSpPr>
          <a:xfrm>
            <a:off x="0" y="9773431"/>
            <a:ext cx="16214671" cy="343168"/>
            <a:chOff x="0" y="0"/>
            <a:chExt cx="21619562" cy="457557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771217D-8699-63BA-8CAE-14ED4643DD85}"/>
                </a:ext>
              </a:extLst>
            </p:cNvPr>
            <p:cNvSpPr/>
            <p:nvPr/>
          </p:nvSpPr>
          <p:spPr>
            <a:xfrm>
              <a:off x="0" y="0"/>
              <a:ext cx="21619563" cy="457559"/>
            </a:xfrm>
            <a:custGeom>
              <a:avLst/>
              <a:gdLst/>
              <a:ahLst/>
              <a:cxnLst/>
              <a:rect l="l" t="t" r="r" b="b"/>
              <a:pathLst>
                <a:path w="21619563" h="457559">
                  <a:moveTo>
                    <a:pt x="0" y="0"/>
                  </a:moveTo>
                  <a:lnTo>
                    <a:pt x="21619563" y="0"/>
                  </a:lnTo>
                  <a:lnTo>
                    <a:pt x="21619563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9172" r="-12872" b="-98917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CC24E32-F378-A862-DD0E-B1DD2297DC12}"/>
                </a:ext>
              </a:extLst>
            </p:cNvPr>
            <p:cNvSpPr txBox="1"/>
            <p:nvPr/>
          </p:nvSpPr>
          <p:spPr>
            <a:xfrm>
              <a:off x="0" y="0"/>
              <a:ext cx="21619562" cy="457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3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1200" cap="none" spc="450" normalizeH="0" baseline="0" noProof="0">
                  <a:ln>
                    <a:noFill/>
                  </a:ln>
                  <a:solidFill>
                    <a:srgbClr val="8590B3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34" name="Group 2">
            <a:extLst>
              <a:ext uri="{FF2B5EF4-FFF2-40B4-BE49-F238E27FC236}">
                <a16:creationId xmlns:a16="http://schemas.microsoft.com/office/drawing/2014/main" id="{D2B1DAE7-387F-AF5E-872F-032ED91583C4}"/>
              </a:ext>
            </a:extLst>
          </p:cNvPr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44FAC1F8-0BE6-8980-A1F2-99D5F14A6342}"/>
                </a:ext>
              </a:extLst>
            </p:cNvPr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TextBox 4">
              <a:extLst>
                <a:ext uri="{FF2B5EF4-FFF2-40B4-BE49-F238E27FC236}">
                  <a16:creationId xmlns:a16="http://schemas.microsoft.com/office/drawing/2014/main" id="{5942A71E-E8DD-53A4-936C-4671538E5830}"/>
                </a:ext>
              </a:extLst>
            </p:cNvPr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HOW BELVEDERE WORKS</a:t>
              </a:r>
            </a:p>
          </p:txBody>
        </p:sp>
      </p:grpSp>
      <p:grpSp>
        <p:nvGrpSpPr>
          <p:cNvPr id="37" name="Group 5">
            <a:extLst>
              <a:ext uri="{FF2B5EF4-FFF2-40B4-BE49-F238E27FC236}">
                <a16:creationId xmlns:a16="http://schemas.microsoft.com/office/drawing/2014/main" id="{43DD4C3E-AE2D-3358-289B-3D330E879617}"/>
              </a:ext>
            </a:extLst>
          </p:cNvPr>
          <p:cNvGrpSpPr/>
          <p:nvPr/>
        </p:nvGrpSpPr>
        <p:grpSpPr>
          <a:xfrm>
            <a:off x="713794" y="796147"/>
            <a:ext cx="15511196" cy="851059"/>
            <a:chOff x="0" y="0"/>
            <a:chExt cx="20681594" cy="1134745"/>
          </a:xfrm>
        </p:grpSpPr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34BA6747-E2FC-003E-734C-F4EC88662E99}"/>
                </a:ext>
              </a:extLst>
            </p:cNvPr>
            <p:cNvSpPr/>
            <p:nvPr/>
          </p:nvSpPr>
          <p:spPr>
            <a:xfrm>
              <a:off x="0" y="0"/>
              <a:ext cx="20681598" cy="1134743"/>
            </a:xfrm>
            <a:custGeom>
              <a:avLst/>
              <a:gdLst/>
              <a:ahLst/>
              <a:cxnLst/>
              <a:rect l="l" t="t" r="r" b="b"/>
              <a:pathLst>
                <a:path w="20681598" h="1134743">
                  <a:moveTo>
                    <a:pt x="0" y="0"/>
                  </a:moveTo>
                  <a:lnTo>
                    <a:pt x="20681598" y="0"/>
                  </a:lnTo>
                  <a:lnTo>
                    <a:pt x="2068159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5130" b="-3051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7">
              <a:extLst>
                <a:ext uri="{FF2B5EF4-FFF2-40B4-BE49-F238E27FC236}">
                  <a16:creationId xmlns:a16="http://schemas.microsoft.com/office/drawing/2014/main" id="{B9F9BDA4-79C3-BF75-99C5-E928C47B198F}"/>
                </a:ext>
              </a:extLst>
            </p:cNvPr>
            <p:cNvSpPr txBox="1"/>
            <p:nvPr/>
          </p:nvSpPr>
          <p:spPr>
            <a:xfrm>
              <a:off x="0" y="0"/>
              <a:ext cx="20681594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The </a:t>
              </a: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Two Arms</a:t>
              </a: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 of Belvedere</a:t>
              </a:r>
            </a:p>
          </p:txBody>
        </p:sp>
      </p:grpSp>
      <p:grpSp>
        <p:nvGrpSpPr>
          <p:cNvPr id="40" name="Group 10">
            <a:extLst>
              <a:ext uri="{FF2B5EF4-FFF2-40B4-BE49-F238E27FC236}">
                <a16:creationId xmlns:a16="http://schemas.microsoft.com/office/drawing/2014/main" id="{715371D8-0332-0A7D-6604-33267CD33336}"/>
              </a:ext>
            </a:extLst>
          </p:cNvPr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4C693A-19A3-9BA9-8873-852315308852}"/>
                </a:ext>
              </a:extLst>
            </p:cNvPr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12">
              <a:extLst>
                <a:ext uri="{FF2B5EF4-FFF2-40B4-BE49-F238E27FC236}">
                  <a16:creationId xmlns:a16="http://schemas.microsoft.com/office/drawing/2014/main" id="{0E18076E-881F-D620-B654-77776377F9FA}"/>
                </a:ext>
              </a:extLst>
            </p:cNvPr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 dirty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One arm learns your data estate. The other puts what it learned to work.</a:t>
              </a:r>
            </a:p>
          </p:txBody>
        </p:sp>
      </p:grpSp>
      <p:grpSp>
        <p:nvGrpSpPr>
          <p:cNvPr id="43" name="Group 15">
            <a:extLst>
              <a:ext uri="{FF2B5EF4-FFF2-40B4-BE49-F238E27FC236}">
                <a16:creationId xmlns:a16="http://schemas.microsoft.com/office/drawing/2014/main" id="{72619536-E6AC-9B41-EAED-1BD8C7A49BF0}"/>
              </a:ext>
            </a:extLst>
          </p:cNvPr>
          <p:cNvGrpSpPr/>
          <p:nvPr/>
        </p:nvGrpSpPr>
        <p:grpSpPr>
          <a:xfrm>
            <a:off x="713794" y="2269646"/>
            <a:ext cx="16791910" cy="7267143"/>
            <a:chOff x="1490635" y="0"/>
            <a:chExt cx="19751860" cy="8548140"/>
          </a:xfrm>
        </p:grpSpPr>
        <p:sp>
          <p:nvSpPr>
            <p:cNvPr id="44" name="Freeform 16" descr="/Users/hstrauss/Documents/GitHub/belvedere-pm/output/board-marketing-deck/assets/arms.png">
              <a:extLst>
                <a:ext uri="{FF2B5EF4-FFF2-40B4-BE49-F238E27FC236}">
                  <a16:creationId xmlns:a16="http://schemas.microsoft.com/office/drawing/2014/main" id="{45DF236E-F8A9-3436-0231-A08B507F80A9}"/>
                </a:ext>
              </a:extLst>
            </p:cNvPr>
            <p:cNvSpPr/>
            <p:nvPr/>
          </p:nvSpPr>
          <p:spPr>
            <a:xfrm>
              <a:off x="1490635" y="0"/>
              <a:ext cx="19751860" cy="8548140"/>
            </a:xfrm>
            <a:custGeom>
              <a:avLst/>
              <a:gdLst/>
              <a:ahLst/>
              <a:cxnLst/>
              <a:rect l="l" t="t" r="r" b="b"/>
              <a:pathLst>
                <a:path w="22389212" h="8548140">
                  <a:moveTo>
                    <a:pt x="0" y="0"/>
                  </a:moveTo>
                  <a:lnTo>
                    <a:pt x="22389212" y="0"/>
                  </a:lnTo>
                  <a:lnTo>
                    <a:pt x="22389212" y="8548140"/>
                  </a:lnTo>
                  <a:lnTo>
                    <a:pt x="0" y="8548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548" t="-693" r="-5805" b="-693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TextBox 19">
            <a:extLst>
              <a:ext uri="{FF2B5EF4-FFF2-40B4-BE49-F238E27FC236}">
                <a16:creationId xmlns:a16="http://schemas.microsoft.com/office/drawing/2014/main" id="{B2343458-7680-0154-F729-3BF51581B614}"/>
              </a:ext>
            </a:extLst>
          </p:cNvPr>
          <p:cNvSpPr txBox="1"/>
          <p:nvPr/>
        </p:nvSpPr>
        <p:spPr>
          <a:xfrm>
            <a:off x="329326" y="9353504"/>
            <a:ext cx="17629343" cy="46679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59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6" b="0" i="0" u="none" strike="noStrike" kern="1200" cap="none" spc="279" normalizeH="0" baseline="0" noProof="0" dirty="0">
                <a:ln>
                  <a:noFill/>
                </a:ln>
                <a:solidFill>
                  <a:srgbClr val="FFF2C2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THE CONTROL PLANE ABOVE YOUR STACK</a:t>
            </a:r>
            <a:r>
              <a:rPr kumimoji="0" lang="en-US" sz="1326" b="0" i="0" u="none" strike="noStrike" kern="1200" cap="none" spc="279" normalizeH="0" baseline="0" noProof="0" dirty="0">
                <a:ln>
                  <a:noFill/>
                </a:ln>
                <a:solidFill>
                  <a:srgbClr val="8590B3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 ·  DATA NEVER FLOWS THROUGH BELVEDERE</a:t>
            </a:r>
          </a:p>
        </p:txBody>
      </p:sp>
    </p:spTree>
    <p:extLst>
      <p:ext uri="{BB962C8B-B14F-4D97-AF65-F5344CB8AC3E}">
        <p14:creationId xmlns:p14="http://schemas.microsoft.com/office/powerpoint/2010/main" val="84481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2"/>
            <a:chOff x="0" y="0"/>
            <a:chExt cx="17387189" cy="5490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6"/>
            </a:xfrm>
            <a:custGeom>
              <a:avLst/>
              <a:gdLst/>
              <a:ahLst/>
              <a:cxnLst/>
              <a:rect l="l" t="t" r="r" b="b"/>
              <a:pathLst>
                <a:path w="17387184" h="549066">
                  <a:moveTo>
                    <a:pt x="0" y="0"/>
                  </a:moveTo>
                  <a:lnTo>
                    <a:pt x="17387184" y="0"/>
                  </a:lnTo>
                  <a:lnTo>
                    <a:pt x="1738718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9" b="-5670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THE APPROACH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7"/>
            <a:chOff x="0" y="0"/>
            <a:chExt cx="20681594" cy="1134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0"/>
            </a:xfrm>
            <a:custGeom>
              <a:avLst/>
              <a:gdLst/>
              <a:ahLst/>
              <a:cxnLst/>
              <a:rect l="l" t="t" r="r" b="b"/>
              <a:pathLst>
                <a:path w="20681598" h="1134740">
                  <a:moveTo>
                    <a:pt x="0" y="0"/>
                  </a:moveTo>
                  <a:lnTo>
                    <a:pt x="20681598" y="0"/>
                  </a:lnTo>
                  <a:lnTo>
                    <a:pt x="20681598" y="1134740"/>
                  </a:lnTo>
                  <a:lnTo>
                    <a:pt x="0" y="1134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1" b="-30513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From Scattered Feeds to </a:t>
              </a: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Deployed Data Products</a:t>
              </a: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 with Lineage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17002" y="466706"/>
            <a:ext cx="1329867" cy="1386402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Agents do the labor. Your people stay in command.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773431"/>
            <a:ext cx="18301840" cy="343167"/>
            <a:chOff x="0" y="0"/>
            <a:chExt cx="24402453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3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1200" cap="none" spc="450" normalizeH="0" baseline="0" noProof="0">
                  <a:ln>
                    <a:noFill/>
                  </a:ln>
                  <a:solidFill>
                    <a:srgbClr val="8590B3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8458" y="2269646"/>
            <a:ext cx="17570215" cy="6234591"/>
            <a:chOff x="0" y="0"/>
            <a:chExt cx="22328810" cy="7923124"/>
          </a:xfrm>
        </p:grpSpPr>
        <p:sp>
          <p:nvSpPr>
            <p:cNvPr id="22" name="Freeform 22" descr="/Users/hstrauss/Documents/GitHub/belvedere-pm/output/deck-rebuild/illus/journey.png"/>
            <p:cNvSpPr/>
            <p:nvPr/>
          </p:nvSpPr>
          <p:spPr>
            <a:xfrm>
              <a:off x="0" y="0"/>
              <a:ext cx="22328760" cy="7923149"/>
            </a:xfrm>
            <a:custGeom>
              <a:avLst/>
              <a:gdLst/>
              <a:ahLst/>
              <a:cxnLst/>
              <a:rect l="l" t="t" r="r" b="b"/>
              <a:pathLst>
                <a:path w="22328760" h="7923149">
                  <a:moveTo>
                    <a:pt x="0" y="0"/>
                  </a:moveTo>
                  <a:lnTo>
                    <a:pt x="22328760" y="0"/>
                  </a:lnTo>
                  <a:lnTo>
                    <a:pt x="22328760" y="7923149"/>
                  </a:lnTo>
                  <a:lnTo>
                    <a:pt x="0" y="7923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49213" y="7806878"/>
            <a:ext cx="4118019" cy="356895"/>
            <a:chOff x="0" y="0"/>
            <a:chExt cx="5490693" cy="4758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90690" cy="475863"/>
            </a:xfrm>
            <a:custGeom>
              <a:avLst/>
              <a:gdLst/>
              <a:ahLst/>
              <a:cxnLst/>
              <a:rect l="l" t="t" r="r" b="b"/>
              <a:pathLst>
                <a:path w="5490690" h="475863">
                  <a:moveTo>
                    <a:pt x="0" y="0"/>
                  </a:moveTo>
                  <a:lnTo>
                    <a:pt x="5490690" y="0"/>
                  </a:lnTo>
                  <a:lnTo>
                    <a:pt x="5490690" y="475863"/>
                  </a:lnTo>
                  <a:lnTo>
                    <a:pt x="0" y="4758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826" b="-17482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490693" cy="485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22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CATALOG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49213" y="8163773"/>
            <a:ext cx="4118019" cy="411802"/>
            <a:chOff x="0" y="0"/>
            <a:chExt cx="5490693" cy="54906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90690" cy="549066"/>
            </a:xfrm>
            <a:custGeom>
              <a:avLst/>
              <a:gdLst/>
              <a:ahLst/>
              <a:cxnLst/>
              <a:rect l="l" t="t" r="r" b="b"/>
              <a:pathLst>
                <a:path w="5490690" h="549066">
                  <a:moveTo>
                    <a:pt x="0" y="0"/>
                  </a:moveTo>
                  <a:lnTo>
                    <a:pt x="5490690" y="0"/>
                  </a:lnTo>
                  <a:lnTo>
                    <a:pt x="5490690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5490693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Map every source/api/model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41476" y="7820603"/>
            <a:ext cx="4118019" cy="356895"/>
            <a:chOff x="0" y="0"/>
            <a:chExt cx="5490693" cy="4758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90690" cy="475863"/>
            </a:xfrm>
            <a:custGeom>
              <a:avLst/>
              <a:gdLst/>
              <a:ahLst/>
              <a:cxnLst/>
              <a:rect l="l" t="t" r="r" b="b"/>
              <a:pathLst>
                <a:path w="5490690" h="475863">
                  <a:moveTo>
                    <a:pt x="0" y="0"/>
                  </a:moveTo>
                  <a:lnTo>
                    <a:pt x="5490690" y="0"/>
                  </a:lnTo>
                  <a:lnTo>
                    <a:pt x="5490690" y="475863"/>
                  </a:lnTo>
                  <a:lnTo>
                    <a:pt x="0" y="4758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826" b="-17482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490693" cy="485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22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ENRICH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41476" y="8177498"/>
            <a:ext cx="4118019" cy="411802"/>
            <a:chOff x="0" y="0"/>
            <a:chExt cx="5490693" cy="54906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90690" cy="549066"/>
            </a:xfrm>
            <a:custGeom>
              <a:avLst/>
              <a:gdLst/>
              <a:ahLst/>
              <a:cxnLst/>
              <a:rect l="l" t="t" r="r" b="b"/>
              <a:pathLst>
                <a:path w="5490690" h="549066">
                  <a:moveTo>
                    <a:pt x="0" y="0"/>
                  </a:moveTo>
                  <a:lnTo>
                    <a:pt x="5490690" y="0"/>
                  </a:lnTo>
                  <a:lnTo>
                    <a:pt x="5490690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490693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Agents add the meaning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57497" y="7806878"/>
            <a:ext cx="4118019" cy="356895"/>
            <a:chOff x="0" y="0"/>
            <a:chExt cx="5490693" cy="4758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90690" cy="475863"/>
            </a:xfrm>
            <a:custGeom>
              <a:avLst/>
              <a:gdLst/>
              <a:ahLst/>
              <a:cxnLst/>
              <a:rect l="l" t="t" r="r" b="b"/>
              <a:pathLst>
                <a:path w="5490690" h="475863">
                  <a:moveTo>
                    <a:pt x="0" y="0"/>
                  </a:moveTo>
                  <a:lnTo>
                    <a:pt x="5490690" y="0"/>
                  </a:lnTo>
                  <a:lnTo>
                    <a:pt x="5490690" y="475863"/>
                  </a:lnTo>
                  <a:lnTo>
                    <a:pt x="0" y="4758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826" b="-17482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5490693" cy="485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22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OPERATIONALIZE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957497" y="8163773"/>
            <a:ext cx="4118019" cy="411804"/>
            <a:chOff x="0" y="0"/>
            <a:chExt cx="5490693" cy="54907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490690" cy="549069"/>
            </a:xfrm>
            <a:custGeom>
              <a:avLst/>
              <a:gdLst/>
              <a:ahLst/>
              <a:cxnLst/>
              <a:rect l="l" t="t" r="r" b="b"/>
              <a:pathLst>
                <a:path w="5490690" h="549069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5490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Pipelines from the catalog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165980" y="7806878"/>
            <a:ext cx="4118019" cy="356895"/>
            <a:chOff x="0" y="0"/>
            <a:chExt cx="5490693" cy="4758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90690" cy="475863"/>
            </a:xfrm>
            <a:custGeom>
              <a:avLst/>
              <a:gdLst/>
              <a:ahLst/>
              <a:cxnLst/>
              <a:rect l="l" t="t" r="r" b="b"/>
              <a:pathLst>
                <a:path w="5490690" h="475863">
                  <a:moveTo>
                    <a:pt x="0" y="0"/>
                  </a:moveTo>
                  <a:lnTo>
                    <a:pt x="5490690" y="0"/>
                  </a:lnTo>
                  <a:lnTo>
                    <a:pt x="5490690" y="475863"/>
                  </a:lnTo>
                  <a:lnTo>
                    <a:pt x="0" y="4758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826" b="-17482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490693" cy="485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22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DEPLOY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165980" y="8163773"/>
            <a:ext cx="4118019" cy="411804"/>
            <a:chOff x="0" y="0"/>
            <a:chExt cx="5490693" cy="5490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90690" cy="549069"/>
            </a:xfrm>
            <a:custGeom>
              <a:avLst/>
              <a:gdLst/>
              <a:ahLst/>
              <a:cxnLst/>
              <a:rect l="l" t="t" r="r" b="b"/>
              <a:pathLst>
                <a:path w="5490690" h="549069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5490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On your infrastructure</a:t>
              </a:r>
            </a:p>
          </p:txBody>
        </p:sp>
      </p:grpSp>
      <p:sp>
        <p:nvSpPr>
          <p:cNvPr id="47" name="AutoShape 47"/>
          <p:cNvSpPr/>
          <p:nvPr/>
        </p:nvSpPr>
        <p:spPr>
          <a:xfrm>
            <a:off x="7696374" y="5386941"/>
            <a:ext cx="349355" cy="0"/>
          </a:xfrm>
          <a:prstGeom prst="line">
            <a:avLst/>
          </a:prstGeom>
          <a:ln w="19050" cap="flat">
            <a:solidFill>
              <a:srgbClr val="C9A35F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10979391" y="5386941"/>
            <a:ext cx="349355" cy="0"/>
          </a:xfrm>
          <a:prstGeom prst="line">
            <a:avLst/>
          </a:prstGeom>
          <a:ln w="19050" cap="flat">
            <a:solidFill>
              <a:srgbClr val="C9A35F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14243358" y="5386941"/>
            <a:ext cx="349355" cy="0"/>
          </a:xfrm>
          <a:prstGeom prst="line">
            <a:avLst/>
          </a:prstGeom>
          <a:ln w="19050" cap="flat">
            <a:solidFill>
              <a:srgbClr val="C9A35F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STEP 1 · CATALOG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7"/>
            <a:chOff x="0" y="0"/>
            <a:chExt cx="20681594" cy="1134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0"/>
            </a:xfrm>
            <a:custGeom>
              <a:avLst/>
              <a:gdLst/>
              <a:ahLst/>
              <a:cxnLst/>
              <a:rect l="l" t="t" r="r" b="b"/>
              <a:pathLst>
                <a:path w="20681598" h="1134740">
                  <a:moveTo>
                    <a:pt x="0" y="0"/>
                  </a:moveTo>
                  <a:lnTo>
                    <a:pt x="20681598" y="0"/>
                  </a:lnTo>
                  <a:lnTo>
                    <a:pt x="20681598" y="1134740"/>
                  </a:lnTo>
                  <a:lnTo>
                    <a:pt x="0" y="1134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1" b="-30513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2C3">
                          <a:alpha val="100000"/>
                        </a:srgbClr>
                      </a:gs>
                    </a:gsLst>
                    <a:lin ang="5400000"/>
                  </a:gra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Catalog Every Feed Source, Target, Endpoint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24990" y="466706"/>
            <a:ext cx="1321880" cy="1378075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9"/>
            <a:chOff x="0" y="0"/>
            <a:chExt cx="21962758" cy="6222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82"/>
            </a:xfrm>
            <a:custGeom>
              <a:avLst/>
              <a:gdLst/>
              <a:ahLst/>
              <a:cxnLst/>
              <a:rect l="l" t="t" r="r" b="b"/>
              <a:pathLst>
                <a:path w="21962759" h="622282">
                  <a:moveTo>
                    <a:pt x="0" y="0"/>
                  </a:moveTo>
                  <a:lnTo>
                    <a:pt x="21962759" y="0"/>
                  </a:lnTo>
                  <a:lnTo>
                    <a:pt x="21962759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3" b="-63770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Connect your data enterprise to being building your data knowledge graph.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4971" y="5521866"/>
            <a:ext cx="6177029" cy="13726"/>
            <a:chOff x="0" y="0"/>
            <a:chExt cx="8236039" cy="183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4971" y="5517752"/>
            <a:ext cx="617706" cy="21965"/>
            <a:chOff x="0" y="0"/>
            <a:chExt cx="823608" cy="292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4971" y="5641291"/>
            <a:ext cx="617706" cy="411804"/>
            <a:chOff x="0" y="0"/>
            <a:chExt cx="823608" cy="5490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13853" y="5613840"/>
            <a:ext cx="5518147" cy="411804"/>
            <a:chOff x="0" y="0"/>
            <a:chExt cx="7357529" cy="54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57524" cy="549069"/>
            </a:xfrm>
            <a:custGeom>
              <a:avLst/>
              <a:gdLst/>
              <a:ahLst/>
              <a:cxnLst/>
              <a:rect l="l" t="t" r="r" b="b"/>
              <a:pathLst>
                <a:path w="7357524" h="549069">
                  <a:moveTo>
                    <a:pt x="0" y="0"/>
                  </a:moveTo>
                  <a:lnTo>
                    <a:pt x="7357524" y="0"/>
                  </a:lnTo>
                  <a:lnTo>
                    <a:pt x="735752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99" b="-2110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735752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Connect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05293" y="6093490"/>
            <a:ext cx="5239179" cy="51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Connect Belvedere to your databases, buckets, streams, and APIs.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54971" y="6949445"/>
            <a:ext cx="6177029" cy="13726"/>
            <a:chOff x="0" y="0"/>
            <a:chExt cx="8236039" cy="1830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4971" y="6945330"/>
            <a:ext cx="617706" cy="21965"/>
            <a:chOff x="0" y="0"/>
            <a:chExt cx="823608" cy="2928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4971" y="7068869"/>
            <a:ext cx="617706" cy="411804"/>
            <a:chOff x="0" y="0"/>
            <a:chExt cx="823608" cy="549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13853" y="7041418"/>
            <a:ext cx="5518147" cy="411804"/>
            <a:chOff x="0" y="0"/>
            <a:chExt cx="7357529" cy="5490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57524" cy="549069"/>
            </a:xfrm>
            <a:custGeom>
              <a:avLst/>
              <a:gdLst/>
              <a:ahLst/>
              <a:cxnLst/>
              <a:rect l="l" t="t" r="r" b="b"/>
              <a:pathLst>
                <a:path w="7357524" h="549069">
                  <a:moveTo>
                    <a:pt x="0" y="0"/>
                  </a:moveTo>
                  <a:lnTo>
                    <a:pt x="7357524" y="0"/>
                  </a:lnTo>
                  <a:lnTo>
                    <a:pt x="735752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99" b="-2110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735752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Discover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05293" y="7521069"/>
            <a:ext cx="5239179" cy="778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Agents survey each system and record schemas, samples, and stats.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54971" y="8377023"/>
            <a:ext cx="6177029" cy="13726"/>
            <a:chOff x="0" y="0"/>
            <a:chExt cx="8236039" cy="1830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4971" y="8372908"/>
            <a:ext cx="617706" cy="21965"/>
            <a:chOff x="0" y="0"/>
            <a:chExt cx="823608" cy="2928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4971" y="8496448"/>
            <a:ext cx="617706" cy="411804"/>
            <a:chOff x="0" y="0"/>
            <a:chExt cx="823608" cy="5490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13853" y="8468997"/>
            <a:ext cx="5518147" cy="411802"/>
            <a:chOff x="0" y="0"/>
            <a:chExt cx="7357529" cy="54906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57524" cy="549066"/>
            </a:xfrm>
            <a:custGeom>
              <a:avLst/>
              <a:gdLst/>
              <a:ahLst/>
              <a:cxnLst/>
              <a:rect l="l" t="t" r="r" b="b"/>
              <a:pathLst>
                <a:path w="7357524" h="549066">
                  <a:moveTo>
                    <a:pt x="0" y="0"/>
                  </a:moveTo>
                  <a:lnTo>
                    <a:pt x="7357524" y="0"/>
                  </a:lnTo>
                  <a:lnTo>
                    <a:pt x="735752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100" b="-21110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735752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One Source of Truth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505293" y="8948647"/>
            <a:ext cx="5239179" cy="51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Every feed lands in one living map: schemas, owners, relationships, lineage, changes.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469392" y="5377815"/>
            <a:ext cx="8897757" cy="4623898"/>
            <a:chOff x="0" y="0"/>
            <a:chExt cx="10790733" cy="560762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790809" cy="5607685"/>
            </a:xfrm>
            <a:custGeom>
              <a:avLst/>
              <a:gdLst/>
              <a:ahLst/>
              <a:cxnLst/>
              <a:rect l="l" t="t" r="r" b="b"/>
              <a:pathLst>
                <a:path w="10790809" h="5607685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10680446" y="0"/>
                  </a:lnTo>
                  <a:cubicBezTo>
                    <a:pt x="10741406" y="0"/>
                    <a:pt x="10790809" y="49403"/>
                    <a:pt x="10790809" y="110363"/>
                  </a:cubicBezTo>
                  <a:lnTo>
                    <a:pt x="10790809" y="5497322"/>
                  </a:lnTo>
                  <a:cubicBezTo>
                    <a:pt x="10790809" y="5558282"/>
                    <a:pt x="10741406" y="5607685"/>
                    <a:pt x="10680446" y="5607685"/>
                  </a:cubicBezTo>
                  <a:lnTo>
                    <a:pt x="110363" y="5607685"/>
                  </a:lnTo>
                  <a:cubicBezTo>
                    <a:pt x="49403" y="5607685"/>
                    <a:pt x="0" y="5558282"/>
                    <a:pt x="0" y="5497322"/>
                  </a:cubicBezTo>
                  <a:close/>
                </a:path>
              </a:pathLst>
            </a:custGeom>
            <a:solidFill>
              <a:srgbClr val="122452"/>
            </a:solidFill>
            <a:ln w="19065" cap="sq">
              <a:solidFill>
                <a:srgbClr val="1A2D5A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691159" y="5599582"/>
            <a:ext cx="8454233" cy="4180374"/>
            <a:chOff x="0" y="0"/>
            <a:chExt cx="10252850" cy="5069738"/>
          </a:xfrm>
        </p:grpSpPr>
        <p:sp>
          <p:nvSpPr>
            <p:cNvPr id="54" name="Freeform 54" descr="/Users/hstrauss/Documents/GitHub/belvedere-pm/output/deck-rebuild/extracted_images/s14_94.png"/>
            <p:cNvSpPr/>
            <p:nvPr/>
          </p:nvSpPr>
          <p:spPr>
            <a:xfrm>
              <a:off x="0" y="0"/>
              <a:ext cx="10252837" cy="5069713"/>
            </a:xfrm>
            <a:custGeom>
              <a:avLst/>
              <a:gdLst/>
              <a:ahLst/>
              <a:cxnLst/>
              <a:rect l="l" t="t" r="r" b="b"/>
              <a:pathLst>
                <a:path w="10252837" h="5069713">
                  <a:moveTo>
                    <a:pt x="0" y="0"/>
                  </a:moveTo>
                  <a:lnTo>
                    <a:pt x="10252837" y="0"/>
                  </a:lnTo>
                  <a:lnTo>
                    <a:pt x="10252837" y="5069713"/>
                  </a:lnTo>
                  <a:lnTo>
                    <a:pt x="0" y="5069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8050" y="2188081"/>
            <a:ext cx="16791899" cy="2572948"/>
            <a:chOff x="0" y="0"/>
            <a:chExt cx="19034392" cy="2916555"/>
          </a:xfrm>
        </p:grpSpPr>
        <p:sp>
          <p:nvSpPr>
            <p:cNvPr id="56" name="Freeform 56" descr="/Users/hstrauss/Documents/GitHub/belvedere-pm/output/deck-rebuild/illus/band1.png"/>
            <p:cNvSpPr/>
            <p:nvPr/>
          </p:nvSpPr>
          <p:spPr>
            <a:xfrm>
              <a:off x="0" y="0"/>
              <a:ext cx="19034379" cy="2916555"/>
            </a:xfrm>
            <a:custGeom>
              <a:avLst/>
              <a:gdLst/>
              <a:ahLst/>
              <a:cxnLst/>
              <a:rect l="l" t="t" r="r" b="b"/>
              <a:pathLst>
                <a:path w="19034379" h="2916555">
                  <a:moveTo>
                    <a:pt x="0" y="0"/>
                  </a:moveTo>
                  <a:lnTo>
                    <a:pt x="19034379" y="0"/>
                  </a:lnTo>
                  <a:lnTo>
                    <a:pt x="19034379" y="2916555"/>
                  </a:lnTo>
                  <a:lnTo>
                    <a:pt x="0" y="2916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STEP 2 · ENRICH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7"/>
            <a:chOff x="0" y="0"/>
            <a:chExt cx="20681594" cy="1134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0"/>
            </a:xfrm>
            <a:custGeom>
              <a:avLst/>
              <a:gdLst/>
              <a:ahLst/>
              <a:cxnLst/>
              <a:rect l="l" t="t" r="r" b="b"/>
              <a:pathLst>
                <a:path w="20681598" h="1134740">
                  <a:moveTo>
                    <a:pt x="0" y="0"/>
                  </a:moveTo>
                  <a:lnTo>
                    <a:pt x="20681598" y="0"/>
                  </a:lnTo>
                  <a:lnTo>
                    <a:pt x="20681598" y="1134740"/>
                  </a:lnTo>
                  <a:lnTo>
                    <a:pt x="0" y="1134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1" b="-30513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2C3">
                          <a:alpha val="100000"/>
                        </a:srgbClr>
                      </a:gs>
                    </a:gsLst>
                    <a:lin ang="5400000"/>
                  </a:gra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Agents Enrich the Catalog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153568" y="466706"/>
            <a:ext cx="1393302" cy="1452533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9"/>
            <a:chOff x="0" y="0"/>
            <a:chExt cx="21962758" cy="6222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82"/>
            </a:xfrm>
            <a:custGeom>
              <a:avLst/>
              <a:gdLst/>
              <a:ahLst/>
              <a:cxnLst/>
              <a:rect l="l" t="t" r="r" b="b"/>
              <a:pathLst>
                <a:path w="21962759" h="622282">
                  <a:moveTo>
                    <a:pt x="0" y="0"/>
                  </a:moveTo>
                  <a:lnTo>
                    <a:pt x="21962759" y="0"/>
                  </a:lnTo>
                  <a:lnTo>
                    <a:pt x="21962759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3" b="-63770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The catalog grows from an inventory into an understanding of your data.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4971" y="5522485"/>
            <a:ext cx="6177029" cy="13726"/>
            <a:chOff x="0" y="0"/>
            <a:chExt cx="8236039" cy="183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4971" y="5518370"/>
            <a:ext cx="617706" cy="21965"/>
            <a:chOff x="0" y="0"/>
            <a:chExt cx="823608" cy="292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4971" y="5641909"/>
            <a:ext cx="617706" cy="411804"/>
            <a:chOff x="0" y="0"/>
            <a:chExt cx="823608" cy="5490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13853" y="5614458"/>
            <a:ext cx="5518147" cy="411802"/>
            <a:chOff x="0" y="0"/>
            <a:chExt cx="7357529" cy="5490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57524" cy="549066"/>
            </a:xfrm>
            <a:custGeom>
              <a:avLst/>
              <a:gdLst/>
              <a:ahLst/>
              <a:cxnLst/>
              <a:rect l="l" t="t" r="r" b="b"/>
              <a:pathLst>
                <a:path w="7357524" h="549066">
                  <a:moveTo>
                    <a:pt x="0" y="0"/>
                  </a:moveTo>
                  <a:lnTo>
                    <a:pt x="7357524" y="0"/>
                  </a:lnTo>
                  <a:lnTo>
                    <a:pt x="735752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100" b="-21110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735752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Semantic Mapping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05293" y="6094109"/>
            <a:ext cx="5239179" cy="51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Columns link to shared concepts, so tables explain themselves.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54971" y="6950063"/>
            <a:ext cx="6177029" cy="13726"/>
            <a:chOff x="0" y="0"/>
            <a:chExt cx="8236039" cy="1830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4971" y="6945948"/>
            <a:ext cx="617706" cy="21965"/>
            <a:chOff x="0" y="0"/>
            <a:chExt cx="823608" cy="2928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4971" y="7069488"/>
            <a:ext cx="617706" cy="411804"/>
            <a:chOff x="0" y="0"/>
            <a:chExt cx="823608" cy="549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13853" y="7042037"/>
            <a:ext cx="5518147" cy="411802"/>
            <a:chOff x="0" y="0"/>
            <a:chExt cx="7357529" cy="54906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57524" cy="549066"/>
            </a:xfrm>
            <a:custGeom>
              <a:avLst/>
              <a:gdLst/>
              <a:ahLst/>
              <a:cxnLst/>
              <a:rect l="l" t="t" r="r" b="b"/>
              <a:pathLst>
                <a:path w="7357524" h="549066">
                  <a:moveTo>
                    <a:pt x="0" y="0"/>
                  </a:moveTo>
                  <a:lnTo>
                    <a:pt x="7357524" y="0"/>
                  </a:lnTo>
                  <a:lnTo>
                    <a:pt x="735752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100" b="-21110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735752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Lineage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05293" y="7521687"/>
            <a:ext cx="5239179" cy="51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Every field traces back to its source and forward to everything it feeds.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54971" y="8377642"/>
            <a:ext cx="6177029" cy="13726"/>
            <a:chOff x="0" y="0"/>
            <a:chExt cx="8236039" cy="1830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4971" y="8373527"/>
            <a:ext cx="617706" cy="21965"/>
            <a:chOff x="0" y="0"/>
            <a:chExt cx="823608" cy="2928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4971" y="8497066"/>
            <a:ext cx="617706" cy="411804"/>
            <a:chOff x="0" y="0"/>
            <a:chExt cx="823608" cy="5490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13853" y="8469615"/>
            <a:ext cx="5518147" cy="411802"/>
            <a:chOff x="0" y="0"/>
            <a:chExt cx="7357529" cy="54906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57524" cy="549066"/>
            </a:xfrm>
            <a:custGeom>
              <a:avLst/>
              <a:gdLst/>
              <a:ahLst/>
              <a:cxnLst/>
              <a:rect l="l" t="t" r="r" b="b"/>
              <a:pathLst>
                <a:path w="7357524" h="549066">
                  <a:moveTo>
                    <a:pt x="0" y="0"/>
                  </a:moveTo>
                  <a:lnTo>
                    <a:pt x="7357524" y="0"/>
                  </a:lnTo>
                  <a:lnTo>
                    <a:pt x="735752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100" b="-21110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735752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Build Your Knowledge Graph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505293" y="8949265"/>
            <a:ext cx="5239179" cy="51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What lived in people's heads combined with agentic discovery become structure the agents can use.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615687" y="5381896"/>
            <a:ext cx="8643613" cy="4678459"/>
            <a:chOff x="0" y="0"/>
            <a:chExt cx="10578294" cy="572562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578383" cy="5725690"/>
            </a:xfrm>
            <a:custGeom>
              <a:avLst/>
              <a:gdLst/>
              <a:ahLst/>
              <a:cxnLst/>
              <a:rect l="l" t="t" r="r" b="b"/>
              <a:pathLst>
                <a:path w="10578383" h="5725690">
                  <a:moveTo>
                    <a:pt x="0" y="112685"/>
                  </a:moveTo>
                  <a:cubicBezTo>
                    <a:pt x="0" y="50443"/>
                    <a:pt x="67407" y="0"/>
                    <a:pt x="150583" y="0"/>
                  </a:cubicBezTo>
                  <a:lnTo>
                    <a:pt x="10427832" y="0"/>
                  </a:lnTo>
                  <a:cubicBezTo>
                    <a:pt x="10511008" y="0"/>
                    <a:pt x="10578383" y="50443"/>
                    <a:pt x="10578383" y="112685"/>
                  </a:cubicBezTo>
                  <a:lnTo>
                    <a:pt x="10578383" y="5613007"/>
                  </a:lnTo>
                  <a:cubicBezTo>
                    <a:pt x="10578383" y="5675249"/>
                    <a:pt x="10511008" y="5725690"/>
                    <a:pt x="10427832" y="5725690"/>
                  </a:cubicBezTo>
                  <a:lnTo>
                    <a:pt x="150583" y="5725690"/>
                  </a:lnTo>
                  <a:cubicBezTo>
                    <a:pt x="67407" y="5725690"/>
                    <a:pt x="0" y="5675249"/>
                    <a:pt x="0" y="5613007"/>
                  </a:cubicBezTo>
                  <a:close/>
                </a:path>
              </a:pathLst>
            </a:custGeom>
            <a:solidFill>
              <a:srgbClr val="122452"/>
            </a:solidFill>
            <a:ln w="19065" cap="sq">
              <a:solidFill>
                <a:srgbClr val="1A2D5A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915534" y="5606280"/>
            <a:ext cx="8043932" cy="4229701"/>
            <a:chOff x="0" y="0"/>
            <a:chExt cx="9844388" cy="517642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844387" cy="5176399"/>
            </a:xfrm>
            <a:custGeom>
              <a:avLst/>
              <a:gdLst/>
              <a:ahLst/>
              <a:cxnLst/>
              <a:rect l="l" t="t" r="r" b="b"/>
              <a:pathLst>
                <a:path w="9844387" h="5176399">
                  <a:moveTo>
                    <a:pt x="0" y="0"/>
                  </a:moveTo>
                  <a:lnTo>
                    <a:pt x="9844387" y="0"/>
                  </a:lnTo>
                  <a:lnTo>
                    <a:pt x="9844387" y="5176399"/>
                  </a:lnTo>
                  <a:lnTo>
                    <a:pt x="0" y="517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967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9808" y="2171700"/>
            <a:ext cx="16788384" cy="2569464"/>
            <a:chOff x="0" y="0"/>
            <a:chExt cx="19034392" cy="2916555"/>
          </a:xfrm>
        </p:grpSpPr>
        <p:sp>
          <p:nvSpPr>
            <p:cNvPr id="56" name="Freeform 56" descr="/Users/hstrauss/Documents/GitHub/belvedere-pm/output/deck-rebuild/illus/band2.png"/>
            <p:cNvSpPr/>
            <p:nvPr/>
          </p:nvSpPr>
          <p:spPr>
            <a:xfrm>
              <a:off x="0" y="0"/>
              <a:ext cx="19034379" cy="2916555"/>
            </a:xfrm>
            <a:custGeom>
              <a:avLst/>
              <a:gdLst/>
              <a:ahLst/>
              <a:cxnLst/>
              <a:rect l="l" t="t" r="r" b="b"/>
              <a:pathLst>
                <a:path w="19034379" h="2916555">
                  <a:moveTo>
                    <a:pt x="0" y="0"/>
                  </a:moveTo>
                  <a:lnTo>
                    <a:pt x="19034379" y="0"/>
                  </a:lnTo>
                  <a:lnTo>
                    <a:pt x="19034379" y="2916555"/>
                  </a:lnTo>
                  <a:lnTo>
                    <a:pt x="0" y="2916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STEP 3 · OPERATIONALIZE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9"/>
            <a:chOff x="0" y="0"/>
            <a:chExt cx="20681594" cy="11347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3"/>
            </a:xfrm>
            <a:custGeom>
              <a:avLst/>
              <a:gdLst/>
              <a:ahLst/>
              <a:cxnLst/>
              <a:rect l="l" t="t" r="r" b="b"/>
              <a:pathLst>
                <a:path w="20681598" h="1134743">
                  <a:moveTo>
                    <a:pt x="0" y="0"/>
                  </a:moveTo>
                  <a:lnTo>
                    <a:pt x="20681598" y="0"/>
                  </a:lnTo>
                  <a:lnTo>
                    <a:pt x="2068159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0" b="-3051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Make the Data </a:t>
              </a: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Operational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17002" y="466706"/>
            <a:ext cx="1329867" cy="1386402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Describe the data products you need. Belvedere engineers the pipelines behind them.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4971" y="5379828"/>
            <a:ext cx="6177029" cy="13726"/>
            <a:chOff x="0" y="0"/>
            <a:chExt cx="8236039" cy="183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4971" y="5375713"/>
            <a:ext cx="617706" cy="21965"/>
            <a:chOff x="0" y="0"/>
            <a:chExt cx="823608" cy="292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4971" y="5499252"/>
            <a:ext cx="617706" cy="411804"/>
            <a:chOff x="0" y="0"/>
            <a:chExt cx="823608" cy="5490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13853" y="5471801"/>
            <a:ext cx="5518147" cy="411804"/>
            <a:chOff x="0" y="0"/>
            <a:chExt cx="7357529" cy="54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57524" cy="549069"/>
            </a:xfrm>
            <a:custGeom>
              <a:avLst/>
              <a:gdLst/>
              <a:ahLst/>
              <a:cxnLst/>
              <a:rect l="l" t="t" r="r" b="b"/>
              <a:pathLst>
                <a:path w="7357524" h="549069">
                  <a:moveTo>
                    <a:pt x="0" y="0"/>
                  </a:moveTo>
                  <a:lnTo>
                    <a:pt x="7357524" y="0"/>
                  </a:lnTo>
                  <a:lnTo>
                    <a:pt x="735752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99" b="-2110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735752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Declare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05293" y="5951452"/>
            <a:ext cx="5239179" cy="778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Describe the data product you need, in plain language.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54971" y="6807406"/>
            <a:ext cx="6177029" cy="13726"/>
            <a:chOff x="0" y="0"/>
            <a:chExt cx="8236039" cy="1830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4971" y="6803291"/>
            <a:ext cx="617706" cy="21965"/>
            <a:chOff x="0" y="0"/>
            <a:chExt cx="823608" cy="2928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4971" y="6926831"/>
            <a:ext cx="617706" cy="411804"/>
            <a:chOff x="0" y="0"/>
            <a:chExt cx="823608" cy="549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13853" y="6899380"/>
            <a:ext cx="5518147" cy="411804"/>
            <a:chOff x="0" y="0"/>
            <a:chExt cx="7357529" cy="5490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57524" cy="549069"/>
            </a:xfrm>
            <a:custGeom>
              <a:avLst/>
              <a:gdLst/>
              <a:ahLst/>
              <a:cxnLst/>
              <a:rect l="l" t="t" r="r" b="b"/>
              <a:pathLst>
                <a:path w="7357524" h="549069">
                  <a:moveTo>
                    <a:pt x="0" y="0"/>
                  </a:moveTo>
                  <a:lnTo>
                    <a:pt x="7357524" y="0"/>
                  </a:lnTo>
                  <a:lnTo>
                    <a:pt x="735752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99" b="-2110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735752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Design &amp; approve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05293" y="7379030"/>
            <a:ext cx="5239179" cy="778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Agents draw the workflow from the catalog. A person approves every change.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54971" y="8234985"/>
            <a:ext cx="6177029" cy="13726"/>
            <a:chOff x="0" y="0"/>
            <a:chExt cx="8236039" cy="1830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4971" y="8230870"/>
            <a:ext cx="617706" cy="21965"/>
            <a:chOff x="0" y="0"/>
            <a:chExt cx="823608" cy="2928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4971" y="8354409"/>
            <a:ext cx="617706" cy="411804"/>
            <a:chOff x="0" y="0"/>
            <a:chExt cx="823608" cy="5490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13853" y="8326958"/>
            <a:ext cx="5518147" cy="411804"/>
            <a:chOff x="0" y="0"/>
            <a:chExt cx="7357529" cy="54907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57524" cy="549069"/>
            </a:xfrm>
            <a:custGeom>
              <a:avLst/>
              <a:gdLst/>
              <a:ahLst/>
              <a:cxnLst/>
              <a:rect l="l" t="t" r="r" b="b"/>
              <a:pathLst>
                <a:path w="7357524" h="549069">
                  <a:moveTo>
                    <a:pt x="0" y="0"/>
                  </a:moveTo>
                  <a:lnTo>
                    <a:pt x="7357524" y="0"/>
                  </a:lnTo>
                  <a:lnTo>
                    <a:pt x="735752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99" b="-2110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735752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Compiled code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505293" y="8806609"/>
            <a:ext cx="5239179" cy="778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Tested pipeline code runs on your stack. No per-row AI calls.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817980" y="5375713"/>
            <a:ext cx="8441320" cy="4684359"/>
            <a:chOff x="0" y="0"/>
            <a:chExt cx="10167074" cy="564203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167138" cy="5642098"/>
            </a:xfrm>
            <a:custGeom>
              <a:avLst/>
              <a:gdLst/>
              <a:ahLst/>
              <a:cxnLst/>
              <a:rect l="l" t="t" r="r" b="b"/>
              <a:pathLst>
                <a:path w="10167138" h="5642098">
                  <a:moveTo>
                    <a:pt x="0" y="111040"/>
                  </a:moveTo>
                  <a:cubicBezTo>
                    <a:pt x="0" y="49706"/>
                    <a:pt x="65016" y="0"/>
                    <a:pt x="145240" y="0"/>
                  </a:cubicBezTo>
                  <a:lnTo>
                    <a:pt x="10021917" y="0"/>
                  </a:lnTo>
                  <a:cubicBezTo>
                    <a:pt x="10102142" y="0"/>
                    <a:pt x="10167138" y="49706"/>
                    <a:pt x="10167138" y="111040"/>
                  </a:cubicBezTo>
                  <a:lnTo>
                    <a:pt x="10167138" y="5531058"/>
                  </a:lnTo>
                  <a:cubicBezTo>
                    <a:pt x="10167138" y="5592392"/>
                    <a:pt x="10102142" y="5642098"/>
                    <a:pt x="10021917" y="5642098"/>
                  </a:cubicBezTo>
                  <a:lnTo>
                    <a:pt x="145240" y="5642098"/>
                  </a:lnTo>
                  <a:cubicBezTo>
                    <a:pt x="65016" y="5642098"/>
                    <a:pt x="0" y="5592392"/>
                    <a:pt x="0" y="5531058"/>
                  </a:cubicBezTo>
                  <a:close/>
                </a:path>
              </a:pathLst>
            </a:custGeom>
            <a:solidFill>
              <a:srgbClr val="122452"/>
            </a:solidFill>
            <a:ln w="19065" cap="sq">
              <a:solidFill>
                <a:srgbClr val="1A2D5A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11830" y="5600380"/>
            <a:ext cx="7853606" cy="4235035"/>
            <a:chOff x="0" y="0"/>
            <a:chExt cx="9459207" cy="5100851"/>
          </a:xfrm>
        </p:grpSpPr>
        <p:sp>
          <p:nvSpPr>
            <p:cNvPr id="54" name="Freeform 54" descr="/Users/hstrauss/Documents/GitHub/belvedere-pm/output/deck-rebuild/shot_builder.png"/>
            <p:cNvSpPr/>
            <p:nvPr/>
          </p:nvSpPr>
          <p:spPr>
            <a:xfrm>
              <a:off x="0" y="0"/>
              <a:ext cx="9459174" cy="5100825"/>
            </a:xfrm>
            <a:custGeom>
              <a:avLst/>
              <a:gdLst/>
              <a:ahLst/>
              <a:cxnLst/>
              <a:rect l="l" t="t" r="r" b="b"/>
              <a:pathLst>
                <a:path w="9459174" h="5100825">
                  <a:moveTo>
                    <a:pt x="0" y="0"/>
                  </a:moveTo>
                  <a:lnTo>
                    <a:pt x="9459174" y="0"/>
                  </a:lnTo>
                  <a:lnTo>
                    <a:pt x="9459174" y="5100825"/>
                  </a:lnTo>
                  <a:lnTo>
                    <a:pt x="0" y="5100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07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8050" y="2184778"/>
            <a:ext cx="16791899" cy="2572948"/>
            <a:chOff x="0" y="0"/>
            <a:chExt cx="19034392" cy="2916555"/>
          </a:xfrm>
        </p:grpSpPr>
        <p:sp>
          <p:nvSpPr>
            <p:cNvPr id="56" name="Freeform 56" descr="/Users/hstrauss/Documents/GitHub/belvedere-pm/output/deck-rebuild/illus/band3.png"/>
            <p:cNvSpPr/>
            <p:nvPr/>
          </p:nvSpPr>
          <p:spPr>
            <a:xfrm>
              <a:off x="0" y="0"/>
              <a:ext cx="19034379" cy="2916555"/>
            </a:xfrm>
            <a:custGeom>
              <a:avLst/>
              <a:gdLst/>
              <a:ahLst/>
              <a:cxnLst/>
              <a:rect l="l" t="t" r="r" b="b"/>
              <a:pathLst>
                <a:path w="19034379" h="2916555">
                  <a:moveTo>
                    <a:pt x="0" y="0"/>
                  </a:moveTo>
                  <a:lnTo>
                    <a:pt x="19034379" y="0"/>
                  </a:lnTo>
                  <a:lnTo>
                    <a:pt x="19034379" y="2916555"/>
                  </a:lnTo>
                  <a:lnTo>
                    <a:pt x="0" y="2916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4"/>
            <a:chOff x="0" y="0"/>
            <a:chExt cx="17387189" cy="5490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9"/>
            </a:xfrm>
            <a:custGeom>
              <a:avLst/>
              <a:gdLst/>
              <a:ahLst/>
              <a:cxnLst/>
              <a:rect l="l" t="t" r="r" b="b"/>
              <a:pathLst>
                <a:path w="17387184" h="549069">
                  <a:moveTo>
                    <a:pt x="0" y="0"/>
                  </a:moveTo>
                  <a:lnTo>
                    <a:pt x="17387184" y="0"/>
                  </a:lnTo>
                  <a:lnTo>
                    <a:pt x="173871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6" b="-56702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STEP 4 · DEPLOY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9"/>
            <a:chOff x="0" y="0"/>
            <a:chExt cx="20681594" cy="11347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3"/>
            </a:xfrm>
            <a:custGeom>
              <a:avLst/>
              <a:gdLst/>
              <a:ahLst/>
              <a:cxnLst/>
              <a:rect l="l" t="t" r="r" b="b"/>
              <a:pathLst>
                <a:path w="20681598" h="1134743">
                  <a:moveTo>
                    <a:pt x="0" y="0"/>
                  </a:moveTo>
                  <a:lnTo>
                    <a:pt x="20681598" y="0"/>
                  </a:lnTo>
                  <a:lnTo>
                    <a:pt x="2068159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0" b="-3051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Deploy Across </a:t>
              </a: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Your Infrastructure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17002" y="466706"/>
            <a:ext cx="1329867" cy="1386402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Belvedere compiles pipelines to the platforms you already run.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10165971"/>
            <a:ext cx="18301840" cy="343167"/>
            <a:chOff x="0" y="0"/>
            <a:chExt cx="24402453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3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1200" cap="none" spc="450" normalizeH="0" baseline="0" noProof="0">
                  <a:ln>
                    <a:noFill/>
                  </a:ln>
                  <a:solidFill>
                    <a:srgbClr val="8590B3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8050" y="2181274"/>
            <a:ext cx="16791899" cy="2572948"/>
            <a:chOff x="0" y="0"/>
            <a:chExt cx="19034392" cy="2916555"/>
          </a:xfrm>
        </p:grpSpPr>
        <p:sp>
          <p:nvSpPr>
            <p:cNvPr id="22" name="Freeform 22" descr="/Users/hstrauss/Documents/GitHub/belvedere-pm/output/deck-rebuild/illus/band4.png"/>
            <p:cNvSpPr/>
            <p:nvPr/>
          </p:nvSpPr>
          <p:spPr>
            <a:xfrm>
              <a:off x="0" y="0"/>
              <a:ext cx="19034379" cy="2916555"/>
            </a:xfrm>
            <a:custGeom>
              <a:avLst/>
              <a:gdLst/>
              <a:ahLst/>
              <a:cxnLst/>
              <a:rect l="l" t="t" r="r" b="b"/>
              <a:pathLst>
                <a:path w="19034379" h="2916555">
                  <a:moveTo>
                    <a:pt x="0" y="0"/>
                  </a:moveTo>
                  <a:lnTo>
                    <a:pt x="19034379" y="0"/>
                  </a:lnTo>
                  <a:lnTo>
                    <a:pt x="19034379" y="2916555"/>
                  </a:lnTo>
                  <a:lnTo>
                    <a:pt x="0" y="2916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4971" y="5502997"/>
            <a:ext cx="6177029" cy="13726"/>
            <a:chOff x="0" y="0"/>
            <a:chExt cx="8236039" cy="1830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4971" y="5498883"/>
            <a:ext cx="617706" cy="21965"/>
            <a:chOff x="0" y="0"/>
            <a:chExt cx="823608" cy="2928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4971" y="5622422"/>
            <a:ext cx="617706" cy="411804"/>
            <a:chOff x="0" y="0"/>
            <a:chExt cx="823608" cy="5490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13853" y="5594971"/>
            <a:ext cx="5518147" cy="411804"/>
            <a:chOff x="0" y="0"/>
            <a:chExt cx="7357529" cy="5490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357524" cy="549069"/>
            </a:xfrm>
            <a:custGeom>
              <a:avLst/>
              <a:gdLst/>
              <a:ahLst/>
              <a:cxnLst/>
              <a:rect l="l" t="t" r="r" b="b"/>
              <a:pathLst>
                <a:path w="7357524" h="549069">
                  <a:moveTo>
                    <a:pt x="0" y="0"/>
                  </a:moveTo>
                  <a:lnTo>
                    <a:pt x="7357524" y="0"/>
                  </a:lnTo>
                  <a:lnTo>
                    <a:pt x="735752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99" b="-2110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735752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Your platforms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505293" y="6074621"/>
            <a:ext cx="5239179" cy="51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Compiles to the stack you already run (e.g. Airflow, </a:t>
            </a:r>
            <a:r>
              <a:rPr kumimoji="0" lang="en-US" sz="1576" b="0" i="0" u="none" strike="noStrike" kern="1200" cap="none" spc="0" normalizeH="0" baseline="0" noProof="0" dirty="0" err="1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Dagster</a:t>
            </a:r>
            <a:r>
              <a:rPr kumimoji="0" lang="en-US" sz="157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, AWS Glue).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54971" y="6930576"/>
            <a:ext cx="6177029" cy="13726"/>
            <a:chOff x="0" y="0"/>
            <a:chExt cx="8236039" cy="1830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971" y="6926461"/>
            <a:ext cx="617706" cy="21965"/>
            <a:chOff x="0" y="0"/>
            <a:chExt cx="823608" cy="2928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4971" y="7050000"/>
            <a:ext cx="617706" cy="411804"/>
            <a:chOff x="0" y="0"/>
            <a:chExt cx="823608" cy="54907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13853" y="7022549"/>
            <a:ext cx="5518147" cy="411804"/>
            <a:chOff x="0" y="0"/>
            <a:chExt cx="7357529" cy="549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57524" cy="549069"/>
            </a:xfrm>
            <a:custGeom>
              <a:avLst/>
              <a:gdLst/>
              <a:ahLst/>
              <a:cxnLst/>
              <a:rect l="l" t="t" r="r" b="b"/>
              <a:pathLst>
                <a:path w="7357524" h="549069">
                  <a:moveTo>
                    <a:pt x="0" y="0"/>
                  </a:moveTo>
                  <a:lnTo>
                    <a:pt x="7357524" y="0"/>
                  </a:lnTo>
                  <a:lnTo>
                    <a:pt x="735752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99" b="-2110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735752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Any enclave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505293" y="7502200"/>
            <a:ext cx="5239179" cy="778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Cloud, on-premises, or fully air-gapped.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754971" y="8358154"/>
            <a:ext cx="6177029" cy="13726"/>
            <a:chOff x="0" y="0"/>
            <a:chExt cx="8236039" cy="1830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236077" cy="18288"/>
            </a:xfrm>
            <a:custGeom>
              <a:avLst/>
              <a:gdLst/>
              <a:ahLst/>
              <a:cxnLst/>
              <a:rect l="l" t="t" r="r" b="b"/>
              <a:pathLst>
                <a:path w="8236077" h="18288">
                  <a:moveTo>
                    <a:pt x="0" y="0"/>
                  </a:moveTo>
                  <a:lnTo>
                    <a:pt x="8236077" y="0"/>
                  </a:lnTo>
                  <a:lnTo>
                    <a:pt x="8236077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4971" y="8354039"/>
            <a:ext cx="617706" cy="21965"/>
            <a:chOff x="0" y="0"/>
            <a:chExt cx="823608" cy="2928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4971" y="8477579"/>
            <a:ext cx="617706" cy="411804"/>
            <a:chOff x="0" y="0"/>
            <a:chExt cx="823608" cy="54907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82360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413853" y="8450128"/>
            <a:ext cx="5518147" cy="411804"/>
            <a:chOff x="0" y="0"/>
            <a:chExt cx="7357529" cy="54907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357524" cy="549069"/>
            </a:xfrm>
            <a:custGeom>
              <a:avLst/>
              <a:gdLst/>
              <a:ahLst/>
              <a:cxnLst/>
              <a:rect l="l" t="t" r="r" b="b"/>
              <a:pathLst>
                <a:path w="7357524" h="549069">
                  <a:moveTo>
                    <a:pt x="0" y="0"/>
                  </a:moveTo>
                  <a:lnTo>
                    <a:pt x="7357524" y="0"/>
                  </a:lnTo>
                  <a:lnTo>
                    <a:pt x="735752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99" b="-21109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7357529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Ordinary compute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505293" y="8929778"/>
            <a:ext cx="5239179" cy="778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Compiled code, not per-token inference. A fraction of the cost.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695690" y="5916644"/>
            <a:ext cx="10157774" cy="2293696"/>
            <a:chOff x="0" y="0"/>
            <a:chExt cx="13543699" cy="3058262"/>
          </a:xfrm>
        </p:grpSpPr>
        <p:sp>
          <p:nvSpPr>
            <p:cNvPr id="57" name="Freeform 57" descr="/Users/hstrauss/Documents/GitHub/belvedere-pm/output/deck-rebuild/illus/envs.png"/>
            <p:cNvSpPr/>
            <p:nvPr/>
          </p:nvSpPr>
          <p:spPr>
            <a:xfrm>
              <a:off x="0" y="0"/>
              <a:ext cx="13543662" cy="3058287"/>
            </a:xfrm>
            <a:custGeom>
              <a:avLst/>
              <a:gdLst/>
              <a:ahLst/>
              <a:cxnLst/>
              <a:rect l="l" t="t" r="r" b="b"/>
              <a:pathLst>
                <a:path w="13543662" h="3058287">
                  <a:moveTo>
                    <a:pt x="0" y="0"/>
                  </a:moveTo>
                  <a:lnTo>
                    <a:pt x="13543662" y="0"/>
                  </a:lnTo>
                  <a:lnTo>
                    <a:pt x="13543662" y="3058287"/>
                  </a:lnTo>
                  <a:lnTo>
                    <a:pt x="0" y="3058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768756" y="8375056"/>
            <a:ext cx="3294412" cy="329441"/>
            <a:chOff x="0" y="0"/>
            <a:chExt cx="4392549" cy="43925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392552" cy="439255"/>
            </a:xfrm>
            <a:custGeom>
              <a:avLst/>
              <a:gdLst/>
              <a:ahLst/>
              <a:cxnLst/>
              <a:rect l="l" t="t" r="r" b="b"/>
              <a:pathLst>
                <a:path w="4392552" h="439255">
                  <a:moveTo>
                    <a:pt x="0" y="0"/>
                  </a:moveTo>
                  <a:lnTo>
                    <a:pt x="4392552" y="0"/>
                  </a:lnTo>
                  <a:lnTo>
                    <a:pt x="4392552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4392549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53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75" b="0" i="0" u="none" strike="noStrike" kern="1200" cap="none" spc="22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CLOUD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127366" y="8375056"/>
            <a:ext cx="3294412" cy="329441"/>
            <a:chOff x="0" y="0"/>
            <a:chExt cx="4392549" cy="43925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392552" cy="439255"/>
            </a:xfrm>
            <a:custGeom>
              <a:avLst/>
              <a:gdLst/>
              <a:ahLst/>
              <a:cxnLst/>
              <a:rect l="l" t="t" r="r" b="b"/>
              <a:pathLst>
                <a:path w="4392552" h="439255">
                  <a:moveTo>
                    <a:pt x="0" y="0"/>
                  </a:moveTo>
                  <a:lnTo>
                    <a:pt x="4392552" y="0"/>
                  </a:lnTo>
                  <a:lnTo>
                    <a:pt x="4392552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4392549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53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75" b="0" i="0" u="none" strike="noStrike" kern="1200" cap="none" spc="22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ON-PREMISES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485986" y="8375056"/>
            <a:ext cx="3294412" cy="329441"/>
            <a:chOff x="0" y="0"/>
            <a:chExt cx="4392549" cy="43925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392552" cy="439255"/>
            </a:xfrm>
            <a:custGeom>
              <a:avLst/>
              <a:gdLst/>
              <a:ahLst/>
              <a:cxnLst/>
              <a:rect l="l" t="t" r="r" b="b"/>
              <a:pathLst>
                <a:path w="4392552" h="439255">
                  <a:moveTo>
                    <a:pt x="0" y="0"/>
                  </a:moveTo>
                  <a:lnTo>
                    <a:pt x="4392552" y="0"/>
                  </a:lnTo>
                  <a:lnTo>
                    <a:pt x="4392552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4392549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53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75" b="0" i="0" u="none" strike="noStrike" kern="1200" cap="none" spc="22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AIR-GAPPED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2"/>
            <a:chOff x="0" y="0"/>
            <a:chExt cx="17387189" cy="5490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6"/>
            </a:xfrm>
            <a:custGeom>
              <a:avLst/>
              <a:gdLst/>
              <a:ahLst/>
              <a:cxnLst/>
              <a:rect l="l" t="t" r="r" b="b"/>
              <a:pathLst>
                <a:path w="17387184" h="549066">
                  <a:moveTo>
                    <a:pt x="0" y="0"/>
                  </a:moveTo>
                  <a:lnTo>
                    <a:pt x="17387184" y="0"/>
                  </a:lnTo>
                  <a:lnTo>
                    <a:pt x="1738718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9" b="-5670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OUR METHODOLOGY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9"/>
            <a:chOff x="0" y="0"/>
            <a:chExt cx="20681594" cy="11347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3"/>
            </a:xfrm>
            <a:custGeom>
              <a:avLst/>
              <a:gdLst/>
              <a:ahLst/>
              <a:cxnLst/>
              <a:rect l="l" t="t" r="r" b="b"/>
              <a:pathLst>
                <a:path w="20681598" h="1134743">
                  <a:moveTo>
                    <a:pt x="0" y="0"/>
                  </a:moveTo>
                  <a:lnTo>
                    <a:pt x="20681598" y="0"/>
                  </a:lnTo>
                  <a:lnTo>
                    <a:pt x="2068159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0" b="-3051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The Speed of AI, with </a:t>
              </a: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Engineering Discipline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17002" y="466706"/>
            <a:ext cx="1329867" cy="1386402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6"/>
            <a:chOff x="0" y="0"/>
            <a:chExt cx="21962758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78"/>
            </a:xfrm>
            <a:custGeom>
              <a:avLst/>
              <a:gdLst/>
              <a:ahLst/>
              <a:cxnLst/>
              <a:rect l="l" t="t" r="r" b="b"/>
              <a:pathLst>
                <a:path w="21962759" h="622278">
                  <a:moveTo>
                    <a:pt x="0" y="0"/>
                  </a:moveTo>
                  <a:lnTo>
                    <a:pt x="21962759" y="0"/>
                  </a:lnTo>
                  <a:lnTo>
                    <a:pt x="2196275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7" b="-63770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What the agentic approach delivers, and the rules it never breaks.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773431"/>
            <a:ext cx="18301840" cy="343167"/>
            <a:chOff x="0" y="0"/>
            <a:chExt cx="24402453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3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1200" cap="none" spc="450" normalizeH="0" baseline="0" noProof="0">
                  <a:ln>
                    <a:noFill/>
                  </a:ln>
                  <a:solidFill>
                    <a:srgbClr val="8590B3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4971" y="2749458"/>
            <a:ext cx="16791899" cy="13726"/>
            <a:chOff x="0" y="0"/>
            <a:chExt cx="22389198" cy="183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4971" y="2745343"/>
            <a:ext cx="617706" cy="21965"/>
            <a:chOff x="0" y="0"/>
            <a:chExt cx="823608" cy="292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4971" y="2868882"/>
            <a:ext cx="617706" cy="411804"/>
            <a:chOff x="0" y="0"/>
            <a:chExt cx="823608" cy="54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32744" y="2859700"/>
            <a:ext cx="3523336" cy="84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From intent to deployable code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82126" y="2872302"/>
            <a:ext cx="11873303" cy="110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Plain language in. </a:t>
            </a:r>
            <a:r>
              <a:rPr kumimoji="0" lang="en-US" sz="1726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Visual workflows and tested pipeline code</a:t>
            </a: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 out, with a full audit trail.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54971" y="4039772"/>
            <a:ext cx="16791899" cy="13726"/>
            <a:chOff x="0" y="0"/>
            <a:chExt cx="22389198" cy="1830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4971" y="4035657"/>
            <a:ext cx="617706" cy="21965"/>
            <a:chOff x="0" y="0"/>
            <a:chExt cx="823608" cy="2928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4971" y="4159196"/>
            <a:ext cx="617706" cy="411804"/>
            <a:chOff x="0" y="0"/>
            <a:chExt cx="823608" cy="549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32744" y="4150014"/>
            <a:ext cx="3523336" cy="84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Deterministic in production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82126" y="4162615"/>
            <a:ext cx="11873303" cy="110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Agents design; </a:t>
            </a:r>
            <a:r>
              <a:rPr kumimoji="0" lang="en-US" sz="1726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approved, tested code</a:t>
            </a: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 executes. Production never improvises.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54971" y="5330085"/>
            <a:ext cx="16791899" cy="13726"/>
            <a:chOff x="0" y="0"/>
            <a:chExt cx="22389198" cy="1830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4971" y="5325970"/>
            <a:ext cx="617706" cy="21965"/>
            <a:chOff x="0" y="0"/>
            <a:chExt cx="823608" cy="292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4971" y="5449510"/>
            <a:ext cx="617706" cy="411804"/>
            <a:chOff x="0" y="0"/>
            <a:chExt cx="823608" cy="5490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532744" y="5440318"/>
            <a:ext cx="3523336" cy="84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A fraction of the cost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82126" y="5452929"/>
            <a:ext cx="11873303" cy="110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No per-token inference on every row. </a:t>
            </a:r>
            <a:r>
              <a:rPr kumimoji="0" lang="en-US" sz="1726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Ordinary code on ordinary compute</a:t>
            </a: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754971" y="6620399"/>
            <a:ext cx="16791899" cy="13726"/>
            <a:chOff x="0" y="0"/>
            <a:chExt cx="22389198" cy="1830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54971" y="6616284"/>
            <a:ext cx="617706" cy="21965"/>
            <a:chOff x="0" y="0"/>
            <a:chExt cx="823608" cy="2928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54971" y="6739823"/>
            <a:ext cx="617706" cy="411804"/>
            <a:chOff x="0" y="0"/>
            <a:chExt cx="823608" cy="54907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04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532744" y="6730632"/>
            <a:ext cx="3523336" cy="84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People stay in command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582126" y="6743243"/>
            <a:ext cx="11873303" cy="110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Agents propose. </a:t>
            </a:r>
            <a:r>
              <a:rPr kumimoji="0" lang="en-US" sz="1726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Your team approves every change</a:t>
            </a: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754971" y="7910713"/>
            <a:ext cx="16791899" cy="13726"/>
            <a:chOff x="0" y="0"/>
            <a:chExt cx="22389198" cy="1830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54971" y="7906598"/>
            <a:ext cx="617706" cy="21965"/>
            <a:chOff x="0" y="0"/>
            <a:chExt cx="823608" cy="2928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54971" y="8030137"/>
            <a:ext cx="617706" cy="411804"/>
            <a:chOff x="0" y="0"/>
            <a:chExt cx="823608" cy="54907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05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532744" y="8020945"/>
            <a:ext cx="3523336" cy="84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Built for hard environments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82126" y="8033556"/>
            <a:ext cx="11873303" cy="110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Cloud, on-prem, or fully </a:t>
            </a:r>
            <a:r>
              <a:rPr kumimoji="0" lang="en-US" sz="1726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air-gapped</a:t>
            </a: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. Your data never leaves your enclave.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754971" y="9196902"/>
            <a:ext cx="16791899" cy="15097"/>
            <a:chOff x="0" y="0"/>
            <a:chExt cx="22389198" cy="2013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3040392" cy="411802"/>
            <a:chOff x="0" y="0"/>
            <a:chExt cx="17387189" cy="5490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7184" cy="549066"/>
            </a:xfrm>
            <a:custGeom>
              <a:avLst/>
              <a:gdLst/>
              <a:ahLst/>
              <a:cxnLst/>
              <a:rect l="l" t="t" r="r" b="b"/>
              <a:pathLst>
                <a:path w="17387184" h="549066">
                  <a:moveTo>
                    <a:pt x="0" y="0"/>
                  </a:moveTo>
                  <a:lnTo>
                    <a:pt x="17387184" y="0"/>
                  </a:lnTo>
                  <a:lnTo>
                    <a:pt x="17387184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29" b="-5670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8718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1" b="0" i="0" u="none" strike="noStrike" kern="1200" cap="none" spc="375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NOW WHAT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794" y="796147"/>
            <a:ext cx="15511196" cy="851059"/>
            <a:chOff x="0" y="0"/>
            <a:chExt cx="20681594" cy="11347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81598" cy="1134743"/>
            </a:xfrm>
            <a:custGeom>
              <a:avLst/>
              <a:gdLst/>
              <a:ahLst/>
              <a:cxnLst/>
              <a:rect l="l" t="t" r="r" b="b"/>
              <a:pathLst>
                <a:path w="20681598" h="1134743">
                  <a:moveTo>
                    <a:pt x="0" y="0"/>
                  </a:moveTo>
                  <a:lnTo>
                    <a:pt x="20681598" y="0"/>
                  </a:lnTo>
                  <a:lnTo>
                    <a:pt x="2068159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130" b="-30513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81594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468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Where Teams </a:t>
              </a:r>
              <a:r>
                <a:rPr kumimoji="0" lang="en-US" sz="3903" b="1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Start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17002" y="466706"/>
            <a:ext cx="1329867" cy="1386402"/>
            <a:chOff x="0" y="0"/>
            <a:chExt cx="1053363" cy="1098144"/>
          </a:xfrm>
        </p:grpSpPr>
        <p:sp>
          <p:nvSpPr>
            <p:cNvPr id="9" name="Freeform 9" descr="/Users/hstrauss/Documents/GitHub/belvedere-pm/output/deck-rebuild/belv_mark.png"/>
            <p:cNvSpPr/>
            <p:nvPr/>
          </p:nvSpPr>
          <p:spPr>
            <a:xfrm>
              <a:off x="0" y="0"/>
              <a:ext cx="1053338" cy="1098169"/>
            </a:xfrm>
            <a:custGeom>
              <a:avLst/>
              <a:gdLst/>
              <a:ahLst/>
              <a:cxnLst/>
              <a:rect l="l" t="t" r="r" b="b"/>
              <a:pathLst>
                <a:path w="1053338" h="1098169">
                  <a:moveTo>
                    <a:pt x="0" y="0"/>
                  </a:moveTo>
                  <a:lnTo>
                    <a:pt x="1053338" y="0"/>
                  </a:lnTo>
                  <a:lnTo>
                    <a:pt x="1053338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520" y="1619755"/>
            <a:ext cx="16472068" cy="466709"/>
            <a:chOff x="0" y="0"/>
            <a:chExt cx="21962758" cy="6222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622282"/>
            </a:xfrm>
            <a:custGeom>
              <a:avLst/>
              <a:gdLst/>
              <a:ahLst/>
              <a:cxnLst/>
              <a:rect l="l" t="t" r="r" b="b"/>
              <a:pathLst>
                <a:path w="21962759" h="622282">
                  <a:moveTo>
                    <a:pt x="0" y="0"/>
                  </a:moveTo>
                  <a:lnTo>
                    <a:pt x="21962759" y="0"/>
                  </a:lnTo>
                  <a:lnTo>
                    <a:pt x="21962759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03" b="-63770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631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234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1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Common starting places for Belvedere.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971" y="2168823"/>
            <a:ext cx="16791899" cy="15097"/>
            <a:chOff x="0" y="0"/>
            <a:chExt cx="22389198" cy="20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773431"/>
            <a:ext cx="18301840" cy="343167"/>
            <a:chOff x="0" y="0"/>
            <a:chExt cx="24402453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2455" cy="457557"/>
            </a:xfrm>
            <a:custGeom>
              <a:avLst/>
              <a:gdLst/>
              <a:ahLst/>
              <a:cxnLst/>
              <a:rect l="l" t="t" r="r" b="b"/>
              <a:pathLst>
                <a:path w="24402455" h="457557">
                  <a:moveTo>
                    <a:pt x="0" y="0"/>
                  </a:moveTo>
                  <a:lnTo>
                    <a:pt x="24402455" y="0"/>
                  </a:lnTo>
                  <a:lnTo>
                    <a:pt x="244024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9176" b="-98917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402453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3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1200" cap="none" spc="450" normalizeH="0" baseline="0" noProof="0">
                  <a:ln>
                    <a:noFill/>
                  </a:ln>
                  <a:solidFill>
                    <a:srgbClr val="8590B3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CLEARFRACTURE.AI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4971" y="2749458"/>
            <a:ext cx="16791899" cy="13726"/>
            <a:chOff x="0" y="0"/>
            <a:chExt cx="22389198" cy="183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4971" y="2745343"/>
            <a:ext cx="617706" cy="21965"/>
            <a:chOff x="0" y="0"/>
            <a:chExt cx="823608" cy="292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4971" y="2868882"/>
            <a:ext cx="617706" cy="411804"/>
            <a:chOff x="0" y="0"/>
            <a:chExt cx="823608" cy="54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32744" y="2859700"/>
            <a:ext cx="3523336" cy="84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Migration &amp; sync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82126" y="2872302"/>
            <a:ext cx="11873303" cy="274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+mn-cs"/>
                <a:sym typeface="Inter"/>
              </a:rPr>
              <a:t>Semantically map schemas</a:t>
            </a:r>
            <a:r>
              <a:rPr kumimoji="0" lang="en-US" sz="172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, build the pipelines, prove parity.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54971" y="4039772"/>
            <a:ext cx="16791899" cy="13726"/>
            <a:chOff x="0" y="0"/>
            <a:chExt cx="22389198" cy="1830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4971" y="4035657"/>
            <a:ext cx="617706" cy="21965"/>
            <a:chOff x="0" y="0"/>
            <a:chExt cx="823608" cy="2928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4971" y="4159196"/>
            <a:ext cx="617706" cy="411804"/>
            <a:chOff x="0" y="0"/>
            <a:chExt cx="823608" cy="549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32744" y="4150014"/>
            <a:ext cx="3523336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“Junk drawer” clean-up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82126" y="4162615"/>
            <a:ext cx="11873303" cy="274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Scattered raw files are organized and become </a:t>
            </a:r>
            <a:r>
              <a:rPr kumimoji="0" lang="en-US" sz="1726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data you can query</a:t>
            </a:r>
            <a:r>
              <a:rPr kumimoji="0" lang="en-US" sz="172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54971" y="5330085"/>
            <a:ext cx="16791899" cy="13726"/>
            <a:chOff x="0" y="0"/>
            <a:chExt cx="22389198" cy="1830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4971" y="5325970"/>
            <a:ext cx="617706" cy="21965"/>
            <a:chOff x="0" y="0"/>
            <a:chExt cx="823608" cy="292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4971" y="5449510"/>
            <a:ext cx="617706" cy="411804"/>
            <a:chOff x="0" y="0"/>
            <a:chExt cx="823608" cy="5490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532744" y="5440318"/>
            <a:ext cx="3523336" cy="84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Test &amp; evaluation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82126" y="5452929"/>
            <a:ext cx="11873303" cy="56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+mn-cs"/>
                <a:sym typeface="Inter"/>
              </a:rPr>
              <a:t>Easily arrange components </a:t>
            </a:r>
            <a:r>
              <a:rPr kumimoji="0" lang="en-US" sz="172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to be tested in any desired configuration. Standardize telemetry for every run, so teams </a:t>
            </a:r>
            <a:r>
              <a:rPr kumimoji="0" lang="en-US" sz="172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+mn-cs"/>
                <a:sym typeface="Inter Bold"/>
              </a:rPr>
              <a:t>compare apples to apples</a:t>
            </a:r>
            <a:r>
              <a:rPr kumimoji="0" lang="en-US" sz="172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+mn-cs"/>
                <a:sym typeface="Inter"/>
              </a:rPr>
              <a:t>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754971" y="6620399"/>
            <a:ext cx="16791899" cy="13726"/>
            <a:chOff x="0" y="0"/>
            <a:chExt cx="22389198" cy="1830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54971" y="6616284"/>
            <a:ext cx="617706" cy="21965"/>
            <a:chOff x="0" y="0"/>
            <a:chExt cx="823608" cy="2928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54971" y="6739823"/>
            <a:ext cx="617706" cy="411804"/>
            <a:chOff x="0" y="0"/>
            <a:chExt cx="823608" cy="54907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04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532744" y="6730632"/>
            <a:ext cx="3523336" cy="84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Entity resolution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582126" y="6743243"/>
            <a:ext cx="11873303" cy="110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Scattered records become </a:t>
            </a:r>
            <a:r>
              <a:rPr kumimoji="0" lang="en-US" sz="1726" b="1" i="0" u="none" strike="noStrike" kern="1200" cap="none" spc="0" normalizeH="0" baseline="0" noProof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one full picture</a:t>
            </a:r>
            <a:r>
              <a:rPr kumimoji="0" lang="en-US" sz="1726" b="0" i="0" u="none" strike="noStrike" kern="1200" cap="none" spc="0" normalizeH="0" baseline="0" noProof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 of a person, asset, or account.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754971" y="7910713"/>
            <a:ext cx="16791899" cy="13726"/>
            <a:chOff x="0" y="0"/>
            <a:chExt cx="22389198" cy="1830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389212" cy="18288"/>
            </a:xfrm>
            <a:custGeom>
              <a:avLst/>
              <a:gdLst/>
              <a:ahLst/>
              <a:cxnLst/>
              <a:rect l="l" t="t" r="r" b="b"/>
              <a:pathLst>
                <a:path w="22389212" h="18288">
                  <a:moveTo>
                    <a:pt x="0" y="0"/>
                  </a:moveTo>
                  <a:lnTo>
                    <a:pt x="22389212" y="0"/>
                  </a:lnTo>
                  <a:lnTo>
                    <a:pt x="223892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54971" y="7906598"/>
            <a:ext cx="617706" cy="21965"/>
            <a:chOff x="0" y="0"/>
            <a:chExt cx="823608" cy="2928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23595" cy="29337"/>
            </a:xfrm>
            <a:custGeom>
              <a:avLst/>
              <a:gdLst/>
              <a:ahLst/>
              <a:cxnLst/>
              <a:rect l="l" t="t" r="r" b="b"/>
              <a:pathLst>
                <a:path w="823595" h="29337">
                  <a:moveTo>
                    <a:pt x="0" y="0"/>
                  </a:moveTo>
                  <a:lnTo>
                    <a:pt x="823595" y="0"/>
                  </a:lnTo>
                  <a:lnTo>
                    <a:pt x="823595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F2C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54971" y="8030137"/>
            <a:ext cx="617706" cy="411804"/>
            <a:chOff x="0" y="0"/>
            <a:chExt cx="823608" cy="54907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23603" cy="549069"/>
            </a:xfrm>
            <a:custGeom>
              <a:avLst/>
              <a:gdLst/>
              <a:ahLst/>
              <a:cxnLst/>
              <a:rect l="l" t="t" r="r" b="b"/>
              <a:pathLst>
                <a:path w="823603" h="549069">
                  <a:moveTo>
                    <a:pt x="0" y="0"/>
                  </a:moveTo>
                  <a:lnTo>
                    <a:pt x="823603" y="0"/>
                  </a:lnTo>
                  <a:lnTo>
                    <a:pt x="82360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r="-3553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82360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9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76" b="0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05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532744" y="8020945"/>
            <a:ext cx="3523336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1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Sensor fusion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82126" y="8033556"/>
            <a:ext cx="11873303" cy="56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6" b="1" i="0" u="none" strike="noStrike" kern="1200" cap="none" spc="0" normalizeH="0" baseline="0" noProof="0" dirty="0">
                <a:ln>
                  <a:noFill/>
                </a:ln>
                <a:solidFill>
                  <a:srgbClr val="F0F1F4"/>
                </a:solidFill>
                <a:effectLst/>
                <a:uLnTx/>
                <a:uFillTx/>
                <a:latin typeface="Inter Bold"/>
                <a:ea typeface="Inter Bold"/>
                <a:cs typeface="Inter Bold"/>
                <a:sym typeface="Inter Bold"/>
              </a:rPr>
              <a:t>Define new data cubes </a:t>
            </a:r>
            <a:r>
              <a:rPr kumimoji="0" lang="en-US" sz="1726" b="0" i="0" u="none" strike="noStrike" kern="1200" cap="none" spc="0" normalizeH="0" baseline="0" noProof="0" dirty="0">
                <a:ln>
                  <a:noFill/>
                </a:ln>
                <a:solidFill>
                  <a:srgbClr val="9BA4BE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as mission asks different questions or new feed become available. No need to deploy developers to the edge.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754971" y="9196902"/>
            <a:ext cx="16791899" cy="15097"/>
            <a:chOff x="0" y="0"/>
            <a:chExt cx="22389198" cy="2013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389212" cy="20193"/>
            </a:xfrm>
            <a:custGeom>
              <a:avLst/>
              <a:gdLst/>
              <a:ahLst/>
              <a:cxnLst/>
              <a:rect l="l" t="t" r="r" b="b"/>
              <a:pathLst>
                <a:path w="22389212" h="20193">
                  <a:moveTo>
                    <a:pt x="0" y="0"/>
                  </a:moveTo>
                  <a:lnTo>
                    <a:pt x="22389212" y="0"/>
                  </a:lnTo>
                  <a:lnTo>
                    <a:pt x="22389212" y="20193"/>
                  </a:lnTo>
                  <a:lnTo>
                    <a:pt x="0" y="20193"/>
                  </a:lnTo>
                  <a:close/>
                </a:path>
              </a:pathLst>
            </a:custGeom>
            <a:solidFill>
              <a:srgbClr val="1A2D5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44840" y="1310639"/>
            <a:ext cx="2015382" cy="2101056"/>
            <a:chOff x="0" y="0"/>
            <a:chExt cx="1492263" cy="1555699"/>
          </a:xfrm>
        </p:grpSpPr>
        <p:sp>
          <p:nvSpPr>
            <p:cNvPr id="3" name="Freeform 3" descr="/Users/hstrauss/Documents/GitHub/belvedere-pm/output/deck-rebuild/belv_mark.png"/>
            <p:cNvSpPr/>
            <p:nvPr/>
          </p:nvSpPr>
          <p:spPr>
            <a:xfrm>
              <a:off x="0" y="0"/>
              <a:ext cx="1492250" cy="1555750"/>
            </a:xfrm>
            <a:custGeom>
              <a:avLst/>
              <a:gdLst/>
              <a:ahLst/>
              <a:cxnLst/>
              <a:rect l="l" t="t" r="r" b="b"/>
              <a:pathLst>
                <a:path w="1492250" h="1555750">
                  <a:moveTo>
                    <a:pt x="0" y="0"/>
                  </a:moveTo>
                  <a:lnTo>
                    <a:pt x="1492250" y="0"/>
                  </a:lnTo>
                  <a:lnTo>
                    <a:pt x="1492250" y="1555750"/>
                  </a:lnTo>
                  <a:lnTo>
                    <a:pt x="0" y="155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3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366" y="3478370"/>
            <a:ext cx="15007428" cy="2196274"/>
            <a:chOff x="0" y="0"/>
            <a:chExt cx="20009904" cy="29283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009903" cy="2928368"/>
            </a:xfrm>
            <a:custGeom>
              <a:avLst/>
              <a:gdLst/>
              <a:ahLst/>
              <a:cxnLst/>
              <a:rect l="l" t="t" r="r" b="b"/>
              <a:pathLst>
                <a:path w="20009903" h="2928368">
                  <a:moveTo>
                    <a:pt x="0" y="0"/>
                  </a:moveTo>
                  <a:lnTo>
                    <a:pt x="20009903" y="0"/>
                  </a:lnTo>
                  <a:lnTo>
                    <a:pt x="20009903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3143" b="-83143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0009904" cy="2985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3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Belvedere Brings </a:t>
              </a:r>
              <a:r>
                <a:rPr kumimoji="0" lang="en-US" sz="4803" b="1" i="0" u="none" strike="noStrike" kern="1200" cap="none" spc="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AI-Native Data Operations</a:t>
              </a:r>
              <a:r>
                <a:rPr kumimoji="0" lang="en-US" sz="4803" b="1" i="0" u="none" strike="noStrike" kern="1200" cap="none" spc="0" normalizeH="0" baseline="0" noProof="0">
                  <a:ln>
                    <a:noFill/>
                  </a:ln>
                  <a:solidFill>
                    <a:srgbClr val="F0F1F4"/>
                  </a:solidFill>
                  <a:effectLst/>
                  <a:uLnTx/>
                  <a:uFillTx/>
                  <a:latin typeface="Inter Bold"/>
                  <a:ea typeface="Inter Bold"/>
                  <a:cs typeface="Inter Bold"/>
                  <a:sym typeface="Inter Bold"/>
                </a:rPr>
                <a:t> to Complex Organizations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70590" y="6282815"/>
            <a:ext cx="2132981" cy="2132981"/>
            <a:chOff x="0" y="0"/>
            <a:chExt cx="2843974" cy="28439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43911" cy="2843911"/>
            </a:xfrm>
            <a:custGeom>
              <a:avLst/>
              <a:gdLst/>
              <a:ahLst/>
              <a:cxnLst/>
              <a:rect l="l" t="t" r="r" b="b"/>
              <a:pathLst>
                <a:path w="2843911" h="2843911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2733167" y="0"/>
                  </a:lnTo>
                  <a:cubicBezTo>
                    <a:pt x="2794381" y="0"/>
                    <a:pt x="2843911" y="49657"/>
                    <a:pt x="2843911" y="110744"/>
                  </a:cubicBezTo>
                  <a:lnTo>
                    <a:pt x="2843911" y="2733167"/>
                  </a:lnTo>
                  <a:cubicBezTo>
                    <a:pt x="2843911" y="2794381"/>
                    <a:pt x="2794254" y="2843911"/>
                    <a:pt x="2733167" y="2843911"/>
                  </a:cubicBezTo>
                  <a:lnTo>
                    <a:pt x="110744" y="2843911"/>
                  </a:lnTo>
                  <a:cubicBezTo>
                    <a:pt x="49530" y="2843911"/>
                    <a:pt x="0" y="2794254"/>
                    <a:pt x="0" y="273316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1A2D5A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44840" y="6457066"/>
            <a:ext cx="1784471" cy="1784471"/>
            <a:chOff x="0" y="0"/>
            <a:chExt cx="2379294" cy="2379294"/>
          </a:xfrm>
        </p:grpSpPr>
        <p:sp>
          <p:nvSpPr>
            <p:cNvPr id="10" name="Freeform 10" descr="/Users/hstrauss/Documents/GitHub/belvedere-pm/output/deck-rebuild/illus/qr_deck.png"/>
            <p:cNvSpPr/>
            <p:nvPr/>
          </p:nvSpPr>
          <p:spPr>
            <a:xfrm>
              <a:off x="0" y="0"/>
              <a:ext cx="2379345" cy="2379345"/>
            </a:xfrm>
            <a:custGeom>
              <a:avLst/>
              <a:gdLst/>
              <a:ahLst/>
              <a:cxnLst/>
              <a:rect l="l" t="t" r="r" b="b"/>
              <a:pathLst>
                <a:path w="2379345" h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2379345"/>
                  </a:lnTo>
                  <a:lnTo>
                    <a:pt x="0" y="2379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3840" y="8625889"/>
            <a:ext cx="18301840" cy="411804"/>
            <a:chOff x="0" y="0"/>
            <a:chExt cx="24402453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02455" cy="549069"/>
            </a:xfrm>
            <a:custGeom>
              <a:avLst/>
              <a:gdLst/>
              <a:ahLst/>
              <a:cxnLst/>
              <a:rect l="l" t="t" r="r" b="b"/>
              <a:pathLst>
                <a:path w="24402455" h="549069">
                  <a:moveTo>
                    <a:pt x="0" y="0"/>
                  </a:moveTo>
                  <a:lnTo>
                    <a:pt x="24402455" y="0"/>
                  </a:lnTo>
                  <a:lnTo>
                    <a:pt x="2440245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15979" b="-81598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440245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8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1" b="0" i="0" u="none" strike="noStrike" kern="1200" cap="none" spc="450" normalizeH="0" baseline="0" noProof="0">
                  <a:ln>
                    <a:noFill/>
                  </a:ln>
                  <a:solidFill>
                    <a:srgbClr val="FFF2C2"/>
                  </a:solidFill>
                  <a:effectLst/>
                  <a:uLnTx/>
                  <a:uFillTx/>
                  <a:latin typeface="JetBrains Mono"/>
                  <a:ea typeface="JetBrains Mono"/>
                  <a:cs typeface="JetBrains Mono"/>
                  <a:sym typeface="JetBrains Mono"/>
                </a:rPr>
                <a:t>GET A DEMO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13840" y="9025396"/>
            <a:ext cx="18301840" cy="411804"/>
            <a:chOff x="0" y="0"/>
            <a:chExt cx="24402453" cy="5490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402455" cy="549069"/>
            </a:xfrm>
            <a:custGeom>
              <a:avLst/>
              <a:gdLst/>
              <a:ahLst/>
              <a:cxnLst/>
              <a:rect l="l" t="t" r="r" b="b"/>
              <a:pathLst>
                <a:path w="24402455" h="549069">
                  <a:moveTo>
                    <a:pt x="0" y="0"/>
                  </a:moveTo>
                  <a:lnTo>
                    <a:pt x="24402455" y="0"/>
                  </a:lnTo>
                  <a:lnTo>
                    <a:pt x="2440245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15979" b="-815980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440245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1" b="0" i="0" u="none" strike="noStrike" kern="1200" cap="none" spc="0" normalizeH="0" baseline="0" noProof="0">
                  <a:ln>
                    <a:noFill/>
                  </a:ln>
                  <a:solidFill>
                    <a:srgbClr val="9BA4BE"/>
                  </a:solidFill>
                  <a:effectLst/>
                  <a:uLnTx/>
                  <a:uFillTx/>
                  <a:latin typeface="Inter"/>
                  <a:ea typeface="Inter"/>
                  <a:cs typeface="Inter"/>
                  <a:sym typeface="Inter"/>
                </a:rPr>
                <a:t>clearfracture.ai/demo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3361290E94BC43AAB185CA3B44A33C" ma:contentTypeVersion="7" ma:contentTypeDescription="Create a new document." ma:contentTypeScope="" ma:versionID="976805a03bebb23bd04cf1bfe4cc27d7">
  <xsd:schema xmlns:xsd="http://www.w3.org/2001/XMLSchema" xmlns:xs="http://www.w3.org/2001/XMLSchema" xmlns:p="http://schemas.microsoft.com/office/2006/metadata/properties" xmlns:ns2="7deb8cea-99ff-4b5f-ae46-4391d6437ec0" targetNamespace="http://schemas.microsoft.com/office/2006/metadata/properties" ma:root="true" ma:fieldsID="37df113e3bdcef356ef3c5afe17928bb" ns2:_="">
    <xsd:import namespace="7deb8cea-99ff-4b5f-ae46-4391d6437e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b8cea-99ff-4b5f-ae46-4391d6437e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4F3ECA-B9DC-483D-9FE0-60DF35EE17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FFDC5A-3E4D-4807-B172-98CFBEE3B9A2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deb8cea-99ff-4b5f-ae46-4391d6437ec0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6E1B802-CA16-404B-8869-53CCB46AD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eb8cea-99ff-4b5f-ae46-4391d6437e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1165</Words>
  <Application>Microsoft Office PowerPoint</Application>
  <PresentationFormat>Custom</PresentationFormat>
  <Paragraphs>234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Inter</vt:lpstr>
      <vt:lpstr>Calibri</vt:lpstr>
      <vt:lpstr>JetBrains Mono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Belvedere Presentation Deck (July 2026) - FINAL</dc:title>
  <cp:lastModifiedBy>Brian Frutchey</cp:lastModifiedBy>
  <cp:revision>10</cp:revision>
  <dcterms:created xsi:type="dcterms:W3CDTF">2006-08-16T00:00:00Z</dcterms:created>
  <dcterms:modified xsi:type="dcterms:W3CDTF">2026-10-02T13:38:59Z</dcterms:modified>
  <dc:identifier>DAHQzsjMlRk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0x0101005B3361290E94BC43AAB185CA3B44A33C</vt:lpwstr>
  </property>
  <property fmtid="{D5CDD505-2E9C-101B-9397-08002B2CF9AE}" pid="3" name="xd_ProgID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
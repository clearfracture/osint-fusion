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org&amp;utm_campaign=index&amp;utm_content=thumbnail" ContentType="image/pn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12"/>
  </p:notesMasterIdLst>
  <p:sldIdLst>
    <p:sldId id="256" r:id="rId5"/>
    <p:sldId id="257" r:id="rId6"/>
    <p:sldId id="258" r:id="rId7"/>
    <p:sldId id="281" r:id="rId8"/>
    <p:sldId id="259" r:id="rId9"/>
    <p:sldId id="260" r:id="rId10"/>
    <p:sldId id="275" r:id="rId11"/>
  </p:sldIdLst>
  <p:sldSz cx="18288000" cy="10287000"/>
  <p:notesSz cx="6858000" cy="9144000"/>
  <p:embeddedFontLst>
    <p:embeddedFont>
      <p:font typeface="Inter" panose="020B0604020202020204" charset="0"/>
      <p:regular r:id="rId13"/>
    </p:embeddedFont>
    <p:embeddedFont>
      <p:font typeface="Inter Bold" panose="020B0604020202020204" charset="0"/>
      <p:regular r:id="rId14"/>
    </p:embeddedFont>
    <p:embeddedFont>
      <p:font typeface="JetBrains Mono" panose="020B060402020202020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8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1" d="100"/>
          <a:sy n="71" d="100"/>
        </p:scale>
        <p:origin x="278" y="67"/>
      </p:cViewPr>
      <p:guideLst>
        <p:guide orient="horz" pos="1368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font" Target="fonts/font3.fntdata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font" Target="fonts/font2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ian Frutchey" userId="3c3bca74-dbde-4e2a-8ba1-07cb39e1a6ed" providerId="ADAL" clId="{C4A12807-0975-4D8E-A12E-963B46B5BB56}"/>
    <pc:docChg chg="modSld">
      <pc:chgData name="Brian Frutchey" userId="3c3bca74-dbde-4e2a-8ba1-07cb39e1a6ed" providerId="ADAL" clId="{C4A12807-0975-4D8E-A12E-963B46B5BB56}" dt="2026-08-17T11:20:59.612" v="106" actId="20577"/>
      <pc:docMkLst>
        <pc:docMk/>
      </pc:docMkLst>
      <pc:sldChg chg="modSp mod">
        <pc:chgData name="Brian Frutchey" userId="3c3bca74-dbde-4e2a-8ba1-07cb39e1a6ed" providerId="ADAL" clId="{C4A12807-0975-4D8E-A12E-963B46B5BB56}" dt="2026-08-17T11:20:59.612" v="106" actId="20577"/>
        <pc:sldMkLst>
          <pc:docMk/>
          <pc:sldMk cId="0" sldId="259"/>
        </pc:sldMkLst>
        <pc:spChg chg="mod">
          <ac:chgData name="Brian Frutchey" userId="3c3bca74-dbde-4e2a-8ba1-07cb39e1a6ed" providerId="ADAL" clId="{C4A12807-0975-4D8E-A12E-963B46B5BB56}" dt="2026-08-17T11:20:59.612" v="106" actId="20577"/>
          <ac:spMkLst>
            <pc:docMk/>
            <pc:sldMk cId="0" sldId="259"/>
            <ac:spMk id="12" creationId="{00000000-0000-0000-0000-000000000000}"/>
          </ac:spMkLst>
        </pc:spChg>
      </pc:sldChg>
    </pc:docChg>
  </pc:docChgLst>
  <pc:docChgLst>
    <pc:chgData name="Gavin Allison" userId="ec8301ad-32d7-4292-a168-82e605095d15" providerId="ADAL" clId="{48B1796A-7E37-48FA-BC1B-2673B4644A54}"/>
    <pc:docChg chg="modSld">
      <pc:chgData name="Gavin Allison" userId="ec8301ad-32d7-4292-a168-82e605095d15" providerId="ADAL" clId="{48B1796A-7E37-48FA-BC1B-2673B4644A54}" dt="2026-09-03T10:50:50.394" v="15" actId="1076"/>
      <pc:docMkLst>
        <pc:docMk/>
      </pc:docMkLst>
      <pc:sldChg chg="modSp mod">
        <pc:chgData name="Gavin Allison" userId="ec8301ad-32d7-4292-a168-82e605095d15" providerId="ADAL" clId="{48B1796A-7E37-48FA-BC1B-2673B4644A54}" dt="2026-09-03T10:50:50.394" v="15" actId="1076"/>
        <pc:sldMkLst>
          <pc:docMk/>
          <pc:sldMk cId="0" sldId="262"/>
        </pc:sldMkLst>
        <pc:grpChg chg="mod">
          <ac:chgData name="Gavin Allison" userId="ec8301ad-32d7-4292-a168-82e605095d15" providerId="ADAL" clId="{48B1796A-7E37-48FA-BC1B-2673B4644A54}" dt="2026-09-03T10:50:50.394" v="15" actId="1076"/>
          <ac:grpSpMkLst>
            <pc:docMk/>
            <pc:sldMk cId="0" sldId="262"/>
            <ac:grpSpMk id="55" creationId="{00000000-0000-0000-0000-000000000000}"/>
          </ac:grpSpMkLst>
        </pc:grpChg>
      </pc:sldChg>
      <pc:sldChg chg="modSp mod">
        <pc:chgData name="Gavin Allison" userId="ec8301ad-32d7-4292-a168-82e605095d15" providerId="ADAL" clId="{48B1796A-7E37-48FA-BC1B-2673B4644A54}" dt="2026-09-03T10:50:31.489" v="12" actId="12788"/>
        <pc:sldMkLst>
          <pc:docMk/>
          <pc:sldMk cId="0" sldId="263"/>
        </pc:sldMkLst>
        <pc:grpChg chg="mod">
          <ac:chgData name="Gavin Allison" userId="ec8301ad-32d7-4292-a168-82e605095d15" providerId="ADAL" clId="{48B1796A-7E37-48FA-BC1B-2673B4644A54}" dt="2026-09-03T10:50:31.489" v="12" actId="12788"/>
          <ac:grpSpMkLst>
            <pc:docMk/>
            <pc:sldMk cId="0" sldId="263"/>
            <ac:grpSpMk id="55" creationId="{00000000-0000-0000-0000-000000000000}"/>
          </ac:grpSpMkLst>
        </pc:grpChg>
      </pc:sldChg>
      <pc:sldChg chg="modSp mod">
        <pc:chgData name="Gavin Allison" userId="ec8301ad-32d7-4292-a168-82e605095d15" providerId="ADAL" clId="{48B1796A-7E37-48FA-BC1B-2673B4644A54}" dt="2026-09-03T10:49:49.999" v="6" actId="1076"/>
        <pc:sldMkLst>
          <pc:docMk/>
          <pc:sldMk cId="0" sldId="264"/>
        </pc:sldMkLst>
        <pc:grpChg chg="mod">
          <ac:chgData name="Gavin Allison" userId="ec8301ad-32d7-4292-a168-82e605095d15" providerId="ADAL" clId="{48B1796A-7E37-48FA-BC1B-2673B4644A54}" dt="2026-09-03T10:49:49.999" v="6" actId="1076"/>
          <ac:grpSpMkLst>
            <pc:docMk/>
            <pc:sldMk cId="0" sldId="264"/>
            <ac:grpSpMk id="55" creationId="{00000000-0000-0000-0000-000000000000}"/>
          </ac:grpSpMkLst>
        </pc:grpChg>
      </pc:sldChg>
      <pc:sldChg chg="modSp mod">
        <pc:chgData name="Gavin Allison" userId="ec8301ad-32d7-4292-a168-82e605095d15" providerId="ADAL" clId="{48B1796A-7E37-48FA-BC1B-2673B4644A54}" dt="2026-09-03T10:49:43.946" v="5" actId="1076"/>
        <pc:sldMkLst>
          <pc:docMk/>
          <pc:sldMk cId="0" sldId="265"/>
        </pc:sldMkLst>
        <pc:grpChg chg="mod">
          <ac:chgData name="Gavin Allison" userId="ec8301ad-32d7-4292-a168-82e605095d15" providerId="ADAL" clId="{48B1796A-7E37-48FA-BC1B-2673B4644A54}" dt="2026-09-03T10:49:43.946" v="5" actId="1076"/>
          <ac:grpSpMkLst>
            <pc:docMk/>
            <pc:sldMk cId="0" sldId="265"/>
            <ac:grpSpMk id="21" creationId="{00000000-0000-0000-0000-000000000000}"/>
          </ac:grpSpMkLst>
        </pc:grpChg>
      </pc:sldChg>
    </pc:docChg>
  </pc:docChgLst>
  <pc:docChgLst>
    <pc:chgData name="Brian Frutchey" userId="3c3bca74-dbde-4e2a-8ba1-07cb39e1a6ed" providerId="ADAL" clId="{5DFBFCFC-6686-4F51-9854-5D7C53D418BB}"/>
    <pc:docChg chg="undo custSel addSld delSld modSld">
      <pc:chgData name="Brian Frutchey" userId="3c3bca74-dbde-4e2a-8ba1-07cb39e1a6ed" providerId="ADAL" clId="{5DFBFCFC-6686-4F51-9854-5D7C53D418BB}" dt="2026-08-21T21:58:08.718" v="19" actId="14100"/>
      <pc:docMkLst>
        <pc:docMk/>
      </pc:docMkLst>
      <pc:sldChg chg="addSp delSp mod">
        <pc:chgData name="Brian Frutchey" userId="3c3bca74-dbde-4e2a-8ba1-07cb39e1a6ed" providerId="ADAL" clId="{5DFBFCFC-6686-4F51-9854-5D7C53D418BB}" dt="2026-08-21T21:56:21.892" v="1" actId="22"/>
        <pc:sldMkLst>
          <pc:docMk/>
          <pc:sldMk cId="0" sldId="260"/>
        </pc:sldMkLst>
      </pc:sldChg>
      <pc:sldChg chg="addSp delSp modSp add mod">
        <pc:chgData name="Brian Frutchey" userId="3c3bca74-dbde-4e2a-8ba1-07cb39e1a6ed" providerId="ADAL" clId="{5DFBFCFC-6686-4F51-9854-5D7C53D418BB}" dt="2026-08-21T21:58:08.718" v="19" actId="14100"/>
        <pc:sldMkLst>
          <pc:docMk/>
          <pc:sldMk cId="84481164" sldId="280"/>
        </pc:sldMkLst>
        <pc:spChg chg="mod">
          <ac:chgData name="Brian Frutchey" userId="3c3bca74-dbde-4e2a-8ba1-07cb39e1a6ed" providerId="ADAL" clId="{5DFBFCFC-6686-4F51-9854-5D7C53D418BB}" dt="2026-08-21T21:57:19.759" v="12"/>
          <ac:spMkLst>
            <pc:docMk/>
            <pc:sldMk cId="84481164" sldId="280"/>
            <ac:spMk id="35" creationId="{44FAC1F8-0BE6-8980-A1F2-99D5F14A6342}"/>
          </ac:spMkLst>
        </pc:spChg>
        <pc:spChg chg="mod">
          <ac:chgData name="Brian Frutchey" userId="3c3bca74-dbde-4e2a-8ba1-07cb39e1a6ed" providerId="ADAL" clId="{5DFBFCFC-6686-4F51-9854-5D7C53D418BB}" dt="2026-08-21T21:57:19.759" v="12"/>
          <ac:spMkLst>
            <pc:docMk/>
            <pc:sldMk cId="84481164" sldId="280"/>
            <ac:spMk id="36" creationId="{5942A71E-E8DD-53A4-936C-4671538E5830}"/>
          </ac:spMkLst>
        </pc:spChg>
        <pc:spChg chg="mod">
          <ac:chgData name="Brian Frutchey" userId="3c3bca74-dbde-4e2a-8ba1-07cb39e1a6ed" providerId="ADAL" clId="{5DFBFCFC-6686-4F51-9854-5D7C53D418BB}" dt="2026-08-21T21:57:19.759" v="12"/>
          <ac:spMkLst>
            <pc:docMk/>
            <pc:sldMk cId="84481164" sldId="280"/>
            <ac:spMk id="38" creationId="{34BA6747-E2FC-003E-734C-F4EC88662E99}"/>
          </ac:spMkLst>
        </pc:spChg>
        <pc:spChg chg="mod">
          <ac:chgData name="Brian Frutchey" userId="3c3bca74-dbde-4e2a-8ba1-07cb39e1a6ed" providerId="ADAL" clId="{5DFBFCFC-6686-4F51-9854-5D7C53D418BB}" dt="2026-08-21T21:57:19.759" v="12"/>
          <ac:spMkLst>
            <pc:docMk/>
            <pc:sldMk cId="84481164" sldId="280"/>
            <ac:spMk id="39" creationId="{B9F9BDA4-79C3-BF75-99C5-E928C47B198F}"/>
          </ac:spMkLst>
        </pc:spChg>
        <pc:spChg chg="mod">
          <ac:chgData name="Brian Frutchey" userId="3c3bca74-dbde-4e2a-8ba1-07cb39e1a6ed" providerId="ADAL" clId="{5DFBFCFC-6686-4F51-9854-5D7C53D418BB}" dt="2026-08-21T21:57:19.759" v="12"/>
          <ac:spMkLst>
            <pc:docMk/>
            <pc:sldMk cId="84481164" sldId="280"/>
            <ac:spMk id="41" creationId="{704C693A-19A3-9BA9-8873-852315308852}"/>
          </ac:spMkLst>
        </pc:spChg>
        <pc:spChg chg="mod">
          <ac:chgData name="Brian Frutchey" userId="3c3bca74-dbde-4e2a-8ba1-07cb39e1a6ed" providerId="ADAL" clId="{5DFBFCFC-6686-4F51-9854-5D7C53D418BB}" dt="2026-08-21T21:57:19.759" v="12"/>
          <ac:spMkLst>
            <pc:docMk/>
            <pc:sldMk cId="84481164" sldId="280"/>
            <ac:spMk id="42" creationId="{0E18076E-881F-D620-B654-77776377F9FA}"/>
          </ac:spMkLst>
        </pc:spChg>
        <pc:spChg chg="mod modCrop">
          <ac:chgData name="Brian Frutchey" userId="3c3bca74-dbde-4e2a-8ba1-07cb39e1a6ed" providerId="ADAL" clId="{5DFBFCFC-6686-4F51-9854-5D7C53D418BB}" dt="2026-08-21T21:57:43.185" v="15" actId="732"/>
          <ac:spMkLst>
            <pc:docMk/>
            <pc:sldMk cId="84481164" sldId="280"/>
            <ac:spMk id="44" creationId="{45DF236E-F8A9-3436-0231-A08B507F80A9}"/>
          </ac:spMkLst>
        </pc:spChg>
        <pc:spChg chg="add mod">
          <ac:chgData name="Brian Frutchey" userId="3c3bca74-dbde-4e2a-8ba1-07cb39e1a6ed" providerId="ADAL" clId="{5DFBFCFC-6686-4F51-9854-5D7C53D418BB}" dt="2026-08-21T21:58:08.718" v="19" actId="14100"/>
          <ac:spMkLst>
            <pc:docMk/>
            <pc:sldMk cId="84481164" sldId="280"/>
            <ac:spMk id="46" creationId="{B2343458-7680-0154-F729-3BF51581B614}"/>
          </ac:spMkLst>
        </pc:spChg>
        <pc:grpChg chg="add mod">
          <ac:chgData name="Brian Frutchey" userId="3c3bca74-dbde-4e2a-8ba1-07cb39e1a6ed" providerId="ADAL" clId="{5DFBFCFC-6686-4F51-9854-5D7C53D418BB}" dt="2026-08-21T21:57:19.759" v="12"/>
          <ac:grpSpMkLst>
            <pc:docMk/>
            <pc:sldMk cId="84481164" sldId="280"/>
            <ac:grpSpMk id="34" creationId="{D2B1DAE7-387F-AF5E-872F-032ED91583C4}"/>
          </ac:grpSpMkLst>
        </pc:grpChg>
        <pc:grpChg chg="add mod">
          <ac:chgData name="Brian Frutchey" userId="3c3bca74-dbde-4e2a-8ba1-07cb39e1a6ed" providerId="ADAL" clId="{5DFBFCFC-6686-4F51-9854-5D7C53D418BB}" dt="2026-08-21T21:57:19.759" v="12"/>
          <ac:grpSpMkLst>
            <pc:docMk/>
            <pc:sldMk cId="84481164" sldId="280"/>
            <ac:grpSpMk id="37" creationId="{43DD4C3E-AE2D-3358-289B-3D330E879617}"/>
          </ac:grpSpMkLst>
        </pc:grpChg>
        <pc:grpChg chg="add mod">
          <ac:chgData name="Brian Frutchey" userId="3c3bca74-dbde-4e2a-8ba1-07cb39e1a6ed" providerId="ADAL" clId="{5DFBFCFC-6686-4F51-9854-5D7C53D418BB}" dt="2026-08-21T21:57:19.759" v="12"/>
          <ac:grpSpMkLst>
            <pc:docMk/>
            <pc:sldMk cId="84481164" sldId="280"/>
            <ac:grpSpMk id="40" creationId="{715371D8-0332-0A7D-6604-33267CD33336}"/>
          </ac:grpSpMkLst>
        </pc:grpChg>
        <pc:grpChg chg="add mod">
          <ac:chgData name="Brian Frutchey" userId="3c3bca74-dbde-4e2a-8ba1-07cb39e1a6ed" providerId="ADAL" clId="{5DFBFCFC-6686-4F51-9854-5D7C53D418BB}" dt="2026-08-21T21:57:28.683" v="13"/>
          <ac:grpSpMkLst>
            <pc:docMk/>
            <pc:sldMk cId="84481164" sldId="280"/>
            <ac:grpSpMk id="43" creationId="{72619536-E6AC-9B41-EAED-1BD8C7A49BF0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09.09.2026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B4656-557D-682C-2CDD-ED1C3E54E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0082542-87C1-4A27-D982-1CFD088B542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6ADB12-6C2D-11C8-3AA8-050CDE1D4D1C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36D8AC80-296A-32F2-8E1C-94DB0DFE64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95924E9B-6809-A676-71FF-D6778309C4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83AE97-45B0-2605-1DB6-A5438BF6991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48B1C6-08D7-C363-3F1B-3B5B3293C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1701536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2.jpeg"/><Relationship Id="rId7" Type="http://schemas.microsoft.com/office/2007/relationships/hdphoto" Target="../media/hdphoto1.wdp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6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.png"/><Relationship Id="rId9" Type="http://schemas.openxmlformats.org/officeDocument/2006/relationships/image" Target="../media/image14.org&amp;utm_campaign=index&amp;utm_content=thumbnai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4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758921" y="1028700"/>
            <a:ext cx="2783998" cy="2902337"/>
            <a:chOff x="0" y="0"/>
            <a:chExt cx="2633408" cy="2745346"/>
          </a:xfrm>
        </p:grpSpPr>
        <p:sp>
          <p:nvSpPr>
            <p:cNvPr id="3" name="Freeform 3" descr="/Users/hstrauss/Documents/GitHub/belvedere-pm/output/deck-rebuild/belv_mark.png"/>
            <p:cNvSpPr/>
            <p:nvPr/>
          </p:nvSpPr>
          <p:spPr>
            <a:xfrm>
              <a:off x="0" y="0"/>
              <a:ext cx="2633472" cy="2745359"/>
            </a:xfrm>
            <a:custGeom>
              <a:avLst/>
              <a:gdLst/>
              <a:ahLst/>
              <a:cxnLst/>
              <a:rect l="l" t="t" r="r" b="b"/>
              <a:pathLst>
                <a:path w="2633472" h="2745359">
                  <a:moveTo>
                    <a:pt x="0" y="0"/>
                  </a:moveTo>
                  <a:lnTo>
                    <a:pt x="2633472" y="0"/>
                  </a:lnTo>
                  <a:lnTo>
                    <a:pt x="2633472" y="2745359"/>
                  </a:lnTo>
                  <a:lnTo>
                    <a:pt x="0" y="27453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686333" y="4186647"/>
            <a:ext cx="16929173" cy="2608078"/>
            <a:chOff x="0" y="0"/>
            <a:chExt cx="22572231" cy="347743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572225" cy="3477435"/>
            </a:xfrm>
            <a:custGeom>
              <a:avLst/>
              <a:gdLst/>
              <a:ahLst/>
              <a:cxnLst/>
              <a:rect l="l" t="t" r="r" b="b"/>
              <a:pathLst>
                <a:path w="22572225" h="3477435">
                  <a:moveTo>
                    <a:pt x="0" y="0"/>
                  </a:moveTo>
                  <a:lnTo>
                    <a:pt x="22572225" y="0"/>
                  </a:lnTo>
                  <a:lnTo>
                    <a:pt x="22572225" y="3477435"/>
                  </a:lnTo>
                  <a:lnTo>
                    <a:pt x="0" y="347743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6478" b="-764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28575"/>
              <a:ext cx="22572231" cy="344886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8453"/>
                </a:lnSpc>
              </a:pPr>
              <a:r>
                <a:rPr lang="en-US" sz="7299" b="1" spc="-182" dirty="0">
                  <a:gradFill>
                    <a:gsLst>
                      <a:gs pos="0">
                        <a:srgbClr val="FFFFFF">
                          <a:alpha val="100000"/>
                        </a:srgbClr>
                      </a:gs>
                      <a:gs pos="100000">
                        <a:srgbClr val="FFF2C3">
                          <a:alpha val="100000"/>
                        </a:srgbClr>
                      </a:gs>
                    </a:gsLst>
                    <a:lin ang="5400000"/>
                  </a:gradFill>
                  <a:latin typeface="Inter Bold"/>
                  <a:ea typeface="Inter Bold"/>
                  <a:cs typeface="Inter Bold"/>
                  <a:sym typeface="Inter Bold"/>
                </a:rPr>
                <a:t>On-demand Data Fusion with Belvedere™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8457662" y="7538713"/>
            <a:ext cx="1372676" cy="21965"/>
            <a:chOff x="0" y="0"/>
            <a:chExt cx="1830235" cy="2928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830197" cy="29337"/>
            </a:xfrm>
            <a:custGeom>
              <a:avLst/>
              <a:gdLst/>
              <a:ahLst/>
              <a:cxnLst/>
              <a:rect l="l" t="t" r="r" b="b"/>
              <a:pathLst>
                <a:path w="1830197" h="29337">
                  <a:moveTo>
                    <a:pt x="0" y="0"/>
                  </a:moveTo>
                  <a:lnTo>
                    <a:pt x="1830197" y="0"/>
                  </a:lnTo>
                  <a:lnTo>
                    <a:pt x="1830197" y="29337"/>
                  </a:lnTo>
                  <a:lnTo>
                    <a:pt x="0" y="29337"/>
                  </a:lnTo>
                  <a:close/>
                </a:path>
              </a:pathLst>
            </a:custGeom>
            <a:solidFill>
              <a:srgbClr val="FFF2C2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0" y="8304667"/>
            <a:ext cx="18301840" cy="411802"/>
            <a:chOff x="0" y="0"/>
            <a:chExt cx="24402453" cy="54906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402455" cy="549066"/>
            </a:xfrm>
            <a:custGeom>
              <a:avLst/>
              <a:gdLst/>
              <a:ahLst/>
              <a:cxnLst/>
              <a:rect l="l" t="t" r="r" b="b"/>
              <a:pathLst>
                <a:path w="24402455" h="549066">
                  <a:moveTo>
                    <a:pt x="0" y="0"/>
                  </a:moveTo>
                  <a:lnTo>
                    <a:pt x="24402455" y="0"/>
                  </a:lnTo>
                  <a:lnTo>
                    <a:pt x="24402455" y="549066"/>
                  </a:lnTo>
                  <a:lnTo>
                    <a:pt x="0" y="5490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815983" b="-81598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0"/>
              <a:ext cx="24402453" cy="5490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741"/>
                </a:lnSpc>
              </a:pPr>
              <a:r>
                <a:rPr lang="en-US" sz="1451" spc="403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AI FOR</a:t>
              </a:r>
              <a:r>
                <a:rPr lang="en-US" sz="1451" spc="403">
                  <a:solidFill>
                    <a:srgbClr val="F0F1F4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 DATA CURATION | DATA ENGINEERING | DATA OBSERVABILITY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773431"/>
            <a:ext cx="18301840" cy="343168"/>
            <a:chOff x="0" y="0"/>
            <a:chExt cx="24402453" cy="457557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402455" cy="457559"/>
            </a:xfrm>
            <a:custGeom>
              <a:avLst/>
              <a:gdLst/>
              <a:ahLst/>
              <a:cxnLst/>
              <a:rect l="l" t="t" r="r" b="b"/>
              <a:pathLst>
                <a:path w="24402455" h="457559">
                  <a:moveTo>
                    <a:pt x="0" y="0"/>
                  </a:moveTo>
                  <a:lnTo>
                    <a:pt x="24402455" y="0"/>
                  </a:lnTo>
                  <a:lnTo>
                    <a:pt x="24402455" y="457559"/>
                  </a:lnTo>
                  <a:lnTo>
                    <a:pt x="0" y="45755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989172" b="-98917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0"/>
              <a:ext cx="24402453" cy="45755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591"/>
                </a:lnSpc>
              </a:pPr>
              <a:r>
                <a:rPr lang="en-US" sz="1325" spc="530">
                  <a:solidFill>
                    <a:srgbClr val="8590B3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CLEARFRACTURE.AI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135065" y="9773431"/>
            <a:ext cx="823608" cy="343168"/>
            <a:chOff x="0" y="0"/>
            <a:chExt cx="1098144" cy="457557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98138" cy="457559"/>
            </a:xfrm>
            <a:custGeom>
              <a:avLst/>
              <a:gdLst/>
              <a:ahLst/>
              <a:cxnLst/>
              <a:rect l="l" t="t" r="r" b="b"/>
              <a:pathLst>
                <a:path w="1098138" h="457559">
                  <a:moveTo>
                    <a:pt x="0" y="0"/>
                  </a:moveTo>
                  <a:lnTo>
                    <a:pt x="1098138" y="0"/>
                  </a:lnTo>
                  <a:lnTo>
                    <a:pt x="1098138" y="457559"/>
                  </a:lnTo>
                  <a:lnTo>
                    <a:pt x="0" y="45755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459" r="-345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1098144" cy="45755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351"/>
                </a:lnSpc>
              </a:pPr>
              <a:r>
                <a:rPr lang="en-US" sz="1125">
                  <a:solidFill>
                    <a:srgbClr val="8590B3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01/13</a:t>
              </a:r>
            </a:p>
          </p:txBody>
        </p:sp>
      </p:grpSp>
      <p:sp>
        <p:nvSpPr>
          <p:cNvPr id="18" name="Freeform 18"/>
          <p:cNvSpPr/>
          <p:nvPr/>
        </p:nvSpPr>
        <p:spPr>
          <a:xfrm>
            <a:off x="415128" y="411255"/>
            <a:ext cx="3224536" cy="1026886"/>
          </a:xfrm>
          <a:custGeom>
            <a:avLst/>
            <a:gdLst/>
            <a:ahLst/>
            <a:cxnLst/>
            <a:rect l="l" t="t" r="r" b="b"/>
            <a:pathLst>
              <a:path w="3224536" h="1026886">
                <a:moveTo>
                  <a:pt x="0" y="0"/>
                </a:moveTo>
                <a:lnTo>
                  <a:pt x="3224536" y="0"/>
                </a:lnTo>
                <a:lnTo>
                  <a:pt x="3224536" y="1026887"/>
                </a:lnTo>
                <a:lnTo>
                  <a:pt x="0" y="10268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4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54971" y="466706"/>
            <a:ext cx="13040392" cy="411802"/>
            <a:chOff x="0" y="0"/>
            <a:chExt cx="17387189" cy="54906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387184" cy="549066"/>
            </a:xfrm>
            <a:custGeom>
              <a:avLst/>
              <a:gdLst/>
              <a:ahLst/>
              <a:cxnLst/>
              <a:rect l="l" t="t" r="r" b="b"/>
              <a:pathLst>
                <a:path w="17387184" h="549066">
                  <a:moveTo>
                    <a:pt x="0" y="0"/>
                  </a:moveTo>
                  <a:lnTo>
                    <a:pt x="17387184" y="0"/>
                  </a:lnTo>
                  <a:lnTo>
                    <a:pt x="17387184" y="549066"/>
                  </a:lnTo>
                  <a:lnTo>
                    <a:pt x="0" y="5490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67029" b="-56703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7387189" cy="5585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1"/>
                </a:lnSpc>
              </a:pPr>
              <a:r>
                <a:rPr lang="en-US" sz="1501" spc="375" dirty="0">
                  <a:solidFill>
                    <a:srgbClr val="FFF2C2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THE AGE-OLD PROBLEM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13794" y="796147"/>
            <a:ext cx="15511196" cy="851057"/>
            <a:chOff x="0" y="0"/>
            <a:chExt cx="20681594" cy="113474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0681598" cy="1134740"/>
            </a:xfrm>
            <a:custGeom>
              <a:avLst/>
              <a:gdLst/>
              <a:ahLst/>
              <a:cxnLst/>
              <a:rect l="l" t="t" r="r" b="b"/>
              <a:pathLst>
                <a:path w="20681598" h="1134740">
                  <a:moveTo>
                    <a:pt x="0" y="0"/>
                  </a:moveTo>
                  <a:lnTo>
                    <a:pt x="20681598" y="0"/>
                  </a:lnTo>
                  <a:lnTo>
                    <a:pt x="20681598" y="1134740"/>
                  </a:lnTo>
                  <a:lnTo>
                    <a:pt x="0" y="11347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05131" b="-30513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0"/>
              <a:ext cx="20681594" cy="1134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3"/>
                </a:lnSpc>
              </a:pPr>
              <a:r>
                <a:rPr lang="en-US" sz="3903" b="1" dirty="0">
                  <a:solidFill>
                    <a:srgbClr val="F0F1F4"/>
                  </a:solidFill>
                  <a:latin typeface="Inter Bold"/>
                  <a:ea typeface="Inter Bold"/>
                  <a:cs typeface="Inter Bold"/>
                  <a:sym typeface="Inter Bold"/>
                </a:rPr>
                <a:t>Every Feed Ends in </a:t>
              </a:r>
              <a:r>
                <a:rPr lang="en-US" sz="3903" b="1" dirty="0">
                  <a:solidFill>
                    <a:srgbClr val="FFF2C2"/>
                  </a:solidFill>
                  <a:latin typeface="Inter Bold"/>
                  <a:ea typeface="Inter Bold"/>
                  <a:cs typeface="Inter Bold"/>
                  <a:sym typeface="Inter Bold"/>
                </a:rPr>
                <a:t>a Person's Queue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217001" y="466706"/>
            <a:ext cx="1329868" cy="1386403"/>
            <a:chOff x="0" y="0"/>
            <a:chExt cx="1053363" cy="1098144"/>
          </a:xfrm>
        </p:grpSpPr>
        <p:sp>
          <p:nvSpPr>
            <p:cNvPr id="9" name="Freeform 9" descr="/Users/hstrauss/Documents/GitHub/belvedere-pm/output/deck-rebuild/belv_mark.png"/>
            <p:cNvSpPr/>
            <p:nvPr/>
          </p:nvSpPr>
          <p:spPr>
            <a:xfrm>
              <a:off x="0" y="0"/>
              <a:ext cx="1053338" cy="1098169"/>
            </a:xfrm>
            <a:custGeom>
              <a:avLst/>
              <a:gdLst/>
              <a:ahLst/>
              <a:cxnLst/>
              <a:rect l="l" t="t" r="r" b="b"/>
              <a:pathLst>
                <a:path w="1053338" h="1098169">
                  <a:moveTo>
                    <a:pt x="0" y="0"/>
                  </a:moveTo>
                  <a:lnTo>
                    <a:pt x="1053338" y="0"/>
                  </a:lnTo>
                  <a:lnTo>
                    <a:pt x="1053338" y="1098169"/>
                  </a:lnTo>
                  <a:lnTo>
                    <a:pt x="0" y="1098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2" b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27520" y="1619755"/>
            <a:ext cx="16472068" cy="466709"/>
            <a:chOff x="0" y="0"/>
            <a:chExt cx="21962758" cy="62227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1962759" cy="622282"/>
            </a:xfrm>
            <a:custGeom>
              <a:avLst/>
              <a:gdLst/>
              <a:ahLst/>
              <a:cxnLst/>
              <a:rect l="l" t="t" r="r" b="b"/>
              <a:pathLst>
                <a:path w="21962759" h="622282">
                  <a:moveTo>
                    <a:pt x="0" y="0"/>
                  </a:moveTo>
                  <a:lnTo>
                    <a:pt x="21962759" y="0"/>
                  </a:lnTo>
                  <a:lnTo>
                    <a:pt x="21962759" y="622282"/>
                  </a:lnTo>
                  <a:lnTo>
                    <a:pt x="0" y="62228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37703" b="-63770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21962758" cy="63180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1"/>
                </a:lnSpc>
              </a:pPr>
              <a:r>
                <a:rPr lang="en-US" sz="1951" dirty="0">
                  <a:solidFill>
                    <a:srgbClr val="9BA4BE"/>
                  </a:solidFill>
                  <a:latin typeface="Inter"/>
                  <a:ea typeface="Inter"/>
                  <a:cs typeface="Inter"/>
                  <a:sym typeface="Inter"/>
                </a:rPr>
                <a:t>Databases, APIs, files, streams, buckets, models, pipelines. Each one waits on a data engineering specialist.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54971" y="2168823"/>
            <a:ext cx="16791899" cy="15097"/>
            <a:chOff x="0" y="0"/>
            <a:chExt cx="22389198" cy="2013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2389212" cy="20193"/>
            </a:xfrm>
            <a:custGeom>
              <a:avLst/>
              <a:gdLst/>
              <a:ahLst/>
              <a:cxnLst/>
              <a:rect l="l" t="t" r="r" b="b"/>
              <a:pathLst>
                <a:path w="22389212" h="20193">
                  <a:moveTo>
                    <a:pt x="0" y="0"/>
                  </a:moveTo>
                  <a:lnTo>
                    <a:pt x="22389212" y="0"/>
                  </a:lnTo>
                  <a:lnTo>
                    <a:pt x="22389212" y="20193"/>
                  </a:lnTo>
                  <a:lnTo>
                    <a:pt x="0" y="20193"/>
                  </a:lnTo>
                  <a:close/>
                </a:path>
              </a:pathLst>
            </a:custGeom>
            <a:solidFill>
              <a:srgbClr val="1A2D5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0" y="9773431"/>
            <a:ext cx="18301840" cy="343167"/>
            <a:chOff x="0" y="0"/>
            <a:chExt cx="24402453" cy="4575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4402455" cy="457557"/>
            </a:xfrm>
            <a:custGeom>
              <a:avLst/>
              <a:gdLst/>
              <a:ahLst/>
              <a:cxnLst/>
              <a:rect l="l" t="t" r="r" b="b"/>
              <a:pathLst>
                <a:path w="24402455" h="457557">
                  <a:moveTo>
                    <a:pt x="0" y="0"/>
                  </a:moveTo>
                  <a:lnTo>
                    <a:pt x="24402455" y="0"/>
                  </a:lnTo>
                  <a:lnTo>
                    <a:pt x="24402455" y="457557"/>
                  </a:lnTo>
                  <a:lnTo>
                    <a:pt x="0" y="45755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89176" b="-98917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24402453" cy="4575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351"/>
                </a:lnSpc>
              </a:pPr>
              <a:r>
                <a:rPr lang="en-US" sz="1125" spc="450">
                  <a:solidFill>
                    <a:srgbClr val="8590B3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CLEARFRACTURE.AI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7135065" y="9773431"/>
            <a:ext cx="823608" cy="343168"/>
            <a:chOff x="0" y="0"/>
            <a:chExt cx="1098144" cy="457557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98138" cy="457559"/>
            </a:xfrm>
            <a:custGeom>
              <a:avLst/>
              <a:gdLst/>
              <a:ahLst/>
              <a:cxnLst/>
              <a:rect l="l" t="t" r="r" b="b"/>
              <a:pathLst>
                <a:path w="1098138" h="457559">
                  <a:moveTo>
                    <a:pt x="0" y="0"/>
                  </a:moveTo>
                  <a:lnTo>
                    <a:pt x="1098138" y="0"/>
                  </a:lnTo>
                  <a:lnTo>
                    <a:pt x="1098138" y="457559"/>
                  </a:lnTo>
                  <a:lnTo>
                    <a:pt x="0" y="45755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59" r="-345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0"/>
              <a:ext cx="1098144" cy="45755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351"/>
                </a:lnSpc>
              </a:pPr>
              <a:r>
                <a:rPr lang="en-US" sz="1125">
                  <a:solidFill>
                    <a:srgbClr val="8590B3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02/13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754971" y="2580675"/>
            <a:ext cx="16791899" cy="6364666"/>
            <a:chOff x="0" y="0"/>
            <a:chExt cx="21230666" cy="8047101"/>
          </a:xfrm>
        </p:grpSpPr>
        <p:sp>
          <p:nvSpPr>
            <p:cNvPr id="22" name="Freeform 22" descr="/Users/hstrauss/Documents/GitHub/belvedere-pm/output/deck-rebuild/illus/bottleneck.png"/>
            <p:cNvSpPr/>
            <p:nvPr/>
          </p:nvSpPr>
          <p:spPr>
            <a:xfrm>
              <a:off x="0" y="0"/>
              <a:ext cx="21230717" cy="8047101"/>
            </a:xfrm>
            <a:custGeom>
              <a:avLst/>
              <a:gdLst/>
              <a:ahLst/>
              <a:cxnLst/>
              <a:rect l="l" t="t" r="r" b="b"/>
              <a:pathLst>
                <a:path w="21230717" h="8047101">
                  <a:moveTo>
                    <a:pt x="0" y="0"/>
                  </a:moveTo>
                  <a:lnTo>
                    <a:pt x="21230717" y="0"/>
                  </a:lnTo>
                  <a:lnTo>
                    <a:pt x="21230717" y="8047101"/>
                  </a:lnTo>
                  <a:lnTo>
                    <a:pt x="0" y="8047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459946" y="2450237"/>
            <a:ext cx="17381948" cy="7114027"/>
            <a:chOff x="0" y="0"/>
            <a:chExt cx="21230666" cy="8689219"/>
          </a:xfrm>
        </p:grpSpPr>
        <p:sp>
          <p:nvSpPr>
            <p:cNvPr id="24" name="Freeform 24" descr="/Users/hstrauss/Documents/GitHub/belvedere-pm/output/deck-rebuild/illus/bottleneck.png"/>
            <p:cNvSpPr/>
            <p:nvPr/>
          </p:nvSpPr>
          <p:spPr>
            <a:xfrm>
              <a:off x="0" y="0"/>
              <a:ext cx="21230717" cy="8689173"/>
            </a:xfrm>
            <a:custGeom>
              <a:avLst/>
              <a:gdLst/>
              <a:ahLst/>
              <a:cxnLst/>
              <a:rect l="l" t="t" r="r" b="b"/>
              <a:pathLst>
                <a:path w="21230717" h="8689173">
                  <a:moveTo>
                    <a:pt x="0" y="0"/>
                  </a:moveTo>
                  <a:lnTo>
                    <a:pt x="21230717" y="0"/>
                  </a:lnTo>
                  <a:lnTo>
                    <a:pt x="21230717" y="8689173"/>
                  </a:lnTo>
                  <a:lnTo>
                    <a:pt x="0" y="8689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5172" b="-517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4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54971" y="466706"/>
            <a:ext cx="13040392" cy="411804"/>
            <a:chOff x="0" y="0"/>
            <a:chExt cx="17387189" cy="54907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387184" cy="549069"/>
            </a:xfrm>
            <a:custGeom>
              <a:avLst/>
              <a:gdLst/>
              <a:ahLst/>
              <a:cxnLst/>
              <a:rect l="l" t="t" r="r" b="b"/>
              <a:pathLst>
                <a:path w="17387184" h="549069">
                  <a:moveTo>
                    <a:pt x="0" y="0"/>
                  </a:moveTo>
                  <a:lnTo>
                    <a:pt x="17387184" y="0"/>
                  </a:lnTo>
                  <a:lnTo>
                    <a:pt x="17387184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67026" b="-56702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7387189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1"/>
                </a:lnSpc>
              </a:pPr>
              <a:r>
                <a:rPr lang="en-US" sz="1501" spc="375" dirty="0">
                  <a:solidFill>
                    <a:srgbClr val="FFF2C2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THE AGE-OLD PROBLEM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13794" y="796147"/>
            <a:ext cx="15511196" cy="851057"/>
            <a:chOff x="0" y="0"/>
            <a:chExt cx="20681594" cy="113474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0681598" cy="1134740"/>
            </a:xfrm>
            <a:custGeom>
              <a:avLst/>
              <a:gdLst/>
              <a:ahLst/>
              <a:cxnLst/>
              <a:rect l="l" t="t" r="r" b="b"/>
              <a:pathLst>
                <a:path w="20681598" h="1134740">
                  <a:moveTo>
                    <a:pt x="0" y="0"/>
                  </a:moveTo>
                  <a:lnTo>
                    <a:pt x="20681598" y="0"/>
                  </a:lnTo>
                  <a:lnTo>
                    <a:pt x="20681598" y="1134740"/>
                  </a:lnTo>
                  <a:lnTo>
                    <a:pt x="0" y="11347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05131" b="-30513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0"/>
              <a:ext cx="20681594" cy="1134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3"/>
                </a:lnSpc>
              </a:pPr>
              <a:r>
                <a:rPr lang="en-US" sz="3903" b="1">
                  <a:gradFill>
                    <a:gsLst>
                      <a:gs pos="0">
                        <a:srgbClr val="FFFFFF">
                          <a:alpha val="100000"/>
                        </a:srgbClr>
                      </a:gs>
                      <a:gs pos="100000">
                        <a:srgbClr val="FFF2C3">
                          <a:alpha val="100000"/>
                        </a:srgbClr>
                      </a:gs>
                    </a:gsLst>
                    <a:lin ang="5400000"/>
                  </a:gradFill>
                  <a:latin typeface="Inter Bold"/>
                  <a:ea typeface="Inter Bold"/>
                  <a:cs typeface="Inter Bold"/>
                  <a:sym typeface="Inter Bold"/>
                </a:rPr>
                <a:t>The Work Before the Work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217002" y="466706"/>
            <a:ext cx="1329867" cy="1386402"/>
            <a:chOff x="0" y="0"/>
            <a:chExt cx="1053363" cy="1098144"/>
          </a:xfrm>
        </p:grpSpPr>
        <p:sp>
          <p:nvSpPr>
            <p:cNvPr id="9" name="Freeform 9" descr="/Users/hstrauss/Documents/GitHub/belvedere-pm/output/deck-rebuild/belv_mark.png"/>
            <p:cNvSpPr/>
            <p:nvPr/>
          </p:nvSpPr>
          <p:spPr>
            <a:xfrm>
              <a:off x="0" y="0"/>
              <a:ext cx="1053338" cy="1098169"/>
            </a:xfrm>
            <a:custGeom>
              <a:avLst/>
              <a:gdLst/>
              <a:ahLst/>
              <a:cxnLst/>
              <a:rect l="l" t="t" r="r" b="b"/>
              <a:pathLst>
                <a:path w="1053338" h="1098169">
                  <a:moveTo>
                    <a:pt x="0" y="0"/>
                  </a:moveTo>
                  <a:lnTo>
                    <a:pt x="1053338" y="0"/>
                  </a:lnTo>
                  <a:lnTo>
                    <a:pt x="1053338" y="1098169"/>
                  </a:lnTo>
                  <a:lnTo>
                    <a:pt x="0" y="1098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2" b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27520" y="1619755"/>
            <a:ext cx="16472068" cy="466706"/>
            <a:chOff x="0" y="0"/>
            <a:chExt cx="21962758" cy="62227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1962759" cy="622278"/>
            </a:xfrm>
            <a:custGeom>
              <a:avLst/>
              <a:gdLst/>
              <a:ahLst/>
              <a:cxnLst/>
              <a:rect l="l" t="t" r="r" b="b"/>
              <a:pathLst>
                <a:path w="21962759" h="622278">
                  <a:moveTo>
                    <a:pt x="0" y="0"/>
                  </a:moveTo>
                  <a:lnTo>
                    <a:pt x="21962759" y="0"/>
                  </a:lnTo>
                  <a:lnTo>
                    <a:pt x="21962759" y="622278"/>
                  </a:lnTo>
                  <a:lnTo>
                    <a:pt x="0" y="62227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37707" b="-63770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21962758" cy="631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1"/>
                </a:lnSpc>
              </a:pPr>
              <a:r>
                <a:rPr lang="en-US" sz="1951" dirty="0">
                  <a:solidFill>
                    <a:srgbClr val="9BA4BE"/>
                  </a:solidFill>
                  <a:latin typeface="Inter"/>
                  <a:ea typeface="Inter"/>
                  <a:cs typeface="Inter"/>
                  <a:sym typeface="Inter"/>
                </a:rPr>
                <a:t>Data is dumb and doesn’t help you use it. A person must investigate by hand, every time.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54971" y="2168823"/>
            <a:ext cx="16791899" cy="15097"/>
            <a:chOff x="0" y="0"/>
            <a:chExt cx="22389198" cy="2013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2389212" cy="20193"/>
            </a:xfrm>
            <a:custGeom>
              <a:avLst/>
              <a:gdLst/>
              <a:ahLst/>
              <a:cxnLst/>
              <a:rect l="l" t="t" r="r" b="b"/>
              <a:pathLst>
                <a:path w="22389212" h="20193">
                  <a:moveTo>
                    <a:pt x="0" y="0"/>
                  </a:moveTo>
                  <a:lnTo>
                    <a:pt x="22389212" y="0"/>
                  </a:lnTo>
                  <a:lnTo>
                    <a:pt x="22389212" y="20193"/>
                  </a:lnTo>
                  <a:lnTo>
                    <a:pt x="0" y="20193"/>
                  </a:lnTo>
                  <a:close/>
                </a:path>
              </a:pathLst>
            </a:custGeom>
            <a:solidFill>
              <a:srgbClr val="1A2D5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0" y="9773431"/>
            <a:ext cx="18301840" cy="343167"/>
            <a:chOff x="0" y="0"/>
            <a:chExt cx="24402453" cy="4575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4402455" cy="457557"/>
            </a:xfrm>
            <a:custGeom>
              <a:avLst/>
              <a:gdLst/>
              <a:ahLst/>
              <a:cxnLst/>
              <a:rect l="l" t="t" r="r" b="b"/>
              <a:pathLst>
                <a:path w="24402455" h="457557">
                  <a:moveTo>
                    <a:pt x="0" y="0"/>
                  </a:moveTo>
                  <a:lnTo>
                    <a:pt x="24402455" y="0"/>
                  </a:lnTo>
                  <a:lnTo>
                    <a:pt x="24402455" y="457557"/>
                  </a:lnTo>
                  <a:lnTo>
                    <a:pt x="0" y="45755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89176" b="-98917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24402453" cy="4575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351"/>
                </a:lnSpc>
              </a:pPr>
              <a:r>
                <a:rPr lang="en-US" sz="1125" spc="450">
                  <a:solidFill>
                    <a:srgbClr val="8590B3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CLEARFRACTURE.AI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7135065" y="9773431"/>
            <a:ext cx="823608" cy="343168"/>
            <a:chOff x="0" y="0"/>
            <a:chExt cx="1098144" cy="457557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98138" cy="457559"/>
            </a:xfrm>
            <a:custGeom>
              <a:avLst/>
              <a:gdLst/>
              <a:ahLst/>
              <a:cxnLst/>
              <a:rect l="l" t="t" r="r" b="b"/>
              <a:pathLst>
                <a:path w="1098138" h="457559">
                  <a:moveTo>
                    <a:pt x="0" y="0"/>
                  </a:moveTo>
                  <a:lnTo>
                    <a:pt x="1098138" y="0"/>
                  </a:lnTo>
                  <a:lnTo>
                    <a:pt x="1098138" y="457559"/>
                  </a:lnTo>
                  <a:lnTo>
                    <a:pt x="0" y="45755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59" r="-345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0"/>
              <a:ext cx="1098144" cy="45755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351"/>
                </a:lnSpc>
              </a:pPr>
              <a:r>
                <a:rPr lang="en-US" sz="1125">
                  <a:solidFill>
                    <a:srgbClr val="8590B3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03/13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754971" y="7539023"/>
            <a:ext cx="3947241" cy="768847"/>
            <a:chOff x="0" y="0"/>
            <a:chExt cx="1039603" cy="202495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039603" cy="202495"/>
            </a:xfrm>
            <a:custGeom>
              <a:avLst/>
              <a:gdLst/>
              <a:ahLst/>
              <a:cxnLst/>
              <a:rect l="l" t="t" r="r" b="b"/>
              <a:pathLst>
                <a:path w="1039603" h="202495">
                  <a:moveTo>
                    <a:pt x="0" y="0"/>
                  </a:moveTo>
                  <a:lnTo>
                    <a:pt x="1039603" y="0"/>
                  </a:lnTo>
                  <a:lnTo>
                    <a:pt x="1039603" y="202495"/>
                  </a:lnTo>
                  <a:lnTo>
                    <a:pt x="0" y="202495"/>
                  </a:lnTo>
                  <a:close/>
                </a:path>
              </a:pathLst>
            </a:custGeom>
            <a:solidFill>
              <a:srgbClr val="08143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9525"/>
              <a:ext cx="1039603" cy="2120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1"/>
                </a:lnSpc>
              </a:pPr>
              <a:endParaRPr/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17AC541E-F3C7-D446-F0E5-C4133FFA7F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2499650"/>
            <a:ext cx="17882489" cy="67757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43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B7A600-E283-61FA-4A15-DE254AA61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570B0293-05C1-43EE-7D43-8C35864612B6}"/>
              </a:ext>
            </a:extLst>
          </p:cNvPr>
          <p:cNvGrpSpPr/>
          <p:nvPr/>
        </p:nvGrpSpPr>
        <p:grpSpPr>
          <a:xfrm>
            <a:off x="754971" y="466706"/>
            <a:ext cx="13040392" cy="411804"/>
            <a:chOff x="0" y="0"/>
            <a:chExt cx="17387189" cy="549072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B9B875BB-24A9-E843-2DA5-3814DB521C42}"/>
                </a:ext>
              </a:extLst>
            </p:cNvPr>
            <p:cNvSpPr/>
            <p:nvPr/>
          </p:nvSpPr>
          <p:spPr>
            <a:xfrm>
              <a:off x="0" y="0"/>
              <a:ext cx="17387184" cy="549069"/>
            </a:xfrm>
            <a:custGeom>
              <a:avLst/>
              <a:gdLst/>
              <a:ahLst/>
              <a:cxnLst/>
              <a:rect l="l" t="t" r="r" b="b"/>
              <a:pathLst>
                <a:path w="17387184" h="549069">
                  <a:moveTo>
                    <a:pt x="0" y="0"/>
                  </a:moveTo>
                  <a:lnTo>
                    <a:pt x="17387184" y="0"/>
                  </a:lnTo>
                  <a:lnTo>
                    <a:pt x="17387184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67026" b="-56702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5A3C6ABC-D9E3-8B07-BCC8-2ED2F2417D23}"/>
                </a:ext>
              </a:extLst>
            </p:cNvPr>
            <p:cNvSpPr txBox="1"/>
            <p:nvPr/>
          </p:nvSpPr>
          <p:spPr>
            <a:xfrm>
              <a:off x="0" y="-9525"/>
              <a:ext cx="17387189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1"/>
                </a:lnSpc>
              </a:pPr>
              <a:r>
                <a:rPr lang="en-US" sz="1501" spc="375" dirty="0">
                  <a:solidFill>
                    <a:srgbClr val="FFF2C2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THE AGE-OLD PROBLEM</a:t>
              </a:r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79157720-6AC9-1431-A2F2-DCD174818CFD}"/>
              </a:ext>
            </a:extLst>
          </p:cNvPr>
          <p:cNvGrpSpPr/>
          <p:nvPr/>
        </p:nvGrpSpPr>
        <p:grpSpPr>
          <a:xfrm>
            <a:off x="713794" y="796147"/>
            <a:ext cx="15511196" cy="851057"/>
            <a:chOff x="0" y="0"/>
            <a:chExt cx="20681594" cy="1134743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E2D725D9-1F33-F93C-828A-23F2819D5478}"/>
                </a:ext>
              </a:extLst>
            </p:cNvPr>
            <p:cNvSpPr/>
            <p:nvPr/>
          </p:nvSpPr>
          <p:spPr>
            <a:xfrm>
              <a:off x="0" y="0"/>
              <a:ext cx="20681598" cy="1134740"/>
            </a:xfrm>
            <a:custGeom>
              <a:avLst/>
              <a:gdLst/>
              <a:ahLst/>
              <a:cxnLst/>
              <a:rect l="l" t="t" r="r" b="b"/>
              <a:pathLst>
                <a:path w="20681598" h="1134740">
                  <a:moveTo>
                    <a:pt x="0" y="0"/>
                  </a:moveTo>
                  <a:lnTo>
                    <a:pt x="20681598" y="0"/>
                  </a:lnTo>
                  <a:lnTo>
                    <a:pt x="20681598" y="1134740"/>
                  </a:lnTo>
                  <a:lnTo>
                    <a:pt x="0" y="11347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05131" b="-30513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0289AC25-CEEB-F155-C482-44A38928DB76}"/>
                </a:ext>
              </a:extLst>
            </p:cNvPr>
            <p:cNvSpPr txBox="1"/>
            <p:nvPr/>
          </p:nvSpPr>
          <p:spPr>
            <a:xfrm>
              <a:off x="0" y="0"/>
              <a:ext cx="20681594" cy="1134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3"/>
                </a:lnSpc>
              </a:pPr>
              <a:r>
                <a:rPr lang="en-US" sz="3903" b="1" dirty="0">
                  <a:gradFill>
                    <a:gsLst>
                      <a:gs pos="0">
                        <a:srgbClr val="FFFFFF">
                          <a:alpha val="100000"/>
                        </a:srgbClr>
                      </a:gs>
                      <a:gs pos="100000">
                        <a:srgbClr val="FFF2C3">
                          <a:alpha val="100000"/>
                        </a:srgbClr>
                      </a:gs>
                    </a:gsLst>
                    <a:lin ang="5400000"/>
                  </a:gradFill>
                  <a:latin typeface="Inter Bold"/>
                  <a:ea typeface="Inter Bold"/>
                  <a:cs typeface="Inter Bold"/>
                  <a:sym typeface="Inter Bold"/>
                </a:rPr>
                <a:t>Missions are Left Waiting </a:t>
              </a: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25FC75F1-EF41-E9B8-C419-851A25051EB7}"/>
              </a:ext>
            </a:extLst>
          </p:cNvPr>
          <p:cNvGrpSpPr/>
          <p:nvPr/>
        </p:nvGrpSpPr>
        <p:grpSpPr>
          <a:xfrm>
            <a:off x="16217002" y="466706"/>
            <a:ext cx="1329867" cy="1386402"/>
            <a:chOff x="0" y="0"/>
            <a:chExt cx="1053363" cy="1098144"/>
          </a:xfrm>
        </p:grpSpPr>
        <p:sp>
          <p:nvSpPr>
            <p:cNvPr id="9" name="Freeform 9" descr="/Users/hstrauss/Documents/GitHub/belvedere-pm/output/deck-rebuild/belv_mark.png">
              <a:extLst>
                <a:ext uri="{FF2B5EF4-FFF2-40B4-BE49-F238E27FC236}">
                  <a16:creationId xmlns:a16="http://schemas.microsoft.com/office/drawing/2014/main" id="{FA8A6F24-A4BB-E62D-5356-68E57775BF93}"/>
                </a:ext>
              </a:extLst>
            </p:cNvPr>
            <p:cNvSpPr/>
            <p:nvPr/>
          </p:nvSpPr>
          <p:spPr>
            <a:xfrm>
              <a:off x="0" y="0"/>
              <a:ext cx="1053338" cy="1098169"/>
            </a:xfrm>
            <a:custGeom>
              <a:avLst/>
              <a:gdLst/>
              <a:ahLst/>
              <a:cxnLst/>
              <a:rect l="l" t="t" r="r" b="b"/>
              <a:pathLst>
                <a:path w="1053338" h="1098169">
                  <a:moveTo>
                    <a:pt x="0" y="0"/>
                  </a:moveTo>
                  <a:lnTo>
                    <a:pt x="1053338" y="0"/>
                  </a:lnTo>
                  <a:lnTo>
                    <a:pt x="1053338" y="1098169"/>
                  </a:lnTo>
                  <a:lnTo>
                    <a:pt x="0" y="1098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2" b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79E5ADDE-0A81-A071-6FBD-DE4786DEB511}"/>
              </a:ext>
            </a:extLst>
          </p:cNvPr>
          <p:cNvGrpSpPr/>
          <p:nvPr/>
        </p:nvGrpSpPr>
        <p:grpSpPr>
          <a:xfrm>
            <a:off x="727520" y="1619755"/>
            <a:ext cx="16472068" cy="466706"/>
            <a:chOff x="0" y="0"/>
            <a:chExt cx="21962758" cy="622275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7DF616AB-8B95-0F7D-7945-D17953AF2A1A}"/>
                </a:ext>
              </a:extLst>
            </p:cNvPr>
            <p:cNvSpPr/>
            <p:nvPr/>
          </p:nvSpPr>
          <p:spPr>
            <a:xfrm>
              <a:off x="0" y="0"/>
              <a:ext cx="21962759" cy="622278"/>
            </a:xfrm>
            <a:custGeom>
              <a:avLst/>
              <a:gdLst/>
              <a:ahLst/>
              <a:cxnLst/>
              <a:rect l="l" t="t" r="r" b="b"/>
              <a:pathLst>
                <a:path w="21962759" h="622278">
                  <a:moveTo>
                    <a:pt x="0" y="0"/>
                  </a:moveTo>
                  <a:lnTo>
                    <a:pt x="21962759" y="0"/>
                  </a:lnTo>
                  <a:lnTo>
                    <a:pt x="21962759" y="622278"/>
                  </a:lnTo>
                  <a:lnTo>
                    <a:pt x="0" y="62227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37707" b="-637706"/>
              </a:stretch>
            </a:blip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C45E9031-87D4-60FE-4ACF-FF99E33CC7FD}"/>
                </a:ext>
              </a:extLst>
            </p:cNvPr>
            <p:cNvSpPr txBox="1"/>
            <p:nvPr/>
          </p:nvSpPr>
          <p:spPr>
            <a:xfrm>
              <a:off x="0" y="-9525"/>
              <a:ext cx="21962758" cy="631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1"/>
                </a:lnSpc>
              </a:pPr>
              <a:r>
                <a:rPr lang="en-US" sz="1951" dirty="0">
                  <a:solidFill>
                    <a:srgbClr val="9BA4BE"/>
                  </a:solidFill>
                  <a:latin typeface="Inter"/>
                  <a:ea typeface="Inter"/>
                  <a:cs typeface="Inter"/>
                  <a:sym typeface="Inter"/>
                </a:rPr>
                <a:t>Data preparation continues to be 80% of the problem and current solutions cause other issues…  </a:t>
              </a: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C0B81E29-273E-3F03-7847-B4736ECD7F66}"/>
              </a:ext>
            </a:extLst>
          </p:cNvPr>
          <p:cNvGrpSpPr/>
          <p:nvPr/>
        </p:nvGrpSpPr>
        <p:grpSpPr>
          <a:xfrm>
            <a:off x="754971" y="2168823"/>
            <a:ext cx="16791899" cy="15097"/>
            <a:chOff x="0" y="0"/>
            <a:chExt cx="22389198" cy="20130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2FAEF62D-F867-923D-EEC3-5CC7228A86EC}"/>
                </a:ext>
              </a:extLst>
            </p:cNvPr>
            <p:cNvSpPr/>
            <p:nvPr/>
          </p:nvSpPr>
          <p:spPr>
            <a:xfrm>
              <a:off x="0" y="0"/>
              <a:ext cx="22389212" cy="20193"/>
            </a:xfrm>
            <a:custGeom>
              <a:avLst/>
              <a:gdLst/>
              <a:ahLst/>
              <a:cxnLst/>
              <a:rect l="l" t="t" r="r" b="b"/>
              <a:pathLst>
                <a:path w="22389212" h="20193">
                  <a:moveTo>
                    <a:pt x="0" y="0"/>
                  </a:moveTo>
                  <a:lnTo>
                    <a:pt x="22389212" y="0"/>
                  </a:lnTo>
                  <a:lnTo>
                    <a:pt x="22389212" y="20193"/>
                  </a:lnTo>
                  <a:lnTo>
                    <a:pt x="0" y="20193"/>
                  </a:lnTo>
                  <a:close/>
                </a:path>
              </a:pathLst>
            </a:custGeom>
            <a:solidFill>
              <a:srgbClr val="1A2D5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458A7FD1-69F7-3AE5-0AA6-64051E6D356B}"/>
              </a:ext>
            </a:extLst>
          </p:cNvPr>
          <p:cNvGrpSpPr/>
          <p:nvPr/>
        </p:nvGrpSpPr>
        <p:grpSpPr>
          <a:xfrm>
            <a:off x="0" y="9773431"/>
            <a:ext cx="18301840" cy="343167"/>
            <a:chOff x="0" y="0"/>
            <a:chExt cx="24402453" cy="457556"/>
          </a:xfrm>
        </p:grpSpPr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657206E7-9495-D359-B39B-DE4BD218BFC6}"/>
                </a:ext>
              </a:extLst>
            </p:cNvPr>
            <p:cNvSpPr/>
            <p:nvPr/>
          </p:nvSpPr>
          <p:spPr>
            <a:xfrm>
              <a:off x="0" y="0"/>
              <a:ext cx="24402455" cy="457557"/>
            </a:xfrm>
            <a:custGeom>
              <a:avLst/>
              <a:gdLst/>
              <a:ahLst/>
              <a:cxnLst/>
              <a:rect l="l" t="t" r="r" b="b"/>
              <a:pathLst>
                <a:path w="24402455" h="457557">
                  <a:moveTo>
                    <a:pt x="0" y="0"/>
                  </a:moveTo>
                  <a:lnTo>
                    <a:pt x="24402455" y="0"/>
                  </a:lnTo>
                  <a:lnTo>
                    <a:pt x="24402455" y="457557"/>
                  </a:lnTo>
                  <a:lnTo>
                    <a:pt x="0" y="45755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89176" b="-98917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38007AAF-0211-42A9-AEAE-C3FE86097ACC}"/>
                </a:ext>
              </a:extLst>
            </p:cNvPr>
            <p:cNvSpPr txBox="1"/>
            <p:nvPr/>
          </p:nvSpPr>
          <p:spPr>
            <a:xfrm>
              <a:off x="0" y="0"/>
              <a:ext cx="24402453" cy="4575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351"/>
                </a:lnSpc>
              </a:pPr>
              <a:r>
                <a:rPr lang="en-US" sz="1125" spc="450">
                  <a:solidFill>
                    <a:srgbClr val="8590B3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CLEARFRACTURE.AI</a:t>
              </a:r>
            </a:p>
          </p:txBody>
        </p:sp>
      </p:grpSp>
      <p:grpSp>
        <p:nvGrpSpPr>
          <p:cNvPr id="18" name="Group 18">
            <a:extLst>
              <a:ext uri="{FF2B5EF4-FFF2-40B4-BE49-F238E27FC236}">
                <a16:creationId xmlns:a16="http://schemas.microsoft.com/office/drawing/2014/main" id="{98920C14-AA72-46E6-D115-1D1300E83A4A}"/>
              </a:ext>
            </a:extLst>
          </p:cNvPr>
          <p:cNvGrpSpPr/>
          <p:nvPr/>
        </p:nvGrpSpPr>
        <p:grpSpPr>
          <a:xfrm>
            <a:off x="17135065" y="9773431"/>
            <a:ext cx="823608" cy="343168"/>
            <a:chOff x="0" y="0"/>
            <a:chExt cx="1098144" cy="457557"/>
          </a:xfrm>
        </p:grpSpPr>
        <p:sp>
          <p:nvSpPr>
            <p:cNvPr id="19" name="Freeform 19">
              <a:extLst>
                <a:ext uri="{FF2B5EF4-FFF2-40B4-BE49-F238E27FC236}">
                  <a16:creationId xmlns:a16="http://schemas.microsoft.com/office/drawing/2014/main" id="{77D094D3-7338-3E5D-44EF-E45A0AC65574}"/>
                </a:ext>
              </a:extLst>
            </p:cNvPr>
            <p:cNvSpPr/>
            <p:nvPr/>
          </p:nvSpPr>
          <p:spPr>
            <a:xfrm>
              <a:off x="0" y="0"/>
              <a:ext cx="1098138" cy="457559"/>
            </a:xfrm>
            <a:custGeom>
              <a:avLst/>
              <a:gdLst/>
              <a:ahLst/>
              <a:cxnLst/>
              <a:rect l="l" t="t" r="r" b="b"/>
              <a:pathLst>
                <a:path w="1098138" h="457559">
                  <a:moveTo>
                    <a:pt x="0" y="0"/>
                  </a:moveTo>
                  <a:lnTo>
                    <a:pt x="1098138" y="0"/>
                  </a:lnTo>
                  <a:lnTo>
                    <a:pt x="1098138" y="457559"/>
                  </a:lnTo>
                  <a:lnTo>
                    <a:pt x="0" y="45755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59" r="-345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>
              <a:extLst>
                <a:ext uri="{FF2B5EF4-FFF2-40B4-BE49-F238E27FC236}">
                  <a16:creationId xmlns:a16="http://schemas.microsoft.com/office/drawing/2014/main" id="{E16FBE40-E9A2-82BA-4F0B-3342BE038C7E}"/>
                </a:ext>
              </a:extLst>
            </p:cNvPr>
            <p:cNvSpPr txBox="1"/>
            <p:nvPr/>
          </p:nvSpPr>
          <p:spPr>
            <a:xfrm>
              <a:off x="0" y="0"/>
              <a:ext cx="1098144" cy="45755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351"/>
                </a:lnSpc>
              </a:pPr>
              <a:r>
                <a:rPr lang="en-US" sz="1125">
                  <a:solidFill>
                    <a:srgbClr val="8590B3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03/13</a:t>
              </a:r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B017237B-E622-C779-DB9B-1FBC2A314152}"/>
              </a:ext>
            </a:extLst>
          </p:cNvPr>
          <p:cNvGrpSpPr/>
          <p:nvPr/>
        </p:nvGrpSpPr>
        <p:grpSpPr>
          <a:xfrm>
            <a:off x="754971" y="7539023"/>
            <a:ext cx="3947241" cy="768847"/>
            <a:chOff x="0" y="0"/>
            <a:chExt cx="1039603" cy="202495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E1FC6C6E-1BD2-82DA-DBE3-148D3E6B5380}"/>
                </a:ext>
              </a:extLst>
            </p:cNvPr>
            <p:cNvSpPr/>
            <p:nvPr/>
          </p:nvSpPr>
          <p:spPr>
            <a:xfrm>
              <a:off x="0" y="0"/>
              <a:ext cx="1039603" cy="202495"/>
            </a:xfrm>
            <a:custGeom>
              <a:avLst/>
              <a:gdLst/>
              <a:ahLst/>
              <a:cxnLst/>
              <a:rect l="l" t="t" r="r" b="b"/>
              <a:pathLst>
                <a:path w="1039603" h="202495">
                  <a:moveTo>
                    <a:pt x="0" y="0"/>
                  </a:moveTo>
                  <a:lnTo>
                    <a:pt x="1039603" y="0"/>
                  </a:lnTo>
                  <a:lnTo>
                    <a:pt x="1039603" y="202495"/>
                  </a:lnTo>
                  <a:lnTo>
                    <a:pt x="0" y="202495"/>
                  </a:lnTo>
                  <a:close/>
                </a:path>
              </a:pathLst>
            </a:custGeom>
            <a:solidFill>
              <a:srgbClr val="08143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381600B3-9B92-29BF-9D41-4583B7804E23}"/>
                </a:ext>
              </a:extLst>
            </p:cNvPr>
            <p:cNvSpPr txBox="1"/>
            <p:nvPr/>
          </p:nvSpPr>
          <p:spPr>
            <a:xfrm>
              <a:off x="0" y="-9525"/>
              <a:ext cx="1039603" cy="2120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1"/>
                </a:lnSpc>
              </a:pPr>
              <a:endParaRPr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84BF72D3-F711-3EAD-DA38-18F07F3B28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458797"/>
            <a:ext cx="17275878" cy="6545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23351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4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54971" y="466706"/>
            <a:ext cx="13040392" cy="411802"/>
            <a:chOff x="0" y="0"/>
            <a:chExt cx="17387189" cy="54906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387184" cy="549066"/>
            </a:xfrm>
            <a:custGeom>
              <a:avLst/>
              <a:gdLst/>
              <a:ahLst/>
              <a:cxnLst/>
              <a:rect l="l" t="t" r="r" b="b"/>
              <a:pathLst>
                <a:path w="17387184" h="549066">
                  <a:moveTo>
                    <a:pt x="0" y="0"/>
                  </a:moveTo>
                  <a:lnTo>
                    <a:pt x="17387184" y="0"/>
                  </a:lnTo>
                  <a:lnTo>
                    <a:pt x="17387184" y="549066"/>
                  </a:lnTo>
                  <a:lnTo>
                    <a:pt x="0" y="5490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67029" b="-56703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7387189" cy="5585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1"/>
                </a:lnSpc>
              </a:pPr>
              <a:r>
                <a:rPr lang="en-US" sz="1501" spc="375">
                  <a:solidFill>
                    <a:srgbClr val="FFF2C2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AI CAN FIX THAT, RIGHT?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13794" y="796147"/>
            <a:ext cx="15511196" cy="851059"/>
            <a:chOff x="0" y="0"/>
            <a:chExt cx="20681594" cy="1134745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0681598" cy="1134743"/>
            </a:xfrm>
            <a:custGeom>
              <a:avLst/>
              <a:gdLst/>
              <a:ahLst/>
              <a:cxnLst/>
              <a:rect l="l" t="t" r="r" b="b"/>
              <a:pathLst>
                <a:path w="20681598" h="1134743">
                  <a:moveTo>
                    <a:pt x="0" y="0"/>
                  </a:moveTo>
                  <a:lnTo>
                    <a:pt x="20681598" y="0"/>
                  </a:lnTo>
                  <a:lnTo>
                    <a:pt x="20681598" y="1134743"/>
                  </a:lnTo>
                  <a:lnTo>
                    <a:pt x="0" y="113474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05130" b="-30513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0"/>
              <a:ext cx="20681594" cy="11347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3"/>
                </a:lnSpc>
              </a:pPr>
              <a:r>
                <a:rPr lang="en-US" sz="3903" b="1" dirty="0">
                  <a:solidFill>
                    <a:srgbClr val="F0F1F4"/>
                  </a:solidFill>
                  <a:latin typeface="Inter Bold"/>
                  <a:ea typeface="Inter Bold"/>
                  <a:cs typeface="Inter Bold"/>
                  <a:sym typeface="Inter Bold"/>
                </a:rPr>
                <a:t>Should You </a:t>
              </a:r>
              <a:r>
                <a:rPr lang="en-US" sz="3903" b="1" dirty="0">
                  <a:solidFill>
                    <a:srgbClr val="FFF2C2"/>
                  </a:solidFill>
                  <a:latin typeface="Inter Bold"/>
                  <a:ea typeface="Inter Bold"/>
                  <a:cs typeface="Inter Bold"/>
                  <a:sym typeface="Inter Bold"/>
                </a:rPr>
                <a:t>Throw AI at It?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217001" y="466706"/>
            <a:ext cx="1329868" cy="1386403"/>
            <a:chOff x="0" y="0"/>
            <a:chExt cx="1053363" cy="1098144"/>
          </a:xfrm>
        </p:grpSpPr>
        <p:sp>
          <p:nvSpPr>
            <p:cNvPr id="9" name="Freeform 9" descr="/Users/hstrauss/Documents/GitHub/belvedere-pm/output/deck-rebuild/belv_mark.png"/>
            <p:cNvSpPr/>
            <p:nvPr/>
          </p:nvSpPr>
          <p:spPr>
            <a:xfrm>
              <a:off x="0" y="0"/>
              <a:ext cx="1053338" cy="1098169"/>
            </a:xfrm>
            <a:custGeom>
              <a:avLst/>
              <a:gdLst/>
              <a:ahLst/>
              <a:cxnLst/>
              <a:rect l="l" t="t" r="r" b="b"/>
              <a:pathLst>
                <a:path w="1053338" h="1098169">
                  <a:moveTo>
                    <a:pt x="0" y="0"/>
                  </a:moveTo>
                  <a:lnTo>
                    <a:pt x="1053338" y="0"/>
                  </a:lnTo>
                  <a:lnTo>
                    <a:pt x="1053338" y="1098169"/>
                  </a:lnTo>
                  <a:lnTo>
                    <a:pt x="0" y="1098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2" b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27520" y="1619755"/>
            <a:ext cx="16472068" cy="466709"/>
            <a:chOff x="0" y="0"/>
            <a:chExt cx="21962758" cy="62227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1962759" cy="622282"/>
            </a:xfrm>
            <a:custGeom>
              <a:avLst/>
              <a:gdLst/>
              <a:ahLst/>
              <a:cxnLst/>
              <a:rect l="l" t="t" r="r" b="b"/>
              <a:pathLst>
                <a:path w="21962759" h="622282">
                  <a:moveTo>
                    <a:pt x="0" y="0"/>
                  </a:moveTo>
                  <a:lnTo>
                    <a:pt x="21962759" y="0"/>
                  </a:lnTo>
                  <a:lnTo>
                    <a:pt x="21962759" y="622282"/>
                  </a:lnTo>
                  <a:lnTo>
                    <a:pt x="0" y="62228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37703" b="-63770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21962758" cy="63180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1"/>
                </a:lnSpc>
              </a:pPr>
              <a:r>
                <a:rPr lang="en-US" sz="1951" dirty="0">
                  <a:solidFill>
                    <a:srgbClr val="9BA4BE"/>
                  </a:solidFill>
                  <a:latin typeface="Inter"/>
                  <a:ea typeface="Inter"/>
                  <a:cs typeface="Inter"/>
                  <a:sym typeface="Inter"/>
                </a:rPr>
                <a:t>You get answers, but can you trust and afford them?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54971" y="2168823"/>
            <a:ext cx="16791899" cy="15097"/>
            <a:chOff x="0" y="0"/>
            <a:chExt cx="22389198" cy="2013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2389212" cy="20193"/>
            </a:xfrm>
            <a:custGeom>
              <a:avLst/>
              <a:gdLst/>
              <a:ahLst/>
              <a:cxnLst/>
              <a:rect l="l" t="t" r="r" b="b"/>
              <a:pathLst>
                <a:path w="22389212" h="20193">
                  <a:moveTo>
                    <a:pt x="0" y="0"/>
                  </a:moveTo>
                  <a:lnTo>
                    <a:pt x="22389212" y="0"/>
                  </a:lnTo>
                  <a:lnTo>
                    <a:pt x="22389212" y="20193"/>
                  </a:lnTo>
                  <a:lnTo>
                    <a:pt x="0" y="20193"/>
                  </a:lnTo>
                  <a:close/>
                </a:path>
              </a:pathLst>
            </a:custGeom>
            <a:solidFill>
              <a:srgbClr val="1A2D5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135065" y="9773431"/>
            <a:ext cx="823608" cy="343168"/>
            <a:chOff x="0" y="0"/>
            <a:chExt cx="1098144" cy="457557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98138" cy="457559"/>
            </a:xfrm>
            <a:custGeom>
              <a:avLst/>
              <a:gdLst/>
              <a:ahLst/>
              <a:cxnLst/>
              <a:rect l="l" t="t" r="r" b="b"/>
              <a:pathLst>
                <a:path w="1098138" h="457559">
                  <a:moveTo>
                    <a:pt x="0" y="0"/>
                  </a:moveTo>
                  <a:lnTo>
                    <a:pt x="1098138" y="0"/>
                  </a:lnTo>
                  <a:lnTo>
                    <a:pt x="1098138" y="457559"/>
                  </a:lnTo>
                  <a:lnTo>
                    <a:pt x="0" y="45755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59" r="-345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1098144" cy="45755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351"/>
                </a:lnSpc>
              </a:pPr>
              <a:r>
                <a:rPr lang="en-US" sz="1125">
                  <a:solidFill>
                    <a:srgbClr val="8590B3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04/13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387014" y="2319247"/>
            <a:ext cx="17513973" cy="4660971"/>
            <a:chOff x="0" y="0"/>
            <a:chExt cx="21230666" cy="5650090"/>
          </a:xfrm>
        </p:grpSpPr>
        <p:sp>
          <p:nvSpPr>
            <p:cNvPr id="19" name="Freeform 19" descr="/Users/hstrauss/Documents/GitHub/belvedere-pm/output/deck-rebuild/illus/aibox.png"/>
            <p:cNvSpPr/>
            <p:nvPr/>
          </p:nvSpPr>
          <p:spPr>
            <a:xfrm>
              <a:off x="0" y="0"/>
              <a:ext cx="21230717" cy="5650103"/>
            </a:xfrm>
            <a:custGeom>
              <a:avLst/>
              <a:gdLst/>
              <a:ahLst/>
              <a:cxnLst/>
              <a:rect l="l" t="t" r="r" b="b"/>
              <a:pathLst>
                <a:path w="21230717" h="5650103">
                  <a:moveTo>
                    <a:pt x="0" y="0"/>
                  </a:moveTo>
                  <a:lnTo>
                    <a:pt x="21230717" y="0"/>
                  </a:lnTo>
                  <a:lnTo>
                    <a:pt x="21230717" y="5650103"/>
                  </a:lnTo>
                  <a:lnTo>
                    <a:pt x="0" y="56501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754971" y="7487182"/>
            <a:ext cx="8071314" cy="13726"/>
            <a:chOff x="0" y="0"/>
            <a:chExt cx="10761751" cy="18301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761726" cy="18288"/>
            </a:xfrm>
            <a:custGeom>
              <a:avLst/>
              <a:gdLst/>
              <a:ahLst/>
              <a:cxnLst/>
              <a:rect l="l" t="t" r="r" b="b"/>
              <a:pathLst>
                <a:path w="10761726" h="18288">
                  <a:moveTo>
                    <a:pt x="0" y="0"/>
                  </a:moveTo>
                  <a:lnTo>
                    <a:pt x="10761726" y="0"/>
                  </a:lnTo>
                  <a:lnTo>
                    <a:pt x="10761726" y="18288"/>
                  </a:lnTo>
                  <a:lnTo>
                    <a:pt x="0" y="18288"/>
                  </a:lnTo>
                  <a:close/>
                </a:path>
              </a:pathLst>
            </a:custGeom>
            <a:solidFill>
              <a:srgbClr val="1A2D5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754971" y="7483067"/>
            <a:ext cx="617706" cy="21965"/>
            <a:chOff x="0" y="0"/>
            <a:chExt cx="823608" cy="2928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23595" cy="29337"/>
            </a:xfrm>
            <a:custGeom>
              <a:avLst/>
              <a:gdLst/>
              <a:ahLst/>
              <a:cxnLst/>
              <a:rect l="l" t="t" r="r" b="b"/>
              <a:pathLst>
                <a:path w="823595" h="29337">
                  <a:moveTo>
                    <a:pt x="0" y="0"/>
                  </a:moveTo>
                  <a:lnTo>
                    <a:pt x="823595" y="0"/>
                  </a:lnTo>
                  <a:lnTo>
                    <a:pt x="823595" y="29337"/>
                  </a:lnTo>
                  <a:lnTo>
                    <a:pt x="0" y="29337"/>
                  </a:lnTo>
                  <a:close/>
                </a:path>
              </a:pathLst>
            </a:custGeom>
            <a:solidFill>
              <a:srgbClr val="FFF2C2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754971" y="7606606"/>
            <a:ext cx="617706" cy="411804"/>
            <a:chOff x="0" y="0"/>
            <a:chExt cx="823608" cy="54907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23603" cy="549069"/>
            </a:xfrm>
            <a:custGeom>
              <a:avLst/>
              <a:gdLst/>
              <a:ahLst/>
              <a:cxnLst/>
              <a:rect l="l" t="t" r="r" b="b"/>
              <a:pathLst>
                <a:path w="823603" h="549069">
                  <a:moveTo>
                    <a:pt x="0" y="0"/>
                  </a:moveTo>
                  <a:lnTo>
                    <a:pt x="823603" y="0"/>
                  </a:lnTo>
                  <a:lnTo>
                    <a:pt x="823603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5535" r="-355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823608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1"/>
                </a:lnSpc>
              </a:pPr>
              <a:r>
                <a:rPr lang="en-US" sz="1501">
                  <a:solidFill>
                    <a:srgbClr val="FFF2C2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01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413853" y="7579155"/>
            <a:ext cx="7412431" cy="411804"/>
            <a:chOff x="0" y="0"/>
            <a:chExt cx="9883242" cy="549072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9883241" cy="549069"/>
            </a:xfrm>
            <a:custGeom>
              <a:avLst/>
              <a:gdLst/>
              <a:ahLst/>
              <a:cxnLst/>
              <a:rect l="l" t="t" r="r" b="b"/>
              <a:pathLst>
                <a:path w="9883241" h="549069">
                  <a:moveTo>
                    <a:pt x="0" y="0"/>
                  </a:moveTo>
                  <a:lnTo>
                    <a:pt x="9883241" y="0"/>
                  </a:lnTo>
                  <a:lnTo>
                    <a:pt x="9883241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00730" b="-30073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9883242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1"/>
                </a:lnSpc>
              </a:pPr>
              <a:r>
                <a:rPr lang="en-US" sz="1951" b="1">
                  <a:solidFill>
                    <a:srgbClr val="F0F1F4"/>
                  </a:solidFill>
                  <a:latin typeface="Inter Bold"/>
                  <a:ea typeface="Inter Bold"/>
                  <a:cs typeface="Inter Bold"/>
                  <a:sym typeface="Inter Bold"/>
                </a:rPr>
                <a:t>Not transparent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1505293" y="8058806"/>
            <a:ext cx="7133463" cy="2590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6"/>
              </a:lnSpc>
            </a:pPr>
            <a:r>
              <a:rPr lang="en-US" sz="1576">
                <a:solidFill>
                  <a:srgbClr val="9BA4BE"/>
                </a:solidFill>
                <a:latin typeface="Inter"/>
                <a:ea typeface="Inter"/>
                <a:cs typeface="Inter"/>
                <a:sym typeface="Inter"/>
              </a:rPr>
              <a:t>Models can't explain their actual reasoning.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9471441" y="7487182"/>
            <a:ext cx="8071314" cy="13726"/>
            <a:chOff x="0" y="0"/>
            <a:chExt cx="10761751" cy="18301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0761726" cy="18288"/>
            </a:xfrm>
            <a:custGeom>
              <a:avLst/>
              <a:gdLst/>
              <a:ahLst/>
              <a:cxnLst/>
              <a:rect l="l" t="t" r="r" b="b"/>
              <a:pathLst>
                <a:path w="10761726" h="18288">
                  <a:moveTo>
                    <a:pt x="0" y="0"/>
                  </a:moveTo>
                  <a:lnTo>
                    <a:pt x="10761726" y="0"/>
                  </a:lnTo>
                  <a:lnTo>
                    <a:pt x="10761726" y="18288"/>
                  </a:lnTo>
                  <a:lnTo>
                    <a:pt x="0" y="18288"/>
                  </a:lnTo>
                  <a:close/>
                </a:path>
              </a:pathLst>
            </a:custGeom>
            <a:solidFill>
              <a:srgbClr val="1A2D5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9471441" y="7483067"/>
            <a:ext cx="617706" cy="21965"/>
            <a:chOff x="0" y="0"/>
            <a:chExt cx="823608" cy="29286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23595" cy="29337"/>
            </a:xfrm>
            <a:custGeom>
              <a:avLst/>
              <a:gdLst/>
              <a:ahLst/>
              <a:cxnLst/>
              <a:rect l="l" t="t" r="r" b="b"/>
              <a:pathLst>
                <a:path w="823595" h="29337">
                  <a:moveTo>
                    <a:pt x="0" y="0"/>
                  </a:moveTo>
                  <a:lnTo>
                    <a:pt x="823595" y="0"/>
                  </a:lnTo>
                  <a:lnTo>
                    <a:pt x="823595" y="29337"/>
                  </a:lnTo>
                  <a:lnTo>
                    <a:pt x="0" y="29337"/>
                  </a:lnTo>
                  <a:close/>
                </a:path>
              </a:pathLst>
            </a:custGeom>
            <a:solidFill>
              <a:srgbClr val="FFF2C2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471441" y="7606606"/>
            <a:ext cx="617706" cy="411804"/>
            <a:chOff x="0" y="0"/>
            <a:chExt cx="823608" cy="549072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823603" cy="549069"/>
            </a:xfrm>
            <a:custGeom>
              <a:avLst/>
              <a:gdLst/>
              <a:ahLst/>
              <a:cxnLst/>
              <a:rect l="l" t="t" r="r" b="b"/>
              <a:pathLst>
                <a:path w="823603" h="549069">
                  <a:moveTo>
                    <a:pt x="0" y="0"/>
                  </a:moveTo>
                  <a:lnTo>
                    <a:pt x="823603" y="0"/>
                  </a:lnTo>
                  <a:lnTo>
                    <a:pt x="823603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5535" r="-355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9525"/>
              <a:ext cx="823608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1"/>
                </a:lnSpc>
              </a:pPr>
              <a:r>
                <a:rPr lang="en-US" sz="1501">
                  <a:solidFill>
                    <a:srgbClr val="FFF2C2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02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0130323" y="7579155"/>
            <a:ext cx="7412431" cy="411804"/>
            <a:chOff x="0" y="0"/>
            <a:chExt cx="9883242" cy="549072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9883241" cy="549069"/>
            </a:xfrm>
            <a:custGeom>
              <a:avLst/>
              <a:gdLst/>
              <a:ahLst/>
              <a:cxnLst/>
              <a:rect l="l" t="t" r="r" b="b"/>
              <a:pathLst>
                <a:path w="9883241" h="549069">
                  <a:moveTo>
                    <a:pt x="0" y="0"/>
                  </a:moveTo>
                  <a:lnTo>
                    <a:pt x="9883241" y="0"/>
                  </a:lnTo>
                  <a:lnTo>
                    <a:pt x="9883241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00730" b="-30073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9525"/>
              <a:ext cx="9883242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1"/>
                </a:lnSpc>
              </a:pPr>
              <a:r>
                <a:rPr lang="en-US" sz="1951" b="1">
                  <a:solidFill>
                    <a:srgbClr val="F0F1F4"/>
                  </a:solidFill>
                  <a:latin typeface="Inter Bold"/>
                  <a:ea typeface="Inter Bold"/>
                  <a:cs typeface="Inter Bold"/>
                  <a:sym typeface="Inter Bold"/>
                </a:rPr>
                <a:t>Hallucinates</a:t>
              </a: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10221763" y="8058806"/>
            <a:ext cx="7133463" cy="778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6"/>
              </a:lnSpc>
            </a:pPr>
            <a:r>
              <a:rPr lang="en-US" sz="1576">
                <a:solidFill>
                  <a:srgbClr val="9BA4BE"/>
                </a:solidFill>
                <a:latin typeface="Inter"/>
                <a:ea typeface="Inter"/>
                <a:cs typeface="Inter"/>
                <a:sym typeface="Inter"/>
              </a:rPr>
              <a:t>Errors delivered as confidently as facts.</a:t>
            </a:r>
          </a:p>
        </p:txBody>
      </p:sp>
      <p:grpSp>
        <p:nvGrpSpPr>
          <p:cNvPr id="42" name="Group 42"/>
          <p:cNvGrpSpPr/>
          <p:nvPr/>
        </p:nvGrpSpPr>
        <p:grpSpPr>
          <a:xfrm>
            <a:off x="754971" y="8927314"/>
            <a:ext cx="8071314" cy="13726"/>
            <a:chOff x="0" y="0"/>
            <a:chExt cx="10761751" cy="18301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0761726" cy="18288"/>
            </a:xfrm>
            <a:custGeom>
              <a:avLst/>
              <a:gdLst/>
              <a:ahLst/>
              <a:cxnLst/>
              <a:rect l="l" t="t" r="r" b="b"/>
              <a:pathLst>
                <a:path w="10761726" h="18288">
                  <a:moveTo>
                    <a:pt x="0" y="0"/>
                  </a:moveTo>
                  <a:lnTo>
                    <a:pt x="10761726" y="0"/>
                  </a:lnTo>
                  <a:lnTo>
                    <a:pt x="10761726" y="18288"/>
                  </a:lnTo>
                  <a:lnTo>
                    <a:pt x="0" y="18288"/>
                  </a:lnTo>
                  <a:close/>
                </a:path>
              </a:pathLst>
            </a:custGeom>
            <a:solidFill>
              <a:srgbClr val="1A2D5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754971" y="8923199"/>
            <a:ext cx="617706" cy="21965"/>
            <a:chOff x="0" y="0"/>
            <a:chExt cx="823608" cy="29286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23595" cy="29337"/>
            </a:xfrm>
            <a:custGeom>
              <a:avLst/>
              <a:gdLst/>
              <a:ahLst/>
              <a:cxnLst/>
              <a:rect l="l" t="t" r="r" b="b"/>
              <a:pathLst>
                <a:path w="823595" h="29337">
                  <a:moveTo>
                    <a:pt x="0" y="0"/>
                  </a:moveTo>
                  <a:lnTo>
                    <a:pt x="823595" y="0"/>
                  </a:lnTo>
                  <a:lnTo>
                    <a:pt x="823595" y="29337"/>
                  </a:lnTo>
                  <a:lnTo>
                    <a:pt x="0" y="29337"/>
                  </a:lnTo>
                  <a:close/>
                </a:path>
              </a:pathLst>
            </a:custGeom>
            <a:solidFill>
              <a:srgbClr val="FFF2C2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754971" y="9046739"/>
            <a:ext cx="617706" cy="411804"/>
            <a:chOff x="0" y="0"/>
            <a:chExt cx="823608" cy="54907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23603" cy="549069"/>
            </a:xfrm>
            <a:custGeom>
              <a:avLst/>
              <a:gdLst/>
              <a:ahLst/>
              <a:cxnLst/>
              <a:rect l="l" t="t" r="r" b="b"/>
              <a:pathLst>
                <a:path w="823603" h="549069">
                  <a:moveTo>
                    <a:pt x="0" y="0"/>
                  </a:moveTo>
                  <a:lnTo>
                    <a:pt x="823603" y="0"/>
                  </a:lnTo>
                  <a:lnTo>
                    <a:pt x="823603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5535" r="-355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9525"/>
              <a:ext cx="823608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1"/>
                </a:lnSpc>
              </a:pPr>
              <a:r>
                <a:rPr lang="en-US" sz="1501">
                  <a:solidFill>
                    <a:srgbClr val="FFF2C2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03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413853" y="9019288"/>
            <a:ext cx="7412431" cy="411804"/>
            <a:chOff x="0" y="0"/>
            <a:chExt cx="9883242" cy="54907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9883241" cy="549069"/>
            </a:xfrm>
            <a:custGeom>
              <a:avLst/>
              <a:gdLst/>
              <a:ahLst/>
              <a:cxnLst/>
              <a:rect l="l" t="t" r="r" b="b"/>
              <a:pathLst>
                <a:path w="9883241" h="549069">
                  <a:moveTo>
                    <a:pt x="0" y="0"/>
                  </a:moveTo>
                  <a:lnTo>
                    <a:pt x="9883241" y="0"/>
                  </a:lnTo>
                  <a:lnTo>
                    <a:pt x="9883241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00730" b="-30073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9525"/>
              <a:ext cx="9883242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1"/>
                </a:lnSpc>
              </a:pPr>
              <a:r>
                <a:rPr lang="en-US" sz="1951" b="1">
                  <a:solidFill>
                    <a:srgbClr val="F0F1F4"/>
                  </a:solidFill>
                  <a:latin typeface="Inter Bold"/>
                  <a:ea typeface="Inter Bold"/>
                  <a:cs typeface="Inter Bold"/>
                  <a:sym typeface="Inter Bold"/>
                </a:rPr>
                <a:t>Non-deterministic</a:t>
              </a:r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1505293" y="9498938"/>
            <a:ext cx="7133463" cy="778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6"/>
              </a:lnSpc>
            </a:pPr>
            <a:r>
              <a:rPr lang="en-US" sz="1576">
                <a:solidFill>
                  <a:srgbClr val="9BA4BE"/>
                </a:solidFill>
                <a:latin typeface="Inter"/>
                <a:ea typeface="Inter"/>
                <a:cs typeface="Inter"/>
                <a:sym typeface="Inter"/>
              </a:rPr>
              <a:t>The same question gets different answers.</a:t>
            </a:r>
          </a:p>
        </p:txBody>
      </p:sp>
      <p:grpSp>
        <p:nvGrpSpPr>
          <p:cNvPr id="53" name="Group 53"/>
          <p:cNvGrpSpPr/>
          <p:nvPr/>
        </p:nvGrpSpPr>
        <p:grpSpPr>
          <a:xfrm>
            <a:off x="9471441" y="8927314"/>
            <a:ext cx="8071314" cy="13726"/>
            <a:chOff x="0" y="0"/>
            <a:chExt cx="10761751" cy="18301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10761726" cy="18288"/>
            </a:xfrm>
            <a:custGeom>
              <a:avLst/>
              <a:gdLst/>
              <a:ahLst/>
              <a:cxnLst/>
              <a:rect l="l" t="t" r="r" b="b"/>
              <a:pathLst>
                <a:path w="10761726" h="18288">
                  <a:moveTo>
                    <a:pt x="0" y="0"/>
                  </a:moveTo>
                  <a:lnTo>
                    <a:pt x="10761726" y="0"/>
                  </a:lnTo>
                  <a:lnTo>
                    <a:pt x="10761726" y="18288"/>
                  </a:lnTo>
                  <a:lnTo>
                    <a:pt x="0" y="18288"/>
                  </a:lnTo>
                  <a:close/>
                </a:path>
              </a:pathLst>
            </a:custGeom>
            <a:solidFill>
              <a:srgbClr val="1A2D5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9471441" y="8923199"/>
            <a:ext cx="617706" cy="21965"/>
            <a:chOff x="0" y="0"/>
            <a:chExt cx="823608" cy="29286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823595" cy="29337"/>
            </a:xfrm>
            <a:custGeom>
              <a:avLst/>
              <a:gdLst/>
              <a:ahLst/>
              <a:cxnLst/>
              <a:rect l="l" t="t" r="r" b="b"/>
              <a:pathLst>
                <a:path w="823595" h="29337">
                  <a:moveTo>
                    <a:pt x="0" y="0"/>
                  </a:moveTo>
                  <a:lnTo>
                    <a:pt x="823595" y="0"/>
                  </a:lnTo>
                  <a:lnTo>
                    <a:pt x="823595" y="29337"/>
                  </a:lnTo>
                  <a:lnTo>
                    <a:pt x="0" y="29337"/>
                  </a:lnTo>
                  <a:close/>
                </a:path>
              </a:pathLst>
            </a:custGeom>
            <a:solidFill>
              <a:srgbClr val="FFF2C2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9471441" y="9046739"/>
            <a:ext cx="617706" cy="411804"/>
            <a:chOff x="0" y="0"/>
            <a:chExt cx="823608" cy="549072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823603" cy="549069"/>
            </a:xfrm>
            <a:custGeom>
              <a:avLst/>
              <a:gdLst/>
              <a:ahLst/>
              <a:cxnLst/>
              <a:rect l="l" t="t" r="r" b="b"/>
              <a:pathLst>
                <a:path w="823603" h="549069">
                  <a:moveTo>
                    <a:pt x="0" y="0"/>
                  </a:moveTo>
                  <a:lnTo>
                    <a:pt x="823603" y="0"/>
                  </a:lnTo>
                  <a:lnTo>
                    <a:pt x="823603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5535" r="-355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9525"/>
              <a:ext cx="823608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1"/>
                </a:lnSpc>
              </a:pPr>
              <a:r>
                <a:rPr lang="en-US" sz="1501">
                  <a:solidFill>
                    <a:srgbClr val="FFF2C2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04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10130323" y="9019288"/>
            <a:ext cx="7412431" cy="411804"/>
            <a:chOff x="0" y="0"/>
            <a:chExt cx="9883242" cy="549072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9883241" cy="549069"/>
            </a:xfrm>
            <a:custGeom>
              <a:avLst/>
              <a:gdLst/>
              <a:ahLst/>
              <a:cxnLst/>
              <a:rect l="l" t="t" r="r" b="b"/>
              <a:pathLst>
                <a:path w="9883241" h="549069">
                  <a:moveTo>
                    <a:pt x="0" y="0"/>
                  </a:moveTo>
                  <a:lnTo>
                    <a:pt x="9883241" y="0"/>
                  </a:lnTo>
                  <a:lnTo>
                    <a:pt x="9883241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00730" b="-30073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9525"/>
              <a:ext cx="9883242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1"/>
                </a:lnSpc>
              </a:pPr>
              <a:r>
                <a:rPr lang="en-US" sz="1951" b="1">
                  <a:solidFill>
                    <a:srgbClr val="F0F1F4"/>
                  </a:solidFill>
                  <a:latin typeface="Inter Bold"/>
                  <a:ea typeface="Inter Bold"/>
                  <a:cs typeface="Inter Bold"/>
                  <a:sym typeface="Inter Bold"/>
                </a:rPr>
                <a:t>Expensive</a:t>
              </a:r>
            </a:p>
          </p:txBody>
        </p:sp>
      </p:grpSp>
      <p:sp>
        <p:nvSpPr>
          <p:cNvPr id="63" name="TextBox 63"/>
          <p:cNvSpPr txBox="1"/>
          <p:nvPr/>
        </p:nvSpPr>
        <p:spPr>
          <a:xfrm>
            <a:off x="10221763" y="9498938"/>
            <a:ext cx="7133463" cy="778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6"/>
              </a:lnSpc>
            </a:pPr>
            <a:r>
              <a:rPr lang="en-US" sz="1576">
                <a:solidFill>
                  <a:srgbClr val="9BA4BE"/>
                </a:solidFill>
                <a:latin typeface="Inter"/>
                <a:ea typeface="Inter"/>
                <a:cs typeface="Inter"/>
                <a:sym typeface="Inter"/>
              </a:rPr>
              <a:t>Per-row inference drives costs up an order of magnitude.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4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54971" y="466706"/>
            <a:ext cx="13040392" cy="411802"/>
            <a:chOff x="0" y="0"/>
            <a:chExt cx="17387189" cy="54906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387184" cy="549066"/>
            </a:xfrm>
            <a:custGeom>
              <a:avLst/>
              <a:gdLst/>
              <a:ahLst/>
              <a:cxnLst/>
              <a:rect l="l" t="t" r="r" b="b"/>
              <a:pathLst>
                <a:path w="17387184" h="549066">
                  <a:moveTo>
                    <a:pt x="0" y="0"/>
                  </a:moveTo>
                  <a:lnTo>
                    <a:pt x="17387184" y="0"/>
                  </a:lnTo>
                  <a:lnTo>
                    <a:pt x="17387184" y="549066"/>
                  </a:lnTo>
                  <a:lnTo>
                    <a:pt x="0" y="5490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67029" b="-56703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7387189" cy="5585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1"/>
                </a:lnSpc>
              </a:pPr>
              <a:r>
                <a:rPr lang="en-US" sz="1501" spc="375">
                  <a:solidFill>
                    <a:srgbClr val="FFF2C2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RESPONSIBLE AI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13794" y="796147"/>
            <a:ext cx="15511196" cy="851057"/>
            <a:chOff x="0" y="0"/>
            <a:chExt cx="20681594" cy="113474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0681598" cy="1134740"/>
            </a:xfrm>
            <a:custGeom>
              <a:avLst/>
              <a:gdLst/>
              <a:ahLst/>
              <a:cxnLst/>
              <a:rect l="l" t="t" r="r" b="b"/>
              <a:pathLst>
                <a:path w="20681598" h="1134740">
                  <a:moveTo>
                    <a:pt x="0" y="0"/>
                  </a:moveTo>
                  <a:lnTo>
                    <a:pt x="20681598" y="0"/>
                  </a:lnTo>
                  <a:lnTo>
                    <a:pt x="20681598" y="1134740"/>
                  </a:lnTo>
                  <a:lnTo>
                    <a:pt x="0" y="11347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05131" b="-30513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0"/>
              <a:ext cx="20681594" cy="1134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3"/>
                </a:lnSpc>
              </a:pPr>
              <a:r>
                <a:rPr lang="en-US" sz="3903" b="1" dirty="0">
                  <a:solidFill>
                    <a:srgbClr val="F0F1F4"/>
                  </a:solidFill>
                  <a:latin typeface="Inter Bold"/>
                  <a:ea typeface="Inter Bold"/>
                  <a:cs typeface="Inter Bold"/>
                  <a:sym typeface="Inter Bold"/>
                </a:rPr>
                <a:t>Agents should </a:t>
              </a:r>
              <a:r>
                <a:rPr lang="en-US" sz="3903" b="1" dirty="0">
                  <a:solidFill>
                    <a:srgbClr val="FFF2C2"/>
                  </a:solidFill>
                  <a:latin typeface="Inter Bold"/>
                  <a:ea typeface="Inter Bold"/>
                  <a:cs typeface="Inter Bold"/>
                  <a:sym typeface="Inter Bold"/>
                </a:rPr>
                <a:t>Build</a:t>
              </a:r>
              <a:r>
                <a:rPr lang="en-US" sz="3903" b="1" dirty="0">
                  <a:solidFill>
                    <a:srgbClr val="F0F1F4"/>
                  </a:solidFill>
                  <a:latin typeface="Inter Bold"/>
                  <a:ea typeface="Inter Bold"/>
                  <a:cs typeface="Inter Bold"/>
                  <a:sym typeface="Inter Bold"/>
                </a:rPr>
                <a:t> the Pipeline, Not </a:t>
              </a:r>
              <a:r>
                <a:rPr lang="en-US" sz="3903" b="1" dirty="0">
                  <a:solidFill>
                    <a:srgbClr val="FFF2C2"/>
                  </a:solidFill>
                  <a:latin typeface="Inter Bold"/>
                  <a:ea typeface="Inter Bold"/>
                  <a:cs typeface="Inter Bold"/>
                  <a:sym typeface="Inter Bold"/>
                </a:rPr>
                <a:t>Be</a:t>
              </a:r>
              <a:r>
                <a:rPr lang="en-US" sz="3903" b="1" dirty="0">
                  <a:solidFill>
                    <a:srgbClr val="F0F1F4"/>
                  </a:solidFill>
                  <a:latin typeface="Inter Bold"/>
                  <a:ea typeface="Inter Bold"/>
                  <a:cs typeface="Inter Bold"/>
                  <a:sym typeface="Inter Bold"/>
                </a:rPr>
                <a:t> the Pipeline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169985" y="466706"/>
            <a:ext cx="1376884" cy="1435418"/>
            <a:chOff x="0" y="0"/>
            <a:chExt cx="1053363" cy="1098144"/>
          </a:xfrm>
        </p:grpSpPr>
        <p:sp>
          <p:nvSpPr>
            <p:cNvPr id="9" name="Freeform 9" descr="/Users/hstrauss/Documents/GitHub/belvedere-pm/output/deck-rebuild/belv_mark.png"/>
            <p:cNvSpPr/>
            <p:nvPr/>
          </p:nvSpPr>
          <p:spPr>
            <a:xfrm>
              <a:off x="0" y="0"/>
              <a:ext cx="1053338" cy="1098169"/>
            </a:xfrm>
            <a:custGeom>
              <a:avLst/>
              <a:gdLst/>
              <a:ahLst/>
              <a:cxnLst/>
              <a:rect l="l" t="t" r="r" b="b"/>
              <a:pathLst>
                <a:path w="1053338" h="1098169">
                  <a:moveTo>
                    <a:pt x="0" y="0"/>
                  </a:moveTo>
                  <a:lnTo>
                    <a:pt x="1053338" y="0"/>
                  </a:lnTo>
                  <a:lnTo>
                    <a:pt x="1053338" y="1098169"/>
                  </a:lnTo>
                  <a:lnTo>
                    <a:pt x="0" y="1098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2" b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27520" y="1619755"/>
            <a:ext cx="16472068" cy="466706"/>
            <a:chOff x="0" y="0"/>
            <a:chExt cx="21962758" cy="62227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1962759" cy="622278"/>
            </a:xfrm>
            <a:custGeom>
              <a:avLst/>
              <a:gdLst/>
              <a:ahLst/>
              <a:cxnLst/>
              <a:rect l="l" t="t" r="r" b="b"/>
              <a:pathLst>
                <a:path w="21962759" h="622278">
                  <a:moveTo>
                    <a:pt x="0" y="0"/>
                  </a:moveTo>
                  <a:lnTo>
                    <a:pt x="21962759" y="0"/>
                  </a:lnTo>
                  <a:lnTo>
                    <a:pt x="21962759" y="622278"/>
                  </a:lnTo>
                  <a:lnTo>
                    <a:pt x="0" y="62227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37707" b="-63770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21962758" cy="631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1"/>
                </a:lnSpc>
              </a:pPr>
              <a:r>
                <a:rPr lang="en-US" sz="1951">
                  <a:solidFill>
                    <a:srgbClr val="9BA4BE"/>
                  </a:solidFill>
                  <a:latin typeface="Inter"/>
                  <a:ea typeface="Inter"/>
                  <a:cs typeface="Inter"/>
                  <a:sym typeface="Inter"/>
                </a:rPr>
                <a:t>Belvedere applies AI at design time. What runs in production is approved, tested code that never improvises.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54971" y="2168823"/>
            <a:ext cx="16791899" cy="15097"/>
            <a:chOff x="0" y="0"/>
            <a:chExt cx="22389198" cy="2013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2389212" cy="20193"/>
            </a:xfrm>
            <a:custGeom>
              <a:avLst/>
              <a:gdLst/>
              <a:ahLst/>
              <a:cxnLst/>
              <a:rect l="l" t="t" r="r" b="b"/>
              <a:pathLst>
                <a:path w="22389212" h="20193">
                  <a:moveTo>
                    <a:pt x="0" y="0"/>
                  </a:moveTo>
                  <a:lnTo>
                    <a:pt x="22389212" y="0"/>
                  </a:lnTo>
                  <a:lnTo>
                    <a:pt x="22389212" y="20193"/>
                  </a:lnTo>
                  <a:lnTo>
                    <a:pt x="0" y="20193"/>
                  </a:lnTo>
                  <a:close/>
                </a:path>
              </a:pathLst>
            </a:custGeom>
            <a:solidFill>
              <a:srgbClr val="1A2D5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135065" y="9773431"/>
            <a:ext cx="823608" cy="343168"/>
            <a:chOff x="0" y="0"/>
            <a:chExt cx="1098144" cy="457557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98138" cy="457559"/>
            </a:xfrm>
            <a:custGeom>
              <a:avLst/>
              <a:gdLst/>
              <a:ahLst/>
              <a:cxnLst/>
              <a:rect l="l" t="t" r="r" b="b"/>
              <a:pathLst>
                <a:path w="1098138" h="457559">
                  <a:moveTo>
                    <a:pt x="0" y="0"/>
                  </a:moveTo>
                  <a:lnTo>
                    <a:pt x="1098138" y="0"/>
                  </a:lnTo>
                  <a:lnTo>
                    <a:pt x="1098138" y="457559"/>
                  </a:lnTo>
                  <a:lnTo>
                    <a:pt x="0" y="45755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59" r="-345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1098144" cy="45755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351"/>
                </a:lnSpc>
              </a:pPr>
              <a:r>
                <a:rPr lang="en-US" sz="1125">
                  <a:solidFill>
                    <a:srgbClr val="8590B3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05/13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754971" y="2637826"/>
            <a:ext cx="16791899" cy="6229251"/>
            <a:chOff x="0" y="0"/>
            <a:chExt cx="20132523" cy="7468514"/>
          </a:xfrm>
        </p:grpSpPr>
        <p:sp>
          <p:nvSpPr>
            <p:cNvPr id="19" name="Freeform 19" descr="/Users/hstrauss/Documents/GitHub/belvedere-pm/output/deck-rebuild/illus/stance.png"/>
            <p:cNvSpPr/>
            <p:nvPr/>
          </p:nvSpPr>
          <p:spPr>
            <a:xfrm>
              <a:off x="0" y="0"/>
              <a:ext cx="20132548" cy="7468489"/>
            </a:xfrm>
            <a:custGeom>
              <a:avLst/>
              <a:gdLst/>
              <a:ahLst/>
              <a:cxnLst/>
              <a:rect l="l" t="t" r="r" b="b"/>
              <a:pathLst>
                <a:path w="20132548" h="7468489">
                  <a:moveTo>
                    <a:pt x="0" y="0"/>
                  </a:moveTo>
                  <a:lnTo>
                    <a:pt x="20132548" y="0"/>
                  </a:lnTo>
                  <a:lnTo>
                    <a:pt x="20132548" y="7468489"/>
                  </a:lnTo>
                  <a:lnTo>
                    <a:pt x="0" y="74684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142020" y="8447279"/>
            <a:ext cx="7327372" cy="839596"/>
            <a:chOff x="0" y="0"/>
            <a:chExt cx="8785098" cy="1006627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785103" cy="1006626"/>
            </a:xfrm>
            <a:custGeom>
              <a:avLst/>
              <a:gdLst/>
              <a:ahLst/>
              <a:cxnLst/>
              <a:rect l="l" t="t" r="r" b="b"/>
              <a:pathLst>
                <a:path w="8785103" h="1006626">
                  <a:moveTo>
                    <a:pt x="0" y="0"/>
                  </a:moveTo>
                  <a:lnTo>
                    <a:pt x="8785103" y="0"/>
                  </a:lnTo>
                  <a:lnTo>
                    <a:pt x="8785103" y="1006626"/>
                  </a:lnTo>
                  <a:lnTo>
                    <a:pt x="0" y="100662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0051" b="-12005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8785098" cy="10542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01"/>
                </a:lnSpc>
              </a:pPr>
              <a:r>
                <a:rPr lang="en-US" sz="1351" spc="225">
                  <a:solidFill>
                    <a:srgbClr val="8590B3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AI IN THE DATA PATH:</a:t>
              </a:r>
            </a:p>
            <a:p>
              <a:pPr algn="ctr">
                <a:lnSpc>
                  <a:spcPts val="2101"/>
                </a:lnSpc>
              </a:pPr>
              <a:r>
                <a:rPr lang="en-US" sz="1351" spc="225">
                  <a:solidFill>
                    <a:srgbClr val="8590B3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OPAQUE, VARIABLE, EXPENSIVE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931928" y="8447279"/>
            <a:ext cx="7327372" cy="839596"/>
            <a:chOff x="0" y="0"/>
            <a:chExt cx="8785098" cy="1006627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785103" cy="1006626"/>
            </a:xfrm>
            <a:custGeom>
              <a:avLst/>
              <a:gdLst/>
              <a:ahLst/>
              <a:cxnLst/>
              <a:rect l="l" t="t" r="r" b="b"/>
              <a:pathLst>
                <a:path w="8785103" h="1006626">
                  <a:moveTo>
                    <a:pt x="0" y="0"/>
                  </a:moveTo>
                  <a:lnTo>
                    <a:pt x="8785103" y="0"/>
                  </a:lnTo>
                  <a:lnTo>
                    <a:pt x="8785103" y="1006626"/>
                  </a:lnTo>
                  <a:lnTo>
                    <a:pt x="0" y="100662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0051" b="-12005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8785098" cy="10542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01"/>
                </a:lnSpc>
              </a:pPr>
              <a:r>
                <a:rPr lang="en-US" sz="1351" spc="225">
                  <a:solidFill>
                    <a:srgbClr val="FFF2C2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AI AT DESIGN TIME:</a:t>
              </a:r>
            </a:p>
            <a:p>
              <a:pPr algn="ctr">
                <a:lnSpc>
                  <a:spcPts val="2101"/>
                </a:lnSpc>
              </a:pPr>
              <a:r>
                <a:rPr lang="en-US" sz="1351" spc="225">
                  <a:solidFill>
                    <a:srgbClr val="FFF2C2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DETERMINISTIC CODE IN PRODUCTION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3974262" y="3465203"/>
            <a:ext cx="864756" cy="626223"/>
            <a:chOff x="0" y="0"/>
            <a:chExt cx="227755" cy="164931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27755" cy="164931"/>
            </a:xfrm>
            <a:custGeom>
              <a:avLst/>
              <a:gdLst/>
              <a:ahLst/>
              <a:cxnLst/>
              <a:rect l="l" t="t" r="r" b="b"/>
              <a:pathLst>
                <a:path w="227755" h="164931">
                  <a:moveTo>
                    <a:pt x="0" y="0"/>
                  </a:moveTo>
                  <a:lnTo>
                    <a:pt x="227755" y="0"/>
                  </a:lnTo>
                  <a:lnTo>
                    <a:pt x="227755" y="164931"/>
                  </a:lnTo>
                  <a:lnTo>
                    <a:pt x="0" y="164931"/>
                  </a:lnTo>
                  <a:close/>
                </a:path>
              </a:pathLst>
            </a:custGeom>
            <a:solidFill>
              <a:srgbClr val="0A183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19050"/>
              <a:ext cx="227755" cy="1839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26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3917112" y="3199432"/>
            <a:ext cx="864756" cy="901518"/>
            <a:chOff x="0" y="0"/>
            <a:chExt cx="1053363" cy="1098144"/>
          </a:xfrm>
        </p:grpSpPr>
        <p:sp>
          <p:nvSpPr>
            <p:cNvPr id="30" name="Freeform 30" descr="/Users/hstrauss/Documents/GitHub/belvedere-pm/output/deck-rebuild/belv_mark.png"/>
            <p:cNvSpPr/>
            <p:nvPr/>
          </p:nvSpPr>
          <p:spPr>
            <a:xfrm>
              <a:off x="0" y="0"/>
              <a:ext cx="1053338" cy="1098169"/>
            </a:xfrm>
            <a:custGeom>
              <a:avLst/>
              <a:gdLst/>
              <a:ahLst/>
              <a:cxnLst/>
              <a:rect l="l" t="t" r="r" b="b"/>
              <a:pathLst>
                <a:path w="1053338" h="1098169">
                  <a:moveTo>
                    <a:pt x="0" y="0"/>
                  </a:moveTo>
                  <a:lnTo>
                    <a:pt x="1053338" y="0"/>
                  </a:lnTo>
                  <a:lnTo>
                    <a:pt x="1053338" y="1098169"/>
                  </a:lnTo>
                  <a:lnTo>
                    <a:pt x="0" y="1098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2" b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0" y="9773431"/>
            <a:ext cx="16214671" cy="343168"/>
            <a:chOff x="0" y="0"/>
            <a:chExt cx="21619562" cy="457557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21619563" cy="457559"/>
            </a:xfrm>
            <a:custGeom>
              <a:avLst/>
              <a:gdLst/>
              <a:ahLst/>
              <a:cxnLst/>
              <a:rect l="l" t="t" r="r" b="b"/>
              <a:pathLst>
                <a:path w="21619563" h="457559">
                  <a:moveTo>
                    <a:pt x="0" y="0"/>
                  </a:moveTo>
                  <a:lnTo>
                    <a:pt x="21619563" y="0"/>
                  </a:lnTo>
                  <a:lnTo>
                    <a:pt x="21619563" y="457559"/>
                  </a:lnTo>
                  <a:lnTo>
                    <a:pt x="0" y="45755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89172" r="-12872" b="-98917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0"/>
              <a:ext cx="21619562" cy="45755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351"/>
                </a:lnSpc>
              </a:pPr>
              <a:r>
                <a:rPr lang="en-US" sz="1125" spc="450">
                  <a:solidFill>
                    <a:srgbClr val="8590B3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CLEARFRACTURE.AI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4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54971" y="466706"/>
            <a:ext cx="13040392" cy="411804"/>
            <a:chOff x="0" y="0"/>
            <a:chExt cx="17387189" cy="54907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387184" cy="549069"/>
            </a:xfrm>
            <a:custGeom>
              <a:avLst/>
              <a:gdLst/>
              <a:ahLst/>
              <a:cxnLst/>
              <a:rect l="l" t="t" r="r" b="b"/>
              <a:pathLst>
                <a:path w="17387184" h="549069">
                  <a:moveTo>
                    <a:pt x="0" y="0"/>
                  </a:moveTo>
                  <a:lnTo>
                    <a:pt x="17387184" y="0"/>
                  </a:lnTo>
                  <a:lnTo>
                    <a:pt x="17387184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67026" b="-56702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7387189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1"/>
                </a:lnSpc>
              </a:pPr>
              <a:r>
                <a:rPr lang="en-US" sz="1501" spc="375" dirty="0">
                  <a:solidFill>
                    <a:srgbClr val="FFF2C2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TRUE AGILITY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13794" y="796147"/>
            <a:ext cx="15511196" cy="851059"/>
            <a:chOff x="0" y="0"/>
            <a:chExt cx="20681594" cy="1134745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0681598" cy="1134743"/>
            </a:xfrm>
            <a:custGeom>
              <a:avLst/>
              <a:gdLst/>
              <a:ahLst/>
              <a:cxnLst/>
              <a:rect l="l" t="t" r="r" b="b"/>
              <a:pathLst>
                <a:path w="20681598" h="1134743">
                  <a:moveTo>
                    <a:pt x="0" y="0"/>
                  </a:moveTo>
                  <a:lnTo>
                    <a:pt x="20681598" y="0"/>
                  </a:lnTo>
                  <a:lnTo>
                    <a:pt x="20681598" y="1134743"/>
                  </a:lnTo>
                  <a:lnTo>
                    <a:pt x="0" y="113474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05130" b="-30513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0"/>
              <a:ext cx="20681594" cy="11347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3"/>
                </a:lnSpc>
              </a:pPr>
              <a:r>
                <a:rPr lang="en-US" sz="3903" b="1" dirty="0">
                  <a:solidFill>
                    <a:srgbClr val="F0F1F4"/>
                  </a:solidFill>
                  <a:latin typeface="Inter Bold"/>
                  <a:ea typeface="Inter Bold"/>
                  <a:cs typeface="Inter Bold"/>
                  <a:sym typeface="Inter Bold"/>
                </a:rPr>
                <a:t>On-demand </a:t>
              </a:r>
              <a:r>
                <a:rPr lang="en-US" sz="3903" b="1" dirty="0">
                  <a:solidFill>
                    <a:srgbClr val="FFF2C2"/>
                  </a:solidFill>
                  <a:latin typeface="Inter Bold"/>
                  <a:ea typeface="Inter Bold"/>
                  <a:cs typeface="Inter Bold"/>
                  <a:sym typeface="Inter Bold"/>
                </a:rPr>
                <a:t>Fusion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217002" y="466706"/>
            <a:ext cx="1329867" cy="1386402"/>
            <a:chOff x="0" y="0"/>
            <a:chExt cx="1053363" cy="1098144"/>
          </a:xfrm>
        </p:grpSpPr>
        <p:sp>
          <p:nvSpPr>
            <p:cNvPr id="9" name="Freeform 9" descr="/Users/hstrauss/Documents/GitHub/belvedere-pm/output/deck-rebuild/belv_mark.png"/>
            <p:cNvSpPr/>
            <p:nvPr/>
          </p:nvSpPr>
          <p:spPr>
            <a:xfrm>
              <a:off x="0" y="0"/>
              <a:ext cx="1053338" cy="1098169"/>
            </a:xfrm>
            <a:custGeom>
              <a:avLst/>
              <a:gdLst/>
              <a:ahLst/>
              <a:cxnLst/>
              <a:rect l="l" t="t" r="r" b="b"/>
              <a:pathLst>
                <a:path w="1053338" h="1098169">
                  <a:moveTo>
                    <a:pt x="0" y="0"/>
                  </a:moveTo>
                  <a:lnTo>
                    <a:pt x="1053338" y="0"/>
                  </a:lnTo>
                  <a:lnTo>
                    <a:pt x="1053338" y="1098169"/>
                  </a:lnTo>
                  <a:lnTo>
                    <a:pt x="0" y="1098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2" b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27520" y="1619755"/>
            <a:ext cx="16472068" cy="466706"/>
            <a:chOff x="0" y="0"/>
            <a:chExt cx="21962758" cy="62227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1962759" cy="622278"/>
            </a:xfrm>
            <a:custGeom>
              <a:avLst/>
              <a:gdLst/>
              <a:ahLst/>
              <a:cxnLst/>
              <a:rect l="l" t="t" r="r" b="b"/>
              <a:pathLst>
                <a:path w="21962759" h="622278">
                  <a:moveTo>
                    <a:pt x="0" y="0"/>
                  </a:moveTo>
                  <a:lnTo>
                    <a:pt x="21962759" y="0"/>
                  </a:lnTo>
                  <a:lnTo>
                    <a:pt x="21962759" y="622278"/>
                  </a:lnTo>
                  <a:lnTo>
                    <a:pt x="0" y="62227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37707" b="-63770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21962758" cy="631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1"/>
                </a:lnSpc>
              </a:pPr>
              <a:r>
                <a:rPr lang="en-US" sz="1951" dirty="0">
                  <a:solidFill>
                    <a:srgbClr val="9BA4BE"/>
                  </a:solidFill>
                  <a:latin typeface="Inter"/>
                  <a:ea typeface="Inter"/>
                  <a:cs typeface="Inter"/>
                  <a:sym typeface="Inter"/>
                </a:rPr>
                <a:t>If data prep can be accelerated and abstracted mission needs can be supported at the moment of need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54971" y="2168823"/>
            <a:ext cx="16791899" cy="15097"/>
            <a:chOff x="0" y="0"/>
            <a:chExt cx="22389198" cy="2013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2389212" cy="20193"/>
            </a:xfrm>
            <a:custGeom>
              <a:avLst/>
              <a:gdLst/>
              <a:ahLst/>
              <a:cxnLst/>
              <a:rect l="l" t="t" r="r" b="b"/>
              <a:pathLst>
                <a:path w="22389212" h="20193">
                  <a:moveTo>
                    <a:pt x="0" y="0"/>
                  </a:moveTo>
                  <a:lnTo>
                    <a:pt x="22389212" y="0"/>
                  </a:lnTo>
                  <a:lnTo>
                    <a:pt x="22389212" y="20193"/>
                  </a:lnTo>
                  <a:lnTo>
                    <a:pt x="0" y="20193"/>
                  </a:lnTo>
                  <a:close/>
                </a:path>
              </a:pathLst>
            </a:custGeom>
            <a:solidFill>
              <a:srgbClr val="1A2D5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0" y="9773431"/>
            <a:ext cx="18301840" cy="343167"/>
            <a:chOff x="0" y="0"/>
            <a:chExt cx="24402453" cy="4575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4402455" cy="457557"/>
            </a:xfrm>
            <a:custGeom>
              <a:avLst/>
              <a:gdLst/>
              <a:ahLst/>
              <a:cxnLst/>
              <a:rect l="l" t="t" r="r" b="b"/>
              <a:pathLst>
                <a:path w="24402455" h="457557">
                  <a:moveTo>
                    <a:pt x="0" y="0"/>
                  </a:moveTo>
                  <a:lnTo>
                    <a:pt x="24402455" y="0"/>
                  </a:lnTo>
                  <a:lnTo>
                    <a:pt x="24402455" y="457557"/>
                  </a:lnTo>
                  <a:lnTo>
                    <a:pt x="0" y="45755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89176" b="-98917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24402453" cy="4575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351"/>
                </a:lnSpc>
              </a:pPr>
              <a:r>
                <a:rPr lang="en-US" sz="1125" spc="450">
                  <a:solidFill>
                    <a:srgbClr val="8590B3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CLEARFRACTURE.AI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7135065" y="9773431"/>
            <a:ext cx="823608" cy="343167"/>
            <a:chOff x="0" y="0"/>
            <a:chExt cx="1098144" cy="45755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98138" cy="457557"/>
            </a:xfrm>
            <a:custGeom>
              <a:avLst/>
              <a:gdLst/>
              <a:ahLst/>
              <a:cxnLst/>
              <a:rect l="l" t="t" r="r" b="b"/>
              <a:pathLst>
                <a:path w="1098138" h="457557">
                  <a:moveTo>
                    <a:pt x="0" y="0"/>
                  </a:moveTo>
                  <a:lnTo>
                    <a:pt x="1098138" y="0"/>
                  </a:lnTo>
                  <a:lnTo>
                    <a:pt x="1098138" y="457557"/>
                  </a:lnTo>
                  <a:lnTo>
                    <a:pt x="0" y="45755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59" r="-345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0"/>
              <a:ext cx="1098144" cy="4575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351"/>
                </a:lnSpc>
              </a:pPr>
              <a:r>
                <a:rPr lang="en-US" sz="1125">
                  <a:solidFill>
                    <a:srgbClr val="8590B3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17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457200" y="3229899"/>
            <a:ext cx="6245657" cy="13726"/>
            <a:chOff x="0" y="0"/>
            <a:chExt cx="8327542" cy="18301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327517" cy="18288"/>
            </a:xfrm>
            <a:custGeom>
              <a:avLst/>
              <a:gdLst/>
              <a:ahLst/>
              <a:cxnLst/>
              <a:rect l="l" t="t" r="r" b="b"/>
              <a:pathLst>
                <a:path w="8327517" h="18288">
                  <a:moveTo>
                    <a:pt x="0" y="0"/>
                  </a:moveTo>
                  <a:lnTo>
                    <a:pt x="8327517" y="0"/>
                  </a:lnTo>
                  <a:lnTo>
                    <a:pt x="8327517" y="18288"/>
                  </a:lnTo>
                  <a:lnTo>
                    <a:pt x="0" y="18288"/>
                  </a:lnTo>
                  <a:close/>
                </a:path>
              </a:pathLst>
            </a:custGeom>
            <a:solidFill>
              <a:srgbClr val="1A2D5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457200" y="3225784"/>
            <a:ext cx="617706" cy="21965"/>
            <a:chOff x="0" y="0"/>
            <a:chExt cx="823608" cy="2928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23595" cy="29337"/>
            </a:xfrm>
            <a:custGeom>
              <a:avLst/>
              <a:gdLst/>
              <a:ahLst/>
              <a:cxnLst/>
              <a:rect l="l" t="t" r="r" b="b"/>
              <a:pathLst>
                <a:path w="823595" h="29337">
                  <a:moveTo>
                    <a:pt x="0" y="0"/>
                  </a:moveTo>
                  <a:lnTo>
                    <a:pt x="823595" y="0"/>
                  </a:lnTo>
                  <a:lnTo>
                    <a:pt x="823595" y="29337"/>
                  </a:lnTo>
                  <a:lnTo>
                    <a:pt x="0" y="29337"/>
                  </a:lnTo>
                  <a:close/>
                </a:path>
              </a:pathLst>
            </a:custGeom>
            <a:solidFill>
              <a:srgbClr val="FFF2C2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457200" y="3349323"/>
            <a:ext cx="617706" cy="411804"/>
            <a:chOff x="0" y="0"/>
            <a:chExt cx="823608" cy="54907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23603" cy="549069"/>
            </a:xfrm>
            <a:custGeom>
              <a:avLst/>
              <a:gdLst/>
              <a:ahLst/>
              <a:cxnLst/>
              <a:rect l="l" t="t" r="r" b="b"/>
              <a:pathLst>
                <a:path w="823603" h="549069">
                  <a:moveTo>
                    <a:pt x="0" y="0"/>
                  </a:moveTo>
                  <a:lnTo>
                    <a:pt x="823603" y="0"/>
                  </a:lnTo>
                  <a:lnTo>
                    <a:pt x="823603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5535" r="-355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823608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1"/>
                </a:lnSpc>
              </a:pPr>
              <a:r>
                <a:rPr lang="en-US" sz="1501">
                  <a:solidFill>
                    <a:srgbClr val="FFF2C2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01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16082" y="5798496"/>
            <a:ext cx="5586774" cy="411804"/>
            <a:chOff x="0" y="0"/>
            <a:chExt cx="7449033" cy="54907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449035" cy="549069"/>
            </a:xfrm>
            <a:custGeom>
              <a:avLst/>
              <a:gdLst/>
              <a:ahLst/>
              <a:cxnLst/>
              <a:rect l="l" t="t" r="r" b="b"/>
              <a:pathLst>
                <a:path w="7449035" h="549069">
                  <a:moveTo>
                    <a:pt x="0" y="0"/>
                  </a:moveTo>
                  <a:lnTo>
                    <a:pt x="7449035" y="0"/>
                  </a:lnTo>
                  <a:lnTo>
                    <a:pt x="7449035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14346" b="-21434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7449033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1"/>
                </a:lnSpc>
              </a:pPr>
              <a:r>
                <a:rPr lang="en-US" sz="1951" b="1" dirty="0">
                  <a:solidFill>
                    <a:srgbClr val="F0F1F4"/>
                  </a:solidFill>
                  <a:latin typeface="Inter Bold"/>
                  <a:ea typeface="Inter Bold"/>
                  <a:cs typeface="Inter Bold"/>
                  <a:sym typeface="Inter Bold"/>
                </a:rPr>
                <a:t>Belvedere provides agentic acceleration of discovery through dissemination of fused data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457200" y="4326103"/>
            <a:ext cx="6245657" cy="13726"/>
            <a:chOff x="0" y="0"/>
            <a:chExt cx="8327542" cy="18301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8327517" cy="18288"/>
            </a:xfrm>
            <a:custGeom>
              <a:avLst/>
              <a:gdLst/>
              <a:ahLst/>
              <a:cxnLst/>
              <a:rect l="l" t="t" r="r" b="b"/>
              <a:pathLst>
                <a:path w="8327517" h="18288">
                  <a:moveTo>
                    <a:pt x="0" y="0"/>
                  </a:moveTo>
                  <a:lnTo>
                    <a:pt x="8327517" y="0"/>
                  </a:lnTo>
                  <a:lnTo>
                    <a:pt x="8327517" y="18288"/>
                  </a:lnTo>
                  <a:lnTo>
                    <a:pt x="0" y="18288"/>
                  </a:lnTo>
                  <a:close/>
                </a:path>
              </a:pathLst>
            </a:custGeom>
            <a:solidFill>
              <a:srgbClr val="1A2D5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457200" y="4321988"/>
            <a:ext cx="617706" cy="21965"/>
            <a:chOff x="0" y="0"/>
            <a:chExt cx="823608" cy="29286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823595" cy="29337"/>
            </a:xfrm>
            <a:custGeom>
              <a:avLst/>
              <a:gdLst/>
              <a:ahLst/>
              <a:cxnLst/>
              <a:rect l="l" t="t" r="r" b="b"/>
              <a:pathLst>
                <a:path w="823595" h="29337">
                  <a:moveTo>
                    <a:pt x="0" y="0"/>
                  </a:moveTo>
                  <a:lnTo>
                    <a:pt x="823595" y="0"/>
                  </a:lnTo>
                  <a:lnTo>
                    <a:pt x="823595" y="29337"/>
                  </a:lnTo>
                  <a:lnTo>
                    <a:pt x="0" y="29337"/>
                  </a:lnTo>
                  <a:close/>
                </a:path>
              </a:pathLst>
            </a:custGeom>
            <a:solidFill>
              <a:srgbClr val="FFF2C2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457200" y="4445527"/>
            <a:ext cx="617706" cy="411804"/>
            <a:chOff x="0" y="0"/>
            <a:chExt cx="823608" cy="549072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823603" cy="549069"/>
            </a:xfrm>
            <a:custGeom>
              <a:avLst/>
              <a:gdLst/>
              <a:ahLst/>
              <a:cxnLst/>
              <a:rect l="l" t="t" r="r" b="b"/>
              <a:pathLst>
                <a:path w="823603" h="549069">
                  <a:moveTo>
                    <a:pt x="0" y="0"/>
                  </a:moveTo>
                  <a:lnTo>
                    <a:pt x="823603" y="0"/>
                  </a:lnTo>
                  <a:lnTo>
                    <a:pt x="823603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5535" r="-355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823608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1"/>
                </a:lnSpc>
              </a:pPr>
              <a:r>
                <a:rPr lang="en-US" sz="1501">
                  <a:solidFill>
                    <a:srgbClr val="FFF2C2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02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1116082" y="4576067"/>
            <a:ext cx="5586774" cy="411804"/>
            <a:chOff x="0" y="0"/>
            <a:chExt cx="7449033" cy="549072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7449035" cy="549069"/>
            </a:xfrm>
            <a:custGeom>
              <a:avLst/>
              <a:gdLst/>
              <a:ahLst/>
              <a:cxnLst/>
              <a:rect l="l" t="t" r="r" b="b"/>
              <a:pathLst>
                <a:path w="7449035" h="549069">
                  <a:moveTo>
                    <a:pt x="0" y="0"/>
                  </a:moveTo>
                  <a:lnTo>
                    <a:pt x="7449035" y="0"/>
                  </a:lnTo>
                  <a:lnTo>
                    <a:pt x="7449035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14346" b="-21434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9525"/>
              <a:ext cx="7449033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1"/>
                </a:lnSpc>
              </a:pPr>
              <a:r>
                <a:rPr lang="en-US" sz="1951" b="1" dirty="0">
                  <a:solidFill>
                    <a:srgbClr val="F0F1F4"/>
                  </a:solidFill>
                  <a:latin typeface="Inter Bold"/>
                  <a:ea typeface="Inter Bold"/>
                  <a:cs typeface="Inter Bold"/>
                  <a:sym typeface="Inter Bold"/>
                </a:rPr>
                <a:t>OSINT-Fusion app manages tasking agentic on-demand data cube creation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457200" y="5533711"/>
            <a:ext cx="6245657" cy="13726"/>
            <a:chOff x="0" y="0"/>
            <a:chExt cx="8327542" cy="18301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8327517" cy="18288"/>
            </a:xfrm>
            <a:custGeom>
              <a:avLst/>
              <a:gdLst/>
              <a:ahLst/>
              <a:cxnLst/>
              <a:rect l="l" t="t" r="r" b="b"/>
              <a:pathLst>
                <a:path w="8327517" h="18288">
                  <a:moveTo>
                    <a:pt x="0" y="0"/>
                  </a:moveTo>
                  <a:lnTo>
                    <a:pt x="8327517" y="0"/>
                  </a:lnTo>
                  <a:lnTo>
                    <a:pt x="8327517" y="18288"/>
                  </a:lnTo>
                  <a:lnTo>
                    <a:pt x="0" y="18288"/>
                  </a:lnTo>
                  <a:close/>
                </a:path>
              </a:pathLst>
            </a:custGeom>
            <a:solidFill>
              <a:srgbClr val="1A2D5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457200" y="5529596"/>
            <a:ext cx="617706" cy="21965"/>
            <a:chOff x="0" y="0"/>
            <a:chExt cx="823608" cy="29286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23595" cy="29337"/>
            </a:xfrm>
            <a:custGeom>
              <a:avLst/>
              <a:gdLst/>
              <a:ahLst/>
              <a:cxnLst/>
              <a:rect l="l" t="t" r="r" b="b"/>
              <a:pathLst>
                <a:path w="823595" h="29337">
                  <a:moveTo>
                    <a:pt x="0" y="0"/>
                  </a:moveTo>
                  <a:lnTo>
                    <a:pt x="823595" y="0"/>
                  </a:lnTo>
                  <a:lnTo>
                    <a:pt x="823595" y="29337"/>
                  </a:lnTo>
                  <a:lnTo>
                    <a:pt x="0" y="29337"/>
                  </a:lnTo>
                  <a:close/>
                </a:path>
              </a:pathLst>
            </a:custGeom>
            <a:solidFill>
              <a:srgbClr val="FFF2C2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457200" y="5653135"/>
            <a:ext cx="617706" cy="411804"/>
            <a:chOff x="0" y="0"/>
            <a:chExt cx="823608" cy="549072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823603" cy="549069"/>
            </a:xfrm>
            <a:custGeom>
              <a:avLst/>
              <a:gdLst/>
              <a:ahLst/>
              <a:cxnLst/>
              <a:rect l="l" t="t" r="r" b="b"/>
              <a:pathLst>
                <a:path w="823603" h="549069">
                  <a:moveTo>
                    <a:pt x="0" y="0"/>
                  </a:moveTo>
                  <a:lnTo>
                    <a:pt x="823603" y="0"/>
                  </a:lnTo>
                  <a:lnTo>
                    <a:pt x="823603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5535" r="-355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9525"/>
              <a:ext cx="823608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1"/>
                </a:lnSpc>
              </a:pPr>
              <a:r>
                <a:rPr lang="en-US" sz="1501">
                  <a:solidFill>
                    <a:srgbClr val="FFF2C2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03</a:t>
              </a:r>
            </a:p>
          </p:txBody>
        </p:sp>
      </p:grpSp>
      <p:pic>
        <p:nvPicPr>
          <p:cNvPr id="57" name="Picture 56">
            <a:extLst>
              <a:ext uri="{FF2B5EF4-FFF2-40B4-BE49-F238E27FC236}">
                <a16:creationId xmlns:a16="http://schemas.microsoft.com/office/drawing/2014/main" id="{CF582B4C-5C8B-359B-82FE-FC8DF918070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9531" r="20312"/>
          <a:stretch>
            <a:fillRect/>
          </a:stretch>
        </p:blipFill>
        <p:spPr>
          <a:xfrm>
            <a:off x="7000609" y="2464493"/>
            <a:ext cx="10129509" cy="6380275"/>
          </a:xfrm>
          <a:prstGeom prst="rect">
            <a:avLst/>
          </a:prstGeom>
        </p:spPr>
      </p:pic>
      <p:sp>
        <p:nvSpPr>
          <p:cNvPr id="66" name="TextBox 41">
            <a:extLst>
              <a:ext uri="{FF2B5EF4-FFF2-40B4-BE49-F238E27FC236}">
                <a16:creationId xmlns:a16="http://schemas.microsoft.com/office/drawing/2014/main" id="{DFD7C471-5F6A-8D3F-E187-52F67BE19609}"/>
              </a:ext>
            </a:extLst>
          </p:cNvPr>
          <p:cNvSpPr txBox="1"/>
          <p:nvPr/>
        </p:nvSpPr>
        <p:spPr>
          <a:xfrm>
            <a:off x="1074896" y="3357198"/>
            <a:ext cx="5586774" cy="418948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l">
              <a:lnSpc>
                <a:spcPts val="2341"/>
              </a:lnSpc>
            </a:pPr>
            <a:r>
              <a:rPr lang="en-US" sz="1951" b="1" dirty="0">
                <a:solidFill>
                  <a:srgbClr val="F0F1F4"/>
                </a:solidFill>
                <a:latin typeface="Inter Bold"/>
                <a:ea typeface="Inter Bold"/>
                <a:cs typeface="Inter Bold"/>
                <a:sym typeface="Inter Bold"/>
              </a:rPr>
              <a:t>Mission situation surfaces new questions</a:t>
            </a:r>
          </a:p>
        </p:txBody>
      </p:sp>
      <p:grpSp>
        <p:nvGrpSpPr>
          <p:cNvPr id="67" name="Group 28">
            <a:extLst>
              <a:ext uri="{FF2B5EF4-FFF2-40B4-BE49-F238E27FC236}">
                <a16:creationId xmlns:a16="http://schemas.microsoft.com/office/drawing/2014/main" id="{045BA981-567D-6B37-1EFD-F3EE4DCE3C00}"/>
              </a:ext>
            </a:extLst>
          </p:cNvPr>
          <p:cNvGrpSpPr/>
          <p:nvPr/>
        </p:nvGrpSpPr>
        <p:grpSpPr>
          <a:xfrm>
            <a:off x="1116082" y="6993600"/>
            <a:ext cx="5586774" cy="411804"/>
            <a:chOff x="0" y="0"/>
            <a:chExt cx="7449033" cy="549072"/>
          </a:xfrm>
        </p:grpSpPr>
        <p:sp>
          <p:nvSpPr>
            <p:cNvPr id="68" name="Freeform 29">
              <a:extLst>
                <a:ext uri="{FF2B5EF4-FFF2-40B4-BE49-F238E27FC236}">
                  <a16:creationId xmlns:a16="http://schemas.microsoft.com/office/drawing/2014/main" id="{9D34FBB8-98D4-5F2F-EC0E-A100335194C4}"/>
                </a:ext>
              </a:extLst>
            </p:cNvPr>
            <p:cNvSpPr/>
            <p:nvPr/>
          </p:nvSpPr>
          <p:spPr>
            <a:xfrm>
              <a:off x="0" y="0"/>
              <a:ext cx="7449035" cy="549069"/>
            </a:xfrm>
            <a:custGeom>
              <a:avLst/>
              <a:gdLst/>
              <a:ahLst/>
              <a:cxnLst/>
              <a:rect l="l" t="t" r="r" b="b"/>
              <a:pathLst>
                <a:path w="7449035" h="549069">
                  <a:moveTo>
                    <a:pt x="0" y="0"/>
                  </a:moveTo>
                  <a:lnTo>
                    <a:pt x="7449035" y="0"/>
                  </a:lnTo>
                  <a:lnTo>
                    <a:pt x="7449035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14346" b="-21434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TextBox 30">
              <a:extLst>
                <a:ext uri="{FF2B5EF4-FFF2-40B4-BE49-F238E27FC236}">
                  <a16:creationId xmlns:a16="http://schemas.microsoft.com/office/drawing/2014/main" id="{00630C2F-1254-D74D-1338-F37D0EED2F1A}"/>
                </a:ext>
              </a:extLst>
            </p:cNvPr>
            <p:cNvSpPr txBox="1"/>
            <p:nvPr/>
          </p:nvSpPr>
          <p:spPr>
            <a:xfrm>
              <a:off x="0" y="-9525"/>
              <a:ext cx="7449033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1"/>
                </a:lnSpc>
              </a:pPr>
              <a:r>
                <a:rPr lang="en-US" sz="1951" b="1" dirty="0">
                  <a:solidFill>
                    <a:srgbClr val="F0F1F4"/>
                  </a:solidFill>
                  <a:latin typeface="Inter Bold"/>
                  <a:ea typeface="Inter Bold"/>
                  <a:cs typeface="Inter Bold"/>
                  <a:sym typeface="Inter Bold"/>
                </a:rPr>
                <a:t>OSINT-Fusion app help connect fused data to appropriate analytical tools</a:t>
              </a:r>
            </a:p>
          </p:txBody>
        </p:sp>
      </p:grpSp>
      <p:grpSp>
        <p:nvGrpSpPr>
          <p:cNvPr id="70" name="Group 43">
            <a:extLst>
              <a:ext uri="{FF2B5EF4-FFF2-40B4-BE49-F238E27FC236}">
                <a16:creationId xmlns:a16="http://schemas.microsoft.com/office/drawing/2014/main" id="{8D63FDF9-96E6-9328-80DB-18544CB10CA0}"/>
              </a:ext>
            </a:extLst>
          </p:cNvPr>
          <p:cNvGrpSpPr/>
          <p:nvPr/>
        </p:nvGrpSpPr>
        <p:grpSpPr>
          <a:xfrm>
            <a:off x="457200" y="6728815"/>
            <a:ext cx="6245657" cy="13726"/>
            <a:chOff x="0" y="0"/>
            <a:chExt cx="8327542" cy="18301"/>
          </a:xfrm>
        </p:grpSpPr>
        <p:sp>
          <p:nvSpPr>
            <p:cNvPr id="71" name="Freeform 44">
              <a:extLst>
                <a:ext uri="{FF2B5EF4-FFF2-40B4-BE49-F238E27FC236}">
                  <a16:creationId xmlns:a16="http://schemas.microsoft.com/office/drawing/2014/main" id="{4F16A3AE-290C-9F23-30A8-64937D2EB38F}"/>
                </a:ext>
              </a:extLst>
            </p:cNvPr>
            <p:cNvSpPr/>
            <p:nvPr/>
          </p:nvSpPr>
          <p:spPr>
            <a:xfrm>
              <a:off x="0" y="0"/>
              <a:ext cx="8327517" cy="18288"/>
            </a:xfrm>
            <a:custGeom>
              <a:avLst/>
              <a:gdLst/>
              <a:ahLst/>
              <a:cxnLst/>
              <a:rect l="l" t="t" r="r" b="b"/>
              <a:pathLst>
                <a:path w="8327517" h="18288">
                  <a:moveTo>
                    <a:pt x="0" y="0"/>
                  </a:moveTo>
                  <a:lnTo>
                    <a:pt x="8327517" y="0"/>
                  </a:lnTo>
                  <a:lnTo>
                    <a:pt x="8327517" y="18288"/>
                  </a:lnTo>
                  <a:lnTo>
                    <a:pt x="0" y="18288"/>
                  </a:lnTo>
                  <a:close/>
                </a:path>
              </a:pathLst>
            </a:custGeom>
            <a:solidFill>
              <a:srgbClr val="1A2D5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2" name="Group 45">
            <a:extLst>
              <a:ext uri="{FF2B5EF4-FFF2-40B4-BE49-F238E27FC236}">
                <a16:creationId xmlns:a16="http://schemas.microsoft.com/office/drawing/2014/main" id="{470660A1-AECD-5D36-CA72-6E6309801A75}"/>
              </a:ext>
            </a:extLst>
          </p:cNvPr>
          <p:cNvGrpSpPr/>
          <p:nvPr/>
        </p:nvGrpSpPr>
        <p:grpSpPr>
          <a:xfrm>
            <a:off x="457200" y="6724700"/>
            <a:ext cx="617706" cy="21965"/>
            <a:chOff x="0" y="0"/>
            <a:chExt cx="823608" cy="29286"/>
          </a:xfrm>
        </p:grpSpPr>
        <p:sp>
          <p:nvSpPr>
            <p:cNvPr id="73" name="Freeform 46">
              <a:extLst>
                <a:ext uri="{FF2B5EF4-FFF2-40B4-BE49-F238E27FC236}">
                  <a16:creationId xmlns:a16="http://schemas.microsoft.com/office/drawing/2014/main" id="{1E8AF606-C281-1315-FFE7-5AECB3EBD528}"/>
                </a:ext>
              </a:extLst>
            </p:cNvPr>
            <p:cNvSpPr/>
            <p:nvPr/>
          </p:nvSpPr>
          <p:spPr>
            <a:xfrm>
              <a:off x="0" y="0"/>
              <a:ext cx="823595" cy="29337"/>
            </a:xfrm>
            <a:custGeom>
              <a:avLst/>
              <a:gdLst/>
              <a:ahLst/>
              <a:cxnLst/>
              <a:rect l="l" t="t" r="r" b="b"/>
              <a:pathLst>
                <a:path w="823595" h="29337">
                  <a:moveTo>
                    <a:pt x="0" y="0"/>
                  </a:moveTo>
                  <a:lnTo>
                    <a:pt x="823595" y="0"/>
                  </a:lnTo>
                  <a:lnTo>
                    <a:pt x="823595" y="29337"/>
                  </a:lnTo>
                  <a:lnTo>
                    <a:pt x="0" y="29337"/>
                  </a:lnTo>
                  <a:close/>
                </a:path>
              </a:pathLst>
            </a:custGeom>
            <a:solidFill>
              <a:srgbClr val="FFF2C2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4" name="Group 47">
            <a:extLst>
              <a:ext uri="{FF2B5EF4-FFF2-40B4-BE49-F238E27FC236}">
                <a16:creationId xmlns:a16="http://schemas.microsoft.com/office/drawing/2014/main" id="{7C0CA433-32BB-4167-E4AB-C3526A6B86D0}"/>
              </a:ext>
            </a:extLst>
          </p:cNvPr>
          <p:cNvGrpSpPr/>
          <p:nvPr/>
        </p:nvGrpSpPr>
        <p:grpSpPr>
          <a:xfrm>
            <a:off x="457200" y="6848239"/>
            <a:ext cx="617706" cy="411804"/>
            <a:chOff x="0" y="0"/>
            <a:chExt cx="823608" cy="549072"/>
          </a:xfrm>
        </p:grpSpPr>
        <p:sp>
          <p:nvSpPr>
            <p:cNvPr id="75" name="Freeform 48">
              <a:extLst>
                <a:ext uri="{FF2B5EF4-FFF2-40B4-BE49-F238E27FC236}">
                  <a16:creationId xmlns:a16="http://schemas.microsoft.com/office/drawing/2014/main" id="{8BD8E490-709B-D085-4861-AAA0C4972463}"/>
                </a:ext>
              </a:extLst>
            </p:cNvPr>
            <p:cNvSpPr/>
            <p:nvPr/>
          </p:nvSpPr>
          <p:spPr>
            <a:xfrm>
              <a:off x="0" y="0"/>
              <a:ext cx="823603" cy="549069"/>
            </a:xfrm>
            <a:custGeom>
              <a:avLst/>
              <a:gdLst/>
              <a:ahLst/>
              <a:cxnLst/>
              <a:rect l="l" t="t" r="r" b="b"/>
              <a:pathLst>
                <a:path w="823603" h="549069">
                  <a:moveTo>
                    <a:pt x="0" y="0"/>
                  </a:moveTo>
                  <a:lnTo>
                    <a:pt x="823603" y="0"/>
                  </a:lnTo>
                  <a:lnTo>
                    <a:pt x="823603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5535" r="-355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Box 49">
              <a:extLst>
                <a:ext uri="{FF2B5EF4-FFF2-40B4-BE49-F238E27FC236}">
                  <a16:creationId xmlns:a16="http://schemas.microsoft.com/office/drawing/2014/main" id="{02AD9EEE-2C0D-0CD7-243A-42F4642DCDBB}"/>
                </a:ext>
              </a:extLst>
            </p:cNvPr>
            <p:cNvSpPr txBox="1"/>
            <p:nvPr/>
          </p:nvSpPr>
          <p:spPr>
            <a:xfrm>
              <a:off x="0" y="-9525"/>
              <a:ext cx="823608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1"/>
                </a:lnSpc>
              </a:pPr>
              <a:r>
                <a:rPr lang="en-US" sz="1501" dirty="0">
                  <a:solidFill>
                    <a:srgbClr val="FFF2C2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04</a:t>
              </a:r>
            </a:p>
          </p:txBody>
        </p:sp>
      </p:grpSp>
      <p:grpSp>
        <p:nvGrpSpPr>
          <p:cNvPr id="77" name="Group 28">
            <a:extLst>
              <a:ext uri="{FF2B5EF4-FFF2-40B4-BE49-F238E27FC236}">
                <a16:creationId xmlns:a16="http://schemas.microsoft.com/office/drawing/2014/main" id="{8442431A-2703-B599-6C98-5B687D2DE9A2}"/>
              </a:ext>
            </a:extLst>
          </p:cNvPr>
          <p:cNvGrpSpPr/>
          <p:nvPr/>
        </p:nvGrpSpPr>
        <p:grpSpPr>
          <a:xfrm>
            <a:off x="1148739" y="8380683"/>
            <a:ext cx="5586774" cy="411804"/>
            <a:chOff x="0" y="0"/>
            <a:chExt cx="7449033" cy="549072"/>
          </a:xfrm>
        </p:grpSpPr>
        <p:sp>
          <p:nvSpPr>
            <p:cNvPr id="78" name="Freeform 29">
              <a:extLst>
                <a:ext uri="{FF2B5EF4-FFF2-40B4-BE49-F238E27FC236}">
                  <a16:creationId xmlns:a16="http://schemas.microsoft.com/office/drawing/2014/main" id="{8AA52B66-E16D-A99E-D213-772CA2C8D2E0}"/>
                </a:ext>
              </a:extLst>
            </p:cNvPr>
            <p:cNvSpPr/>
            <p:nvPr/>
          </p:nvSpPr>
          <p:spPr>
            <a:xfrm>
              <a:off x="0" y="0"/>
              <a:ext cx="7449035" cy="549069"/>
            </a:xfrm>
            <a:custGeom>
              <a:avLst/>
              <a:gdLst/>
              <a:ahLst/>
              <a:cxnLst/>
              <a:rect l="l" t="t" r="r" b="b"/>
              <a:pathLst>
                <a:path w="7449035" h="549069">
                  <a:moveTo>
                    <a:pt x="0" y="0"/>
                  </a:moveTo>
                  <a:lnTo>
                    <a:pt x="7449035" y="0"/>
                  </a:lnTo>
                  <a:lnTo>
                    <a:pt x="7449035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14346" b="-21434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30">
              <a:extLst>
                <a:ext uri="{FF2B5EF4-FFF2-40B4-BE49-F238E27FC236}">
                  <a16:creationId xmlns:a16="http://schemas.microsoft.com/office/drawing/2014/main" id="{4942490C-F9C4-D8DE-EF61-D151F26D5797}"/>
                </a:ext>
              </a:extLst>
            </p:cNvPr>
            <p:cNvSpPr txBox="1"/>
            <p:nvPr/>
          </p:nvSpPr>
          <p:spPr>
            <a:xfrm>
              <a:off x="0" y="-9525"/>
              <a:ext cx="7449033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1"/>
                </a:lnSpc>
              </a:pPr>
              <a:r>
                <a:rPr lang="en-US" sz="1951" b="1" dirty="0">
                  <a:solidFill>
                    <a:srgbClr val="F0F1F4"/>
                  </a:solidFill>
                  <a:latin typeface="Inter Bold"/>
                  <a:ea typeface="Inter Bold"/>
                  <a:cs typeface="Inter Bold"/>
                  <a:sym typeface="Inter Bold"/>
                </a:rPr>
                <a:t>Analysis answers questions or leads to new questions that iterate through the cycle</a:t>
              </a:r>
            </a:p>
          </p:txBody>
        </p:sp>
      </p:grpSp>
      <p:grpSp>
        <p:nvGrpSpPr>
          <p:cNvPr id="80" name="Group 43">
            <a:extLst>
              <a:ext uri="{FF2B5EF4-FFF2-40B4-BE49-F238E27FC236}">
                <a16:creationId xmlns:a16="http://schemas.microsoft.com/office/drawing/2014/main" id="{743A0754-0423-E289-581B-2058921205CB}"/>
              </a:ext>
            </a:extLst>
          </p:cNvPr>
          <p:cNvGrpSpPr/>
          <p:nvPr/>
        </p:nvGrpSpPr>
        <p:grpSpPr>
          <a:xfrm>
            <a:off x="489857" y="8115898"/>
            <a:ext cx="6245657" cy="13726"/>
            <a:chOff x="0" y="0"/>
            <a:chExt cx="8327542" cy="18301"/>
          </a:xfrm>
        </p:grpSpPr>
        <p:sp>
          <p:nvSpPr>
            <p:cNvPr id="81" name="Freeform 44">
              <a:extLst>
                <a:ext uri="{FF2B5EF4-FFF2-40B4-BE49-F238E27FC236}">
                  <a16:creationId xmlns:a16="http://schemas.microsoft.com/office/drawing/2014/main" id="{F1D6756C-88BD-E4CC-7BA8-E4D6D6938176}"/>
                </a:ext>
              </a:extLst>
            </p:cNvPr>
            <p:cNvSpPr/>
            <p:nvPr/>
          </p:nvSpPr>
          <p:spPr>
            <a:xfrm>
              <a:off x="0" y="0"/>
              <a:ext cx="8327517" cy="18288"/>
            </a:xfrm>
            <a:custGeom>
              <a:avLst/>
              <a:gdLst/>
              <a:ahLst/>
              <a:cxnLst/>
              <a:rect l="l" t="t" r="r" b="b"/>
              <a:pathLst>
                <a:path w="8327517" h="18288">
                  <a:moveTo>
                    <a:pt x="0" y="0"/>
                  </a:moveTo>
                  <a:lnTo>
                    <a:pt x="8327517" y="0"/>
                  </a:lnTo>
                  <a:lnTo>
                    <a:pt x="8327517" y="18288"/>
                  </a:lnTo>
                  <a:lnTo>
                    <a:pt x="0" y="18288"/>
                  </a:lnTo>
                  <a:close/>
                </a:path>
              </a:pathLst>
            </a:custGeom>
            <a:solidFill>
              <a:srgbClr val="1A2D5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2" name="Group 45">
            <a:extLst>
              <a:ext uri="{FF2B5EF4-FFF2-40B4-BE49-F238E27FC236}">
                <a16:creationId xmlns:a16="http://schemas.microsoft.com/office/drawing/2014/main" id="{59F0D413-C5FE-7D89-DBD5-3D57AA3153CB}"/>
              </a:ext>
            </a:extLst>
          </p:cNvPr>
          <p:cNvGrpSpPr/>
          <p:nvPr/>
        </p:nvGrpSpPr>
        <p:grpSpPr>
          <a:xfrm>
            <a:off x="489857" y="8111783"/>
            <a:ext cx="617706" cy="21965"/>
            <a:chOff x="0" y="0"/>
            <a:chExt cx="823608" cy="29286"/>
          </a:xfrm>
        </p:grpSpPr>
        <p:sp>
          <p:nvSpPr>
            <p:cNvPr id="83" name="Freeform 46">
              <a:extLst>
                <a:ext uri="{FF2B5EF4-FFF2-40B4-BE49-F238E27FC236}">
                  <a16:creationId xmlns:a16="http://schemas.microsoft.com/office/drawing/2014/main" id="{C4AD4EC6-7664-D9DB-B5CA-F890BADF281C}"/>
                </a:ext>
              </a:extLst>
            </p:cNvPr>
            <p:cNvSpPr/>
            <p:nvPr/>
          </p:nvSpPr>
          <p:spPr>
            <a:xfrm>
              <a:off x="0" y="0"/>
              <a:ext cx="823595" cy="29337"/>
            </a:xfrm>
            <a:custGeom>
              <a:avLst/>
              <a:gdLst/>
              <a:ahLst/>
              <a:cxnLst/>
              <a:rect l="l" t="t" r="r" b="b"/>
              <a:pathLst>
                <a:path w="823595" h="29337">
                  <a:moveTo>
                    <a:pt x="0" y="0"/>
                  </a:moveTo>
                  <a:lnTo>
                    <a:pt x="823595" y="0"/>
                  </a:lnTo>
                  <a:lnTo>
                    <a:pt x="823595" y="29337"/>
                  </a:lnTo>
                  <a:lnTo>
                    <a:pt x="0" y="29337"/>
                  </a:lnTo>
                  <a:close/>
                </a:path>
              </a:pathLst>
            </a:custGeom>
            <a:solidFill>
              <a:srgbClr val="FFF2C2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4" name="Group 47">
            <a:extLst>
              <a:ext uri="{FF2B5EF4-FFF2-40B4-BE49-F238E27FC236}">
                <a16:creationId xmlns:a16="http://schemas.microsoft.com/office/drawing/2014/main" id="{60CF0B97-F77A-5735-5E31-F94A28F260FF}"/>
              </a:ext>
            </a:extLst>
          </p:cNvPr>
          <p:cNvGrpSpPr/>
          <p:nvPr/>
        </p:nvGrpSpPr>
        <p:grpSpPr>
          <a:xfrm>
            <a:off x="489857" y="8235322"/>
            <a:ext cx="617706" cy="411804"/>
            <a:chOff x="0" y="0"/>
            <a:chExt cx="823608" cy="549072"/>
          </a:xfrm>
        </p:grpSpPr>
        <p:sp>
          <p:nvSpPr>
            <p:cNvPr id="85" name="Freeform 48">
              <a:extLst>
                <a:ext uri="{FF2B5EF4-FFF2-40B4-BE49-F238E27FC236}">
                  <a16:creationId xmlns:a16="http://schemas.microsoft.com/office/drawing/2014/main" id="{95241BF0-2DAA-9C89-A1AE-ACB263590B88}"/>
                </a:ext>
              </a:extLst>
            </p:cNvPr>
            <p:cNvSpPr/>
            <p:nvPr/>
          </p:nvSpPr>
          <p:spPr>
            <a:xfrm>
              <a:off x="0" y="0"/>
              <a:ext cx="823603" cy="549069"/>
            </a:xfrm>
            <a:custGeom>
              <a:avLst/>
              <a:gdLst/>
              <a:ahLst/>
              <a:cxnLst/>
              <a:rect l="l" t="t" r="r" b="b"/>
              <a:pathLst>
                <a:path w="823603" h="549069">
                  <a:moveTo>
                    <a:pt x="0" y="0"/>
                  </a:moveTo>
                  <a:lnTo>
                    <a:pt x="823603" y="0"/>
                  </a:lnTo>
                  <a:lnTo>
                    <a:pt x="823603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5535" r="-355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TextBox 49">
              <a:extLst>
                <a:ext uri="{FF2B5EF4-FFF2-40B4-BE49-F238E27FC236}">
                  <a16:creationId xmlns:a16="http://schemas.microsoft.com/office/drawing/2014/main" id="{A87379DE-7880-2A67-1E92-351E75B8F840}"/>
                </a:ext>
              </a:extLst>
            </p:cNvPr>
            <p:cNvSpPr txBox="1"/>
            <p:nvPr/>
          </p:nvSpPr>
          <p:spPr>
            <a:xfrm>
              <a:off x="0" y="-9525"/>
              <a:ext cx="823608" cy="5585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1"/>
                </a:lnSpc>
              </a:pPr>
              <a:r>
                <a:rPr lang="en-US" sz="1501" dirty="0">
                  <a:solidFill>
                    <a:srgbClr val="FFF2C2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05</a:t>
              </a:r>
            </a:p>
          </p:txBody>
        </p: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3F34B1EF-A4E9-1491-D078-B843D106660D}"/>
              </a:ext>
            </a:extLst>
          </p:cNvPr>
          <p:cNvGrpSpPr/>
          <p:nvPr/>
        </p:nvGrpSpPr>
        <p:grpSpPr>
          <a:xfrm>
            <a:off x="6813099" y="1700415"/>
            <a:ext cx="10698159" cy="8416184"/>
            <a:chOff x="6813099" y="1700415"/>
            <a:chExt cx="10698159" cy="8416184"/>
          </a:xfrm>
        </p:grpSpPr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E9198FDE-F198-F288-7162-21906ACC10AE}"/>
                </a:ext>
              </a:extLst>
            </p:cNvPr>
            <p:cNvGrpSpPr/>
            <p:nvPr/>
          </p:nvGrpSpPr>
          <p:grpSpPr>
            <a:xfrm>
              <a:off x="6813099" y="1700415"/>
              <a:ext cx="10698159" cy="8416184"/>
              <a:chOff x="6813099" y="1700415"/>
              <a:chExt cx="10698159" cy="8416184"/>
            </a:xfrm>
          </p:grpSpPr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8DB84A70-F68E-9754-E151-0B6EDD6B3BF4}"/>
                  </a:ext>
                </a:extLst>
              </p:cNvPr>
              <p:cNvGrpSpPr/>
              <p:nvPr/>
            </p:nvGrpSpPr>
            <p:grpSpPr>
              <a:xfrm>
                <a:off x="6813099" y="1700415"/>
                <a:ext cx="10698159" cy="8323099"/>
                <a:chOff x="6813099" y="1700415"/>
                <a:chExt cx="10698159" cy="8323099"/>
              </a:xfrm>
            </p:grpSpPr>
            <p:sp>
              <p:nvSpPr>
                <p:cNvPr id="59" name="Block Arc 58">
                  <a:extLst>
                    <a:ext uri="{FF2B5EF4-FFF2-40B4-BE49-F238E27FC236}">
                      <a16:creationId xmlns:a16="http://schemas.microsoft.com/office/drawing/2014/main" id="{0B5F90B3-2240-27C7-1317-E859F21EF871}"/>
                    </a:ext>
                  </a:extLst>
                </p:cNvPr>
                <p:cNvSpPr/>
                <p:nvPr/>
              </p:nvSpPr>
              <p:spPr>
                <a:xfrm>
                  <a:off x="6813099" y="1700415"/>
                  <a:ext cx="10698159" cy="8323099"/>
                </a:xfrm>
                <a:prstGeom prst="blockArc">
                  <a:avLst>
                    <a:gd name="adj1" fmla="val 19894867"/>
                    <a:gd name="adj2" fmla="val 10627220"/>
                    <a:gd name="adj3" fmla="val 8103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63641661-3DAC-65D7-6296-91A1BFDC5DC6}"/>
                    </a:ext>
                  </a:extLst>
                </p:cNvPr>
                <p:cNvSpPr txBox="1"/>
                <p:nvPr/>
              </p:nvSpPr>
              <p:spPr>
                <a:xfrm>
                  <a:off x="10972800" y="9338062"/>
                  <a:ext cx="2743200" cy="68223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>
                    <a:lnSpc>
                      <a:spcPts val="2341"/>
                    </a:lnSpc>
                  </a:pPr>
                  <a:r>
                    <a:rPr lang="en-US" sz="1951" b="1" dirty="0">
                      <a:solidFill>
                        <a:srgbClr val="F0F1F4"/>
                      </a:solidFill>
                      <a:latin typeface="Inter Bold"/>
                      <a:ea typeface="Inter Bold"/>
                      <a:cs typeface="Inter Bold"/>
                      <a:sym typeface="Inter Bold"/>
                    </a:rPr>
                    <a:t>Agentic Acceleration</a:t>
                  </a:r>
                </a:p>
                <a:p>
                  <a:pPr algn="ctr">
                    <a:lnSpc>
                      <a:spcPts val="2341"/>
                    </a:lnSpc>
                  </a:pPr>
                  <a:r>
                    <a:rPr lang="en-US" sz="1951" b="1" dirty="0">
                      <a:solidFill>
                        <a:srgbClr val="F0F1F4"/>
                      </a:solidFill>
                      <a:latin typeface="Inter Bold"/>
                      <a:ea typeface="Inter Bold"/>
                      <a:cs typeface="Inter Bold"/>
                      <a:sym typeface="Inter Bold"/>
                    </a:rPr>
                    <a:t>Belvedere</a:t>
                  </a:r>
                </a:p>
              </p:txBody>
            </p:sp>
          </p:grpSp>
          <p:grpSp>
            <p:nvGrpSpPr>
              <p:cNvPr id="87" name="Group 8">
                <a:extLst>
                  <a:ext uri="{FF2B5EF4-FFF2-40B4-BE49-F238E27FC236}">
                    <a16:creationId xmlns:a16="http://schemas.microsoft.com/office/drawing/2014/main" id="{6C92CD17-4F24-8DCD-AFAE-6DF6888E0B25}"/>
                  </a:ext>
                </a:extLst>
              </p:cNvPr>
              <p:cNvGrpSpPr/>
              <p:nvPr/>
            </p:nvGrpSpPr>
            <p:grpSpPr>
              <a:xfrm>
                <a:off x="13548612" y="8730197"/>
                <a:ext cx="1329867" cy="1386402"/>
                <a:chOff x="0" y="0"/>
                <a:chExt cx="1053363" cy="1098144"/>
              </a:xfrm>
            </p:grpSpPr>
            <p:sp>
              <p:nvSpPr>
                <p:cNvPr id="88" name="Freeform 9" descr="/Users/hstrauss/Documents/GitHub/belvedere-pm/output/deck-rebuild/belv_mark.png">
                  <a:extLst>
                    <a:ext uri="{FF2B5EF4-FFF2-40B4-BE49-F238E27FC236}">
                      <a16:creationId xmlns:a16="http://schemas.microsoft.com/office/drawing/2014/main" id="{99E6F727-8054-9877-AF64-C6A1891D22BE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1053338" cy="10981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3338" h="1098169">
                      <a:moveTo>
                        <a:pt x="0" y="0"/>
                      </a:moveTo>
                      <a:lnTo>
                        <a:pt x="1053338" y="0"/>
                      </a:lnTo>
                      <a:lnTo>
                        <a:pt x="1053338" y="1098169"/>
                      </a:lnTo>
                      <a:lnTo>
                        <a:pt x="0" y="109816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blipFill>
                  <a:blip r:embed="rId4"/>
                  <a:stretch>
                    <a:fillRect r="-2" b="2"/>
                  </a:stretch>
                </a:blipFill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66E53555-AF3C-8C41-E713-44575229C4F3}"/>
                </a:ext>
              </a:extLst>
            </p:cNvPr>
            <p:cNvGrpSpPr/>
            <p:nvPr/>
          </p:nvGrpSpPr>
          <p:grpSpPr>
            <a:xfrm>
              <a:off x="6858000" y="2873985"/>
              <a:ext cx="9452334" cy="4720088"/>
              <a:chOff x="6858000" y="2873985"/>
              <a:chExt cx="9452334" cy="4720088"/>
            </a:xfrm>
          </p:grpSpPr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5CA62C68-956C-6ED7-2201-8B8D15693A9F}"/>
                  </a:ext>
                </a:extLst>
              </p:cNvPr>
              <p:cNvGrpSpPr/>
              <p:nvPr/>
            </p:nvGrpSpPr>
            <p:grpSpPr>
              <a:xfrm>
                <a:off x="6996629" y="3097961"/>
                <a:ext cx="9313705" cy="4496112"/>
                <a:chOff x="6996629" y="3097961"/>
                <a:chExt cx="9313705" cy="4496112"/>
              </a:xfrm>
            </p:grpSpPr>
            <p:pic>
              <p:nvPicPr>
                <p:cNvPr id="90" name="Picture 89">
                  <a:extLst>
                    <a:ext uri="{FF2B5EF4-FFF2-40B4-BE49-F238E27FC236}">
                      <a16:creationId xmlns:a16="http://schemas.microsoft.com/office/drawing/2014/main" id="{871351CE-CD9B-3E60-F092-B569217B85C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ackgroundRemoval t="10000" b="90000" l="10000" r="90000">
                              <a14:foregroundMark x1="45215" y1="17531" x2="45215" y2="17531"/>
                              <a14:foregroundMark x1="48828" y1="13775" x2="48828" y2="13775"/>
                              <a14:foregroundMark x1="41602" y1="18247" x2="41602" y2="18247"/>
                              <a14:foregroundMark x1="42383" y1="16995" x2="42383" y2="16995"/>
                              <a14:foregroundMark x1="40332" y1="18426" x2="40332" y2="18426"/>
                              <a14:foregroundMark x1="39160" y1="19320" x2="39160" y2="19320"/>
                              <a14:foregroundMark x1="38672" y1="56530" x2="38672" y2="56530"/>
                              <a14:foregroundMark x1="39648" y1="59392" x2="39648" y2="59392"/>
                              <a14:foregroundMark x1="37402" y1="52952" x2="37402" y2="52952"/>
                              <a14:foregroundMark x1="62695" y1="51699" x2="62695" y2="51699"/>
                              <a14:foregroundMark x1="62988" y1="49195" x2="62988" y2="49195"/>
                              <a14:foregroundMark x1="63672" y1="47406" x2="63672" y2="47406"/>
                              <a14:foregroundMark x1="62305" y1="52952" x2="62305" y2="52952"/>
                              <a14:foregroundMark x1="53320" y1="14132" x2="53320" y2="14132"/>
                              <a14:foregroundMark x1="54395" y1="15385" x2="54395" y2="15385"/>
                              <a14:foregroundMark x1="51660" y1="13238" x2="51660" y2="13238"/>
                              <a14:foregroundMark x1="52148" y1="13596" x2="52148" y2="13596"/>
                              <a14:foregroundMark x1="50781" y1="11986" x2="50781" y2="11986"/>
                              <a14:foregroundMark x1="37988" y1="54919" x2="37988" y2="54919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32071" t="7488" r="32324" b="22985"/>
                <a:stretch>
                  <a:fillRect/>
                </a:stretch>
              </p:blipFill>
              <p:spPr>
                <a:xfrm>
                  <a:off x="11430000" y="4784712"/>
                  <a:ext cx="1694795" cy="1806588"/>
                </a:xfrm>
                <a:prstGeom prst="rect">
                  <a:avLst/>
                </a:prstGeom>
              </p:spPr>
            </p:pic>
            <p:pic>
              <p:nvPicPr>
                <p:cNvPr id="92" name="Picture 91">
                  <a:extLst>
                    <a:ext uri="{FF2B5EF4-FFF2-40B4-BE49-F238E27FC236}">
                      <a16:creationId xmlns:a16="http://schemas.microsoft.com/office/drawing/2014/main" id="{36D33D83-4AD6-6B56-9E46-C2A3CD0BA52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rcRect l="25737" t="77251" r="25956" b="12424"/>
                <a:stretch>
                  <a:fillRect/>
                </a:stretch>
              </p:blipFill>
              <p:spPr>
                <a:xfrm>
                  <a:off x="10788416" y="6115715"/>
                  <a:ext cx="2747524" cy="320590"/>
                </a:xfrm>
                <a:prstGeom prst="rect">
                  <a:avLst/>
                </a:prstGeom>
              </p:spPr>
            </p:pic>
            <p:cxnSp>
              <p:nvCxnSpPr>
                <p:cNvPr id="94" name="Straight Connector 93">
                  <a:extLst>
                    <a:ext uri="{FF2B5EF4-FFF2-40B4-BE49-F238E27FC236}">
                      <a16:creationId xmlns:a16="http://schemas.microsoft.com/office/drawing/2014/main" id="{755502C1-AA86-774C-9AD2-D4F9B4B9962F}"/>
                    </a:ext>
                  </a:extLst>
                </p:cNvPr>
                <p:cNvCxnSpPr>
                  <a:cxnSpLocks/>
                  <a:stCxn id="90" idx="3"/>
                </p:cNvCxnSpPr>
                <p:nvPr/>
              </p:nvCxnSpPr>
              <p:spPr>
                <a:xfrm flipV="1">
                  <a:off x="13124795" y="3164911"/>
                  <a:ext cx="1886605" cy="2523095"/>
                </a:xfrm>
                <a:prstGeom prst="line">
                  <a:avLst/>
                </a:prstGeom>
              </p:spPr>
              <p:style>
                <a:lnRef idx="3">
                  <a:schemeClr val="accent5"/>
                </a:lnRef>
                <a:fillRef idx="0">
                  <a:schemeClr val="accent5"/>
                </a:fillRef>
                <a:effectRef idx="2">
                  <a:schemeClr val="accent5"/>
                </a:effectRef>
                <a:fontRef idx="minor">
                  <a:schemeClr val="tx1"/>
                </a:fontRef>
              </p:style>
            </p:cxn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D79BE304-C6D6-1ABC-51B8-BE471F23EE1B}"/>
                    </a:ext>
                  </a:extLst>
                </p:cNvPr>
                <p:cNvCxnSpPr>
                  <a:cxnSpLocks/>
                  <a:endCxn id="90" idx="1"/>
                </p:cNvCxnSpPr>
                <p:nvPr/>
              </p:nvCxnSpPr>
              <p:spPr>
                <a:xfrm>
                  <a:off x="6996629" y="5551599"/>
                  <a:ext cx="4433371" cy="136407"/>
                </a:xfrm>
                <a:prstGeom prst="line">
                  <a:avLst/>
                </a:prstGeom>
              </p:spPr>
              <p:style>
                <a:lnRef idx="3">
                  <a:schemeClr val="accent5"/>
                </a:lnRef>
                <a:fillRef idx="0">
                  <a:schemeClr val="accent5"/>
                </a:fillRef>
                <a:effectRef idx="2">
                  <a:schemeClr val="accent5"/>
                </a:effectRef>
                <a:fontRef idx="minor">
                  <a:schemeClr val="tx1"/>
                </a:fontRef>
              </p:style>
            </p:cxnSp>
            <p:sp>
              <p:nvSpPr>
                <p:cNvPr id="100" name="Arc 99">
                  <a:extLst>
                    <a:ext uri="{FF2B5EF4-FFF2-40B4-BE49-F238E27FC236}">
                      <a16:creationId xmlns:a16="http://schemas.microsoft.com/office/drawing/2014/main" id="{F2EE05F3-5907-89B7-7489-C1313CE1792E}"/>
                    </a:ext>
                  </a:extLst>
                </p:cNvPr>
                <p:cNvSpPr/>
                <p:nvPr/>
              </p:nvSpPr>
              <p:spPr>
                <a:xfrm rot="15577820">
                  <a:off x="5604640" y="5086836"/>
                  <a:ext cx="3945095" cy="1069380"/>
                </a:xfrm>
                <a:prstGeom prst="arc">
                  <a:avLst>
                    <a:gd name="adj1" fmla="val 14006606"/>
                    <a:gd name="adj2" fmla="val 0"/>
                  </a:avLst>
                </a:prstGeom>
                <a:ln>
                  <a:headEnd type="none" w="med" len="med"/>
                  <a:tailEnd type="triangle" w="med" len="med"/>
                </a:ln>
              </p:spPr>
              <p:style>
                <a:lnRef idx="3">
                  <a:schemeClr val="accent5"/>
                </a:lnRef>
                <a:fillRef idx="0">
                  <a:schemeClr val="accent5"/>
                </a:fillRef>
                <a:effectRef idx="2">
                  <a:schemeClr val="accent5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Arc 102">
                  <a:extLst>
                    <a:ext uri="{FF2B5EF4-FFF2-40B4-BE49-F238E27FC236}">
                      <a16:creationId xmlns:a16="http://schemas.microsoft.com/office/drawing/2014/main" id="{7717928C-97D4-87EA-A171-1642F329BFC8}"/>
                    </a:ext>
                  </a:extLst>
                </p:cNvPr>
                <p:cNvSpPr/>
                <p:nvPr/>
              </p:nvSpPr>
              <p:spPr>
                <a:xfrm rot="16510689">
                  <a:off x="14103095" y="2132856"/>
                  <a:ext cx="1242133" cy="3172344"/>
                </a:xfrm>
                <a:prstGeom prst="arc">
                  <a:avLst>
                    <a:gd name="adj1" fmla="val 17471927"/>
                    <a:gd name="adj2" fmla="val 4822380"/>
                  </a:avLst>
                </a:prstGeom>
                <a:ln>
                  <a:headEnd type="none" w="med" len="med"/>
                  <a:tailEnd type="triangle" w="med" len="med"/>
                </a:ln>
              </p:spPr>
              <p:style>
                <a:lnRef idx="3">
                  <a:schemeClr val="accent5"/>
                </a:lnRef>
                <a:fillRef idx="0">
                  <a:schemeClr val="accent5"/>
                </a:fillRef>
                <a:effectRef idx="2">
                  <a:schemeClr val="accent5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13" name="Picture 112" descr="File:QGIS logo, 2017.svg - Wikimedia Commons">
                <a:extLst>
                  <a:ext uri="{FF2B5EF4-FFF2-40B4-BE49-F238E27FC236}">
                    <a16:creationId xmlns:a16="http://schemas.microsoft.com/office/drawing/2014/main" id="{BECA80D1-F7A8-42F5-5CAB-F262CBAC05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435633" y="3553970"/>
                <a:ext cx="1174967" cy="351266"/>
              </a:xfrm>
              <a:prstGeom prst="rect">
                <a:avLst/>
              </a:prstGeom>
            </p:spPr>
          </p:pic>
          <p:pic>
            <p:nvPicPr>
              <p:cNvPr id="114" name="Picture 113" descr="The Team Awareness Kit: A Game-Changer For Public Safety - American Cop">
                <a:extLst>
                  <a:ext uri="{FF2B5EF4-FFF2-40B4-BE49-F238E27FC236}">
                    <a16:creationId xmlns:a16="http://schemas.microsoft.com/office/drawing/2014/main" id="{423071D4-3554-A2ED-4634-B2E8950335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712162" y="2873985"/>
                <a:ext cx="894208" cy="922823"/>
              </a:xfrm>
              <a:prstGeom prst="rect">
                <a:avLst/>
              </a:prstGeom>
            </p:spPr>
          </p:pic>
          <p:pic>
            <p:nvPicPr>
              <p:cNvPr id="116" name="Picture 115" descr="Tableau - Insight Platforms">
                <a:extLst>
                  <a:ext uri="{FF2B5EF4-FFF2-40B4-BE49-F238E27FC236}">
                    <a16:creationId xmlns:a16="http://schemas.microsoft.com/office/drawing/2014/main" id="{829F28FE-B40C-15F7-9BB1-C034B1F93B2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t="36947" r="3955" b="37771"/>
              <a:stretch>
                <a:fillRect/>
              </a:stretch>
            </p:blipFill>
            <p:spPr>
              <a:xfrm>
                <a:off x="6858000" y="2920948"/>
                <a:ext cx="1785321" cy="469952"/>
              </a:xfrm>
              <a:prstGeom prst="roundRect">
                <a:avLst/>
              </a:prstGeom>
            </p:spPr>
          </p:pic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B3361290E94BC43AAB185CA3B44A33C" ma:contentTypeVersion="7" ma:contentTypeDescription="Create a new document." ma:contentTypeScope="" ma:versionID="976805a03bebb23bd04cf1bfe4cc27d7">
  <xsd:schema xmlns:xsd="http://www.w3.org/2001/XMLSchema" xmlns:xs="http://www.w3.org/2001/XMLSchema" xmlns:p="http://schemas.microsoft.com/office/2006/metadata/properties" xmlns:ns2="7deb8cea-99ff-4b5f-ae46-4391d6437ec0" targetNamespace="http://schemas.microsoft.com/office/2006/metadata/properties" ma:root="true" ma:fieldsID="37df113e3bdcef356ef3c5afe17928bb" ns2:_="">
    <xsd:import namespace="7deb8cea-99ff-4b5f-ae46-4391d6437ec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deb8cea-99ff-4b5f-ae46-4391d6437ec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6E1B802-CA16-404B-8869-53CCB46AD40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deb8cea-99ff-4b5f-ae46-4391d6437ec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3FFDC5A-3E4D-4807-B172-98CFBEE3B9A2}">
  <ds:schemaRefs>
    <ds:schemaRef ds:uri="http://schemas.microsoft.com/office/2006/metadata/properties"/>
    <ds:schemaRef ds:uri="http://www.w3.org/XML/1998/namespace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http://purl.org/dc/terms/"/>
    <ds:schemaRef ds:uri="c4d3d38a-2632-4b8a-b6e8-f7245df0d0ef"/>
    <ds:schemaRef ds:uri="55a0a3b3-016e-40bf-a59a-1d0e0551e4ed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5E4F3ECA-B9DC-483D-9FE0-60DF35EE17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194</TotalTime>
  <Words>343</Words>
  <Application>Microsoft Office PowerPoint</Application>
  <PresentationFormat>Custom</PresentationFormat>
  <Paragraphs>82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Inter</vt:lpstr>
      <vt:lpstr>Arial</vt:lpstr>
      <vt:lpstr>JetBrains Mono</vt:lpstr>
      <vt:lpstr>Calibri</vt:lpstr>
      <vt:lpstr>Inter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Belvedere Presentation Deck (July 2026) - FINAL</dc:title>
  <cp:lastModifiedBy>Brian Frutchey</cp:lastModifiedBy>
  <cp:revision>5</cp:revision>
  <dcterms:created xsi:type="dcterms:W3CDTF">2006-08-16T00:00:00Z</dcterms:created>
  <dcterms:modified xsi:type="dcterms:W3CDTF">2026-09-09T20:41:54Z</dcterms:modified>
  <dc:identifier>DAHQzsjMlRk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0x0101005B3361290E94BC43AAB185CA3B44A33C</vt:lpwstr>
  </property>
  <property fmtid="{D5CDD505-2E9C-101B-9397-08002B2CF9AE}" pid="3" name="xd_ProgID">
    <vt:lpwstr/>
  </property>
  <property fmtid="{D5CDD505-2E9C-101B-9397-08002B2CF9AE}" pid="4" name="_SourceUrl">
    <vt:lpwstr/>
  </property>
  <property fmtid="{D5CDD505-2E9C-101B-9397-08002B2CF9AE}" pid="5" name="_SharedFileIndex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xd_Signature">
    <vt:bool>false</vt:bool>
  </property>
</Properties>
</file>